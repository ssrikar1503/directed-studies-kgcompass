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9031f274-976b-385c-6d51-db4305224bb3}">
          <p14:sldIdLst>
            <p14:sldId id="256"/>
          </p14:sldIdLst>
        </p14:section>
        <p14:section name="What We Built" id="{2c5e6374-b5da-78fd-279e-5dbe410a337d}">
          <p14:sldIdLst>
            <p14:sldId id="257"/>
            <p14:sldId id="258"/>
            <p14:sldId id="259"/>
            <p14:sldId id="260"/>
            <p14:sldId id="261"/>
            <p14:sldId id="262"/>
            <p14:sldId id="263"/>
          </p14:sldIdLst>
        </p14:section>
        <p14:section name="RAG vs GraphRAG" id="{8b79e063-b64e-57da-df22-23f8e6d8d08a}">
          <p14:sldIdLst>
            <p14:sldId id="264"/>
            <p14:sldId id="265"/>
          </p14:sldIdLst>
        </p14:section>
        <p14:section name="Triplet Quality" id="{83a52a2b-6c42-6fe6-dcb4-b5bb7a9efbce}">
          <p14:sldIdLst>
            <p14:sldId id="266"/>
            <p14:sldId id="267"/>
            <p14:sldId id="268"/>
            <p14:sldId id="269"/>
          </p14:sldIdLst>
        </p14:section>
        <p14:section name="Road Ahead" id="{f4990db0-ddd1-c618-8792-00caf4135c27}">
          <p14:sldIdLst>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5E6B7A"/>
                </a:solidFill>
                <a:latin typeface="+mn-lt"/>
              </a:defRPr>
            </a:pPr>
            <a:r>
              <a:rPr sz="1200" b="0" i="0" u="none" strike="noStrike">
                <a:solidFill>
                  <a:srgbClr val="5E6B7A"/>
                </a:solidFill>
                <a:latin typeface="+mn-lt"/>
              </a:rPr>
              <a:t>Judge verdicts: 739 questions, both orders judged</a:t>
            </a:r>
          </a:p>
        </c:rich>
      </c:tx>
      <c:layout/>
      <c:overlay val="0"/>
    </c:title>
    <c:autoTitleDeleted val="0"/>
    <c:plotArea>
      <c:layout/>
      <c:barChart>
        <c:barDir val="col"/>
        <c:grouping val="clustered"/>
        <c:varyColors val="0"/>
        <c:ser>
          <c:idx val="0"/>
          <c:order val="0"/>
          <c:tx>
            <c:strRef>
              <c:f>Sheet1!$B$1</c:f>
              <c:strCache>
                <c:ptCount val="1"/>
                <c:pt idx="0">
                  <c:v>Overall verdicts (739 questions, 38 groups)</c:v>
                </c:pt>
              </c:strCache>
            </c:strRef>
          </c:tx>
          <c:spPr>
            <a:solidFill>
              <a:srgbClr val="0E7C5B"/>
            </a:solidFill>
            <a:effectLst/>
          </c:spPr>
          <c:invertIfNegative val="0"/>
          <c:dLbls>
            <c:numFmt formatCode="#,##0" sourceLinked="0"/>
            <c:txPr>
              <a:bodyPr/>
              <a:lstStyle/>
              <a:p>
                <a:pPr>
                  <a:defRPr b="0" i="0" strike="noStrike" sz="1300" u="none">
                    <a:solidFill>
                      <a:srgbClr val="1B2530"/>
                    </a:solidFill>
                    <a:latin typeface="+mn-lt"/>
                  </a:defRPr>
                </a:pPr>
              </a:p>
            </c:txPr>
            <c:showLegendKey val="0"/>
            <c:showVal val="1"/>
            <c:showCatName val="0"/>
            <c:showSerName val="0"/>
            <c:showPercent val="0"/>
            <c:showBubbleSize val="0"/>
            <c:showLeaderLines val="0"/>
          </c:dLbls>
          <c:dPt>
            <c:idx val="0"/>
            <c:invertIfNegative val="0"/>
            <c:bubble3D val="0"/>
            <c:spPr>
              <a:solidFill>
                <a:srgbClr val="0E7C5B"/>
              </a:solidFill>
              <a:effectLst/>
            </c:spPr>
          </c:dPt>
          <c:dPt>
            <c:idx val="1"/>
            <c:invertIfNegative val="0"/>
            <c:bubble3D val="0"/>
            <c:spPr>
              <a:solidFill>
                <a:srgbClr val="3B4CC0"/>
              </a:solidFill>
              <a:effectLst/>
            </c:spPr>
          </c:dPt>
          <c:dPt>
            <c:idx val="2"/>
            <c:invertIfNegative val="0"/>
            <c:bubble3D val="0"/>
            <c:spPr>
              <a:solidFill>
                <a:srgbClr val="B9C2D6"/>
              </a:solidFill>
              <a:effectLst/>
            </c:spPr>
          </c:dPt>
          <c:cat>
            <c:multiLvlStrRef>
              <c:f>Sheet1!$A$2:$A$4</c:f>
              <c:multiLvlStrCache>
                <c:ptCount val="3"/>
                <c:lvl>
                  <c:pt idx="0">
                    <c:v>GraphRAG wins</c:v>
                  </c:pt>
                  <c:pt idx="1">
                    <c:v>RAG wins</c:v>
                  </c:pt>
                  <c:pt idx="2">
                    <c:v>Ties</c:v>
                  </c:pt>
                </c:lvl>
              </c:multiLvlStrCache>
            </c:multiLvlStrRef>
          </c:cat>
          <c:val>
            <c:numRef>
              <c:f>Sheet1!$B$2:$B$4</c:f>
              <c:numCache>
                <c:formatCode>General</c:formatCode>
                <c:ptCount val="3"/>
                <c:pt idx="0">
                  <c:v>455</c:v>
                </c:pt>
                <c:pt idx="1">
                  <c:v>186</c:v>
                </c:pt>
                <c:pt idx="2">
                  <c:v>98</c:v>
                </c:pt>
              </c:numCache>
            </c:numRef>
          </c:val>
        </c:ser>
        <c:dLbls>
          <c:numFmt formatCode="#,##0" sourceLinked="0"/>
          <c:txPr>
            <a:bodyPr/>
            <a:lstStyle/>
            <a:p>
              <a:pPr>
                <a:defRPr b="0" i="0" strike="noStrike" sz="1300" u="none">
                  <a:solidFill>
                    <a:srgbClr val="1B253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530"/>
                </a:solidFill>
                <a:latin typeface="+mn-lt"/>
              </a:defRPr>
            </a:pPr>
            <a:endParaRPr lang="en-US"/>
          </a:p>
        </c:txPr>
        <c:crossAx val="2094734552"/>
        <c:crosses val="autoZero"/>
        <c:auto val="1"/>
        <c:lblAlgn val="ctr"/>
        <c:noMultiLvlLbl val="1"/>
      </c:catAx>
      <c:valAx>
        <c:axId val="2094734552"/>
        <c:scaling>
          <c:orientation val="minMax"/>
          <c:max val="500"/>
        </c:scaling>
        <c:delete val="0"/>
        <c:axPos val="l"/>
        <c:majorGridlines>
          <c:spPr>
            <a:ln w="12700" cap="flat">
              <a:solidFill>
                <a:srgbClr val="E3E7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E6B7A"/>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5E6B7A"/>
                </a:solidFill>
                <a:latin typeface="+mn-lt"/>
              </a:defRPr>
            </a:pPr>
            <a:r>
              <a:rPr sz="1200" b="0" i="0" u="none" strike="noStrike">
                <a:solidFill>
                  <a:srgbClr val="5E6B7A"/>
                </a:solidFill>
                <a:latin typeface="+mn-lt"/>
              </a:rPr>
              <a:t>950 triples judged against source papers</a:t>
            </a:r>
          </a:p>
        </c:rich>
      </c:tx>
      <c:layout/>
      <c:overlay val="0"/>
    </c:title>
    <c:autoTitleDeleted val="0"/>
    <c:plotArea>
      <c:layout/>
      <c:barChart>
        <c:barDir val="col"/>
        <c:grouping val="clustered"/>
        <c:varyColors val="0"/>
        <c:ser>
          <c:idx val="0"/>
          <c:order val="0"/>
          <c:tx>
            <c:strRef>
              <c:f>Sheet1!$B$1</c:f>
              <c:strCache>
                <c:ptCount val="1"/>
                <c:pt idx="0">
                  <c:v>Judged verdicts (950 triples)</c:v>
                </c:pt>
              </c:strCache>
            </c:strRef>
          </c:tx>
          <c:spPr>
            <a:solidFill>
              <a:srgbClr val="0E7C5B"/>
            </a:solidFill>
            <a:effectLst/>
          </c:spPr>
          <c:invertIfNegative val="0"/>
          <c:dLbls>
            <c:numFmt formatCode="0.0&quot;%&quot;" sourceLinked="0"/>
            <c:txPr>
              <a:bodyPr/>
              <a:lstStyle/>
              <a:p>
                <a:pPr>
                  <a:defRPr b="0" i="0" strike="noStrike" sz="1300" u="none">
                    <a:solidFill>
                      <a:srgbClr val="1B2530"/>
                    </a:solidFill>
                    <a:latin typeface="+mn-lt"/>
                  </a:defRPr>
                </a:pPr>
              </a:p>
            </c:txPr>
            <c:showLegendKey val="0"/>
            <c:showVal val="1"/>
            <c:showCatName val="0"/>
            <c:showSerName val="0"/>
            <c:showPercent val="0"/>
            <c:showBubbleSize val="0"/>
            <c:showLeaderLines val="0"/>
          </c:dLbls>
          <c:dPt>
            <c:idx val="0"/>
            <c:invertIfNegative val="0"/>
            <c:bubble3D val="0"/>
            <c:spPr>
              <a:solidFill>
                <a:srgbClr val="0E7C5B"/>
              </a:solidFill>
              <a:effectLst/>
            </c:spPr>
          </c:dPt>
          <c:dPt>
            <c:idx val="1"/>
            <c:invertIfNegative val="0"/>
            <c:bubble3D val="0"/>
            <c:spPr>
              <a:solidFill>
                <a:srgbClr val="E8A33D"/>
              </a:solidFill>
              <a:effectLst/>
            </c:spPr>
          </c:dPt>
          <c:dPt>
            <c:idx val="2"/>
            <c:invertIfNegative val="0"/>
            <c:bubble3D val="0"/>
            <c:spPr>
              <a:solidFill>
                <a:srgbClr val="A82F23"/>
              </a:solidFill>
              <a:effectLst/>
            </c:spPr>
          </c:dPt>
          <c:cat>
            <c:multiLvlStrRef>
              <c:f>Sheet1!$A$2:$A$4</c:f>
              <c:multiLvlStrCache>
                <c:ptCount val="3"/>
                <c:lvl>
                  <c:pt idx="0">
                    <c:v>Correct</c:v>
                  </c:pt>
                  <c:pt idx="1">
                    <c:v>Imprecise</c:v>
                  </c:pt>
                  <c:pt idx="2">
                    <c:v>Wrong</c:v>
                  </c:pt>
                </c:lvl>
              </c:multiLvlStrCache>
            </c:multiLvlStrRef>
          </c:cat>
          <c:val>
            <c:numRef>
              <c:f>Sheet1!$B$2:$B$4</c:f>
              <c:numCache>
                <c:formatCode>General</c:formatCode>
                <c:ptCount val="3"/>
                <c:pt idx="0">
                  <c:v>69.5</c:v>
                </c:pt>
                <c:pt idx="1">
                  <c:v>26.1</c:v>
                </c:pt>
                <c:pt idx="2">
                  <c:v>4.4</c:v>
                </c:pt>
              </c:numCache>
            </c:numRef>
          </c:val>
        </c:ser>
        <c:dLbls>
          <c:numFmt formatCode="0.0&quot;%&quot;" sourceLinked="0"/>
          <c:txPr>
            <a:bodyPr/>
            <a:lstStyle/>
            <a:p>
              <a:pPr>
                <a:defRPr b="0" i="0" strike="noStrike" sz="1300" u="none">
                  <a:solidFill>
                    <a:srgbClr val="1B253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530"/>
                </a:solidFill>
                <a:latin typeface="+mn-lt"/>
              </a:defRPr>
            </a:pPr>
            <a:endParaRPr lang="en-US"/>
          </a:p>
        </c:txPr>
        <c:crossAx val="2094734552"/>
        <c:crosses val="autoZero"/>
        <c:auto val="1"/>
        <c:lblAlgn val="ctr"/>
        <c:noMultiLvlLbl val="1"/>
      </c:catAx>
      <c:valAx>
        <c:axId val="2094734552"/>
        <c:scaling>
          <c:orientation val="minMax"/>
          <c:max val="80"/>
        </c:scaling>
        <c:delete val="0"/>
        <c:axPos val="l"/>
        <c:majorGridlines>
          <c:spPr>
            <a:ln w="12700" cap="flat">
              <a:solidFill>
                <a:srgbClr val="E3E7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E6B7A"/>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afternoon everyone. This is our midpoint review. In one line: we built both a RAG system and a knowledge-graph GraphRAG system over 283 animal science papers in a single codebase, compared them head to head at two scales, then went one level deeper and evaluated the knowledge graph at the level of individual triplets. I will show what we built with code, what the comparisons found, why the giant graph underperformed, the five reasons triplets fail, and how we are correcting and re-verifying them so the KG quality rises.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corpus is 283 animal science and nutrition papers organized into 42 topic groups. One codebase holds both pipelines: the original AnimalRAG retrieval pipeline, and the new knowledge-graph pipeline that builds graphs and answers with GraphRAG. We extracted 83 and a half thousand triples, built one graph per group plus one giant graph over all papers, and judged over sixteen hundred answer pairs plus nine hundred fifty individual triplets. The goal driving all of it: a knowledge graph trustworthy enough that GraphRAG reliably beats RAG.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how, the why. One Health questions, how a climate stressor ends up as a human exposure risk, span veterinary, climate and public-health literatures that rarely cite each other. Keyword and vector search return passages that share words with the question, not the chain of findings that actually answers it. A knowledge graph is the structure that can return that traceable path, each hop cited to its paper. That is the promise everything else in this talk is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pipelines live in one repository and share everything that must be fair: the same chunking, the same embedding model, the same LLM, gemma4 12B, for extraction, answering and judging. The RAG path is retrieval engineering: query expansion, hybrid dense plus keyword search, a cross-encoder reranker, then an answer with citations and a self-check. The GraphRAG path first builds a knowledge graph per corpus, then answers by walking the graph: seed entities, one hop out, top relationships, the chunks behind them and community summaries. Note one asymmetry now, it matters later: RAG has a reranker, the graph path does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system on one picture. The corpus is chunked once, and both pipelines consume the same chunks. The top branch is RAG: embed and index into ChromaDB plus BM25, hybrid retrieval fused by reciprocal rank, then the cross-encoder reranker. The bottom branch builds the knowledge graph: LLM extraction with fourteen entity types, merging and community detection, storage in FalkorDB, and GraphRAG answering walks that graph. Both answers meet at the same LLM judge, scored in both orders on six criteria. The fairness controls matter: same chunks, same embeddings, same model everywhere.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graphs, here is what the RAG side actually stores: twenty thousand chunks in ChromaDB, each with its seven-hundred-sixty-eight-dimension embedding, pictured as the blue strips. A question becomes its own vector, finds nearest neighbours by cosine similarity, BM25 finds keyword matches in parallel, reciprocal-rank fusion merges the two lists, and the cross-encoder reranks before answering. Keep this picture in mind - the reranker on the right is the piece the graph path is missing.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actual build pipeline from the CLI, not pseudocode: prepare corpus, run extraction with a per-chunk cache so no chunk is ever paid for twice, build and merge the graph, detect communities, write summaries, embed entities, store everything in FalkorDB and export readable tables. One command builds a group graph, one command builds the giant graph over all 283 papers. The numbers on the right: twenty thousand chunks, fifty-five thousand entities across the group graphs. Notice the giant graph: merging across the whole corpus collapses entities by forty-five percent while keeping nearly all edges. Hold that thought, it explains a result coming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here are the graphs themselves, not a schematic: every node and edge on this slide is drawn from the exported triples. Left to right: the iodine and thyroid group with iodine as its hub, the meat quality group, the pig gut microbiota group - and there are thirty-eight of these, one per topic. On the right, the giant graph over all two hundred eighty-three papers: the sample neighbourhood shows how merging connects entities across topics - aflatoxin linking kidney, broilers and oxidative stress - and the faded dots stand for the other thirty thousand entities. Node colors are the extraction's own entity types.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comparison: one graph per topic group, 739 questions, every pair judged twice with the order swapped to kill position bias. GraphRAG wins 455 to 186, takes 35 of 38 groups, and on the expert test set it finds more of the right papers, recall 0.53 versus 0.42, while correctness is tied at the ceiling for both. It is also faster because RAG spends extra LLM calls on query rewriting and self-checking. The honest caveat we flagged ourselves: the LLM judge prefers longer answers, and when answers are the same length the two systems tie. So the groupwise result says GraphRAG retrieves richer context, not yet that its answers are strictly better.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comparison, and the interesting one: on the single giant graph over all 283 papers, RAG wins decisively - 431 to 221 with 87 ties, taking 33 of 38 groups, and GraphRAG paper recall collapses to 0.15 against RAG 0.29. And this time it is NOT the length artifact: RAG also wins at equal answer length and on expert-scored correctness. We measured the root cause: only 27 percent of GraphRAG seed entities come from the question own papers, so only about a quarter of its retrieved passages are on topic versus half for RAG. We can explain it mechanically, four compounding causes. One: retrieval expands only one hop, and in a thirty-thousand-entity graph one hop lands on mega-hubs like bovine milk with fifteen hundred edges rather than the specific path a multi-concept question needs. Two: the retrieval caps, forty entities, sixty relations, eight chunks, were sized for two-thousand-entity group graphs; at giant scale the budget fills with hub neighbours and the relevant chunk gets cut. Three: the step that rescues RAG at scale, cross-encoder reranking, simply does not exist on the graph path yet. Four: cross-corpus merging halved the entities but kept the edges, concentrating the graph and making hub expansion noisier. None of these is fundamental, all four are fixable retrieval engineering, which is exactly our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answer-level comparison could not see graph errors: the judge called faithfulness a tie 83 percent of the time even though wrong facts sat in the graph. So, following Professor Tao's directive, we evaluated triplets directly, two layers. A deterministic code scan over every one of the 83,554 triples. And an LLM-judged sample: 950 triples, twenty-five per group, each verified against the full text of its actual source paper, every verdict with quoted evidence, and the method calibrated by two independent judges agreeing 94 percent on correct-versus-flawed. Result: 69 and a half percent fully correct, 26 percent imprecise, 4.4 percent outright wrong, and no group is clean.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failed triplet falls into one of five reasons. One, factual: the triple states something false, inverted directions, negative results flipped positive, abbreviations expanded into the wrong entity. Two, precision: the idea is right but the measured quantity or the condition was dropped, selenium increases liver instead of the selenium concentration in liver. Three, consistency: 495 pairs where the graph asserts both a claim and its opposite with no qualifiers. Four, form: OCR garbling, thirty of our thirty-four garbled entities come from one single corruption of the omega notation. Five, noise: triples that are true but worthless, is-measured-in facts and a seven-thousand-type relation vocabulary that dilute retrieval. Every example on this slide is a real triple from our graphs.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 errors is only useful if it changes the graph, so we closed the loop. Detect: full-coverage detectors flag fifteen and a half thousand triples. Reason: every one of the 495 contradictions was adjudicated individually, and the headline is that fifty-six percent are not errors at all, they are dose or species conditional findings that need qualifiers, not deletion; twenty-one percent are extraction errors where one side gets deleted. The garbles were corrected, and the review also caught fourteen false positives from our own detector, which is why reasoning sits on top of rules. Correct, then re-verify against the source chunks which the schema already stores per triple. Each pass through this loop removes a named error class and is verified before it lands, so quality rises measurably.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loop as a workflow diagram, because this is what runs from now on: graphs in, deterministic detectors over every triple, a judged sample against the papers, case-by-case adjudication of contradictions, corrections, and re-verification against the source chunks - with the dashed arrow closing the loop so every release re-enters evaluation, and the CI gate guaranteeing no new mechanically-detectable defect ever lands.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half of the semester has one sentence as its plan: find the best evaluation methods, and improve the knowledge graph until it passes them. Left side, evaluation: a CI gate so no mechanically detectable error ever enters a build, a judge stage checking every triple against its own source chunk, with HPRC allocation already in hand for the domain fine-tune, the gold set grown from our 950 verified triples, and the answer benchmark kept but length-controlled with an independent judge. Right side, improvement: fix exactly the four giant-graph causes, reranking on the graph path, multi-hop retrieval, adaptive caps; add qualifier fields, which is also our publishable contribution; normalize text before extraction. And then the rematch: re-run RAG versus GraphRAG at both scales with the cleaned 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We built both systems end to end and evaluated them at every level, answers and triplets. We learned that GraphRAG wins when graphs are small, that at full scale the retrieval design gives the win back to RAG for four fixable reasons, and that about thirty percent of triplets are flawed for five nameable reasons, most of which are correctable and many of which are actually conditional science that needs a richer representation. That representation, qualified triples, is our research direction, and the correction and re-verification loop is already raising graph quality. By the final review we intend to show the rematch: the cleaned, re-verified knowledge graph passing its evaluation and beating RAG at full scale.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51B3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rtlCol="0"/>
          <a:lstStyle>
            <a:lvl1pPr algn="l" indent="0" marL="0">
              <a:buNone/>
              <a:defRPr lang="en-US" sz="4400" b="1" dirty="0">
                <a:solidFill>
                  <a:srgbClr val="FFFFFF"/>
                </a:solidFill>
              </a:defRPr>
            </a:lvl1pPr>
          </a:lstStyle>
          <a:p>
            <a:pPr algn="l" indent="0" marL="0">
              <a:buNone/>
            </a:pPr>
            <a:r>
              <a:rPr lang="en-US" sz="4400" b="1" dirty="0">
                <a:solidFill>
                  <a:srgbClr val="FFFFFF"/>
                </a:solidFill>
              </a:rPr>
              <a:t>Title</a:t>
            </a:r>
            <a:endParaRPr lang="en-US" sz="4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31520"/>
          </a:xfrm>
          <a:prstGeom prst="rect">
            <a:avLst/>
          </a:prstGeom>
          <a:noFill/>
          <a:ln/>
        </p:spPr>
        <p:txBody>
          <a:bodyPr wrap="square" rtlCol="0"/>
          <a:lstStyle>
            <a:lvl1pPr algn="l" indent="0" marL="0">
              <a:buNone/>
              <a:defRPr lang="en-US" sz="3000" b="1" dirty="0">
                <a:solidFill>
                  <a:srgbClr val="1B2530"/>
                </a:solidFill>
              </a:defRPr>
            </a:lvl1pPr>
          </a:lstStyle>
          <a:p>
            <a:pPr algn="l" indent="0" marL="0">
              <a:buNone/>
            </a:pPr>
            <a:r>
              <a:rPr lang="en-US" sz="3000" b="1" dirty="0">
                <a:solidFill>
                  <a:srgbClr val="1B2530"/>
                </a:solidFill>
              </a:rPr>
              <a:t>Title</a:t>
            </a:r>
            <a:endParaRPr lang="en-US" sz="3000" dirty="0"/>
          </a:p>
        </p:txBody>
      </p:sp>
      <p:sp>
        <p:nvSpPr>
          <p:cNvPr id="25" name="Slide Number Placeholder 0"/>
          <p:cNvSpPr>
            <a:spLocks noGrp="1"/>
          </p:cNvSpPr>
          <p:nvPr>
            <p:ph type="sldNum" sz="quarter" idx="4294967295"/>
          </p:nvPr>
        </p:nvSpPr>
        <p:spPr>
          <a:xfrm>
            <a:off x="11521440" y="6510528"/>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5E6B7A"/>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521440" y="6510528"/>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5E6B7A"/>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rtlCol="0"/>
          <a:lstStyle/>
          <a:p>
            <a:pPr algn="l" indent="0" marL="0">
              <a:buNone/>
            </a:pPr>
            <a:r>
              <a:rPr lang="en-US" sz="4400" b="1" dirty="0">
                <a:solidFill>
                  <a:srgbClr val="FFFFFF"/>
                </a:solidFill>
              </a:rPr>
              <a:t>Animal Science Knowledge Graphs</a:t>
            </a:r>
            <a:endParaRPr lang="en-US" sz="4400" dirty="0"/>
          </a:p>
        </p:txBody>
      </p:sp>
      <p:sp>
        <p:nvSpPr>
          <p:cNvPr id="3" name="Text 1"/>
          <p:cNvSpPr txBox="1"/>
          <p:nvPr/>
        </p:nvSpPr>
        <p:spPr>
          <a:xfrm>
            <a:off x="731520" y="3429000"/>
            <a:ext cx="10515600" cy="822960"/>
          </a:xfrm>
          <a:prstGeom prst="rect">
            <a:avLst/>
          </a:prstGeom>
          <a:noFill/>
          <a:ln/>
        </p:spPr>
        <p:txBody>
          <a:bodyPr wrap="square" lIns="0" tIns="0" rIns="0" bIns="0" rtlCol="0" anchor="ctr"/>
          <a:lstStyle/>
          <a:p>
            <a:pPr indent="0" marL="0">
              <a:buNone/>
            </a:pPr>
            <a:r>
              <a:rPr lang="en-US" sz="2000" dirty="0">
                <a:solidFill>
                  <a:srgbClr val="CAD3F0"/>
                </a:solidFill>
              </a:rPr>
              <a:t>RAG vs GraphRAG on 283 papers - construction, head-to-head evaluation, and triplet-level quality</a:t>
            </a:r>
            <a:endParaRPr lang="en-US" sz="2000" dirty="0"/>
          </a:p>
        </p:txBody>
      </p:sp>
      <p:sp>
        <p:nvSpPr>
          <p:cNvPr id="4" name="Text 2"/>
          <p:cNvSpPr txBox="1"/>
          <p:nvPr/>
        </p:nvSpPr>
        <p:spPr>
          <a:xfrm>
            <a:off x="731520" y="1371600"/>
            <a:ext cx="7315200" cy="457200"/>
          </a:xfrm>
          <a:prstGeom prst="rect">
            <a:avLst/>
          </a:prstGeom>
          <a:noFill/>
          <a:ln/>
        </p:spPr>
        <p:txBody>
          <a:bodyPr wrap="square" lIns="0" tIns="0" rIns="0" bIns="0" rtlCol="0" anchor="ctr"/>
          <a:lstStyle/>
          <a:p>
            <a:pPr indent="0" marL="0">
              <a:buNone/>
            </a:pPr>
            <a:r>
              <a:rPr lang="en-US" sz="1500" b="1" dirty="0">
                <a:solidFill>
                  <a:srgbClr val="8A97E8"/>
                </a:solidFill>
              </a:rPr>
              <a:t>Midpoint Review - Fall 2026</a:t>
            </a:r>
            <a:endParaRPr lang="en-US" sz="1500" dirty="0"/>
          </a:p>
        </p:txBody>
      </p:sp>
      <p:sp>
        <p:nvSpPr>
          <p:cNvPr id="5" name="Text 3"/>
          <p:cNvSpPr txBox="1"/>
          <p:nvPr/>
        </p:nvSpPr>
        <p:spPr>
          <a:xfrm>
            <a:off x="731520" y="5943600"/>
            <a:ext cx="10515600" cy="457200"/>
          </a:xfrm>
          <a:prstGeom prst="rect">
            <a:avLst/>
          </a:prstGeom>
          <a:noFill/>
          <a:ln/>
        </p:spPr>
        <p:txBody>
          <a:bodyPr wrap="square" lIns="0" tIns="0" rIns="0" bIns="0" rtlCol="0" anchor="ctr"/>
          <a:lstStyle/>
          <a:p>
            <a:pPr indent="0" marL="0">
              <a:buNone/>
            </a:pPr>
            <a:r>
              <a:rPr lang="en-US" sz="1400" dirty="0">
                <a:solidFill>
                  <a:srgbClr val="9AA6C8"/>
                </a:solidFill>
              </a:rPr>
              <a:t>TAU Group - Sumanth Nalamalapu, Srikar Sankranti, Deepmoy Hazra  |  Advisor: Prof. Jian Tao</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31520"/>
          </a:xfrm>
          <a:prstGeom prst="rect">
            <a:avLst/>
          </a:prstGeom>
          <a:noFill/>
          <a:ln/>
        </p:spPr>
        <p:txBody>
          <a:bodyPr wrap="square" rtlCol="0"/>
          <a:lstStyle/>
          <a:p>
            <a:pPr algn="l" indent="0" marL="0">
              <a:buNone/>
            </a:pPr>
            <a:r>
              <a:rPr lang="en-US" sz="3000" b="1" dirty="0">
                <a:solidFill>
                  <a:srgbClr val="1B2530"/>
                </a:solidFill>
              </a:rPr>
              <a:t>The project at a glance</a:t>
            </a:r>
            <a:endParaRPr lang="en-US" sz="3000" dirty="0"/>
          </a:p>
        </p:txBody>
      </p:sp>
      <p:sp>
        <p:nvSpPr>
          <p:cNvPr id="3" name="Text 1"/>
          <p:cNvSpPr txBox="1"/>
          <p:nvPr/>
        </p:nvSpPr>
        <p:spPr>
          <a:xfrm>
            <a:off x="548640" y="1371600"/>
            <a:ext cx="2743200" cy="685800"/>
          </a:xfrm>
          <a:prstGeom prst="rect">
            <a:avLst/>
          </a:prstGeom>
          <a:noFill/>
          <a:ln/>
        </p:spPr>
        <p:txBody>
          <a:bodyPr wrap="square" lIns="0" tIns="0" rIns="0" bIns="0" rtlCol="0" anchor="ctr"/>
          <a:lstStyle/>
          <a:p>
            <a:pPr algn="ctr" indent="0" marL="0">
              <a:buNone/>
            </a:pPr>
            <a:r>
              <a:rPr lang="en-US" sz="4000" b="1" dirty="0">
                <a:solidFill>
                  <a:srgbClr val="3B4CC0"/>
                </a:solidFill>
              </a:rPr>
              <a:t>283</a:t>
            </a:r>
            <a:endParaRPr lang="en-US" sz="4000" dirty="0"/>
          </a:p>
        </p:txBody>
      </p:sp>
      <p:sp>
        <p:nvSpPr>
          <p:cNvPr id="4" name="Text 2"/>
          <p:cNvSpPr txBox="1"/>
          <p:nvPr/>
        </p:nvSpPr>
        <p:spPr>
          <a:xfrm>
            <a:off x="548640" y="2029968"/>
            <a:ext cx="2743200" cy="502920"/>
          </a:xfrm>
          <a:prstGeom prst="rect">
            <a:avLst/>
          </a:prstGeom>
          <a:noFill/>
          <a:ln/>
        </p:spPr>
        <p:txBody>
          <a:bodyPr wrap="square" lIns="0" tIns="0" rIns="0" bIns="0" rtlCol="0" anchor="ctr"/>
          <a:lstStyle/>
          <a:p>
            <a:pPr algn="ctr" indent="0" marL="0">
              <a:buNone/>
            </a:pPr>
            <a:r>
              <a:rPr lang="en-US" sz="1150" dirty="0">
                <a:solidFill>
                  <a:srgbClr val="5E6B7A"/>
                </a:solidFill>
              </a:rPr>
              <a:t>animal science papers, 42 topic groups</a:t>
            </a:r>
            <a:endParaRPr lang="en-US" sz="1150" dirty="0"/>
          </a:p>
        </p:txBody>
      </p:sp>
      <p:sp>
        <p:nvSpPr>
          <p:cNvPr id="5" name="Text 3"/>
          <p:cNvSpPr txBox="1"/>
          <p:nvPr/>
        </p:nvSpPr>
        <p:spPr>
          <a:xfrm>
            <a:off x="3383280" y="1371600"/>
            <a:ext cx="2743200" cy="685800"/>
          </a:xfrm>
          <a:prstGeom prst="rect">
            <a:avLst/>
          </a:prstGeom>
          <a:noFill/>
          <a:ln/>
        </p:spPr>
        <p:txBody>
          <a:bodyPr wrap="square" lIns="0" tIns="0" rIns="0" bIns="0" rtlCol="0" anchor="ctr"/>
          <a:lstStyle/>
          <a:p>
            <a:pPr algn="ctr" indent="0" marL="0">
              <a:buNone/>
            </a:pPr>
            <a:r>
              <a:rPr lang="en-US" sz="4000" b="1" dirty="0">
                <a:solidFill>
                  <a:srgbClr val="3B4CC0"/>
                </a:solidFill>
              </a:rPr>
              <a:t>2</a:t>
            </a:r>
            <a:endParaRPr lang="en-US" sz="4000" dirty="0"/>
          </a:p>
        </p:txBody>
      </p:sp>
      <p:sp>
        <p:nvSpPr>
          <p:cNvPr id="6" name="Text 4"/>
          <p:cNvSpPr txBox="1"/>
          <p:nvPr/>
        </p:nvSpPr>
        <p:spPr>
          <a:xfrm>
            <a:off x="3383280" y="2029968"/>
            <a:ext cx="2743200" cy="502920"/>
          </a:xfrm>
          <a:prstGeom prst="rect">
            <a:avLst/>
          </a:prstGeom>
          <a:noFill/>
          <a:ln/>
        </p:spPr>
        <p:txBody>
          <a:bodyPr wrap="square" lIns="0" tIns="0" rIns="0" bIns="0" rtlCol="0" anchor="ctr"/>
          <a:lstStyle/>
          <a:p>
            <a:pPr algn="ctr" indent="0" marL="0">
              <a:buNone/>
            </a:pPr>
            <a:r>
              <a:rPr lang="en-US" sz="1150" dirty="0">
                <a:solidFill>
                  <a:srgbClr val="5E6B7A"/>
                </a:solidFill>
              </a:rPr>
              <a:t>pipelines in one codebase: RAG + KG/GraphRAG</a:t>
            </a:r>
            <a:endParaRPr lang="en-US" sz="1150" dirty="0"/>
          </a:p>
        </p:txBody>
      </p:sp>
      <p:sp>
        <p:nvSpPr>
          <p:cNvPr id="7" name="Text 5"/>
          <p:cNvSpPr txBox="1"/>
          <p:nvPr/>
        </p:nvSpPr>
        <p:spPr>
          <a:xfrm>
            <a:off x="6217920" y="1371600"/>
            <a:ext cx="2743200" cy="685800"/>
          </a:xfrm>
          <a:prstGeom prst="rect">
            <a:avLst/>
          </a:prstGeom>
          <a:noFill/>
          <a:ln/>
        </p:spPr>
        <p:txBody>
          <a:bodyPr wrap="square" lIns="0" tIns="0" rIns="0" bIns="0" rtlCol="0" anchor="ctr"/>
          <a:lstStyle/>
          <a:p>
            <a:pPr algn="ctr" indent="0" marL="0">
              <a:buNone/>
            </a:pPr>
            <a:r>
              <a:rPr lang="en-US" sz="4000" b="1" dirty="0">
                <a:solidFill>
                  <a:srgbClr val="3B4CC0"/>
                </a:solidFill>
              </a:rPr>
              <a:t>83,554</a:t>
            </a:r>
            <a:endParaRPr lang="en-US" sz="4000" dirty="0"/>
          </a:p>
        </p:txBody>
      </p:sp>
      <p:sp>
        <p:nvSpPr>
          <p:cNvPr id="8" name="Text 6"/>
          <p:cNvSpPr txBox="1"/>
          <p:nvPr/>
        </p:nvSpPr>
        <p:spPr>
          <a:xfrm>
            <a:off x="6217920" y="2029968"/>
            <a:ext cx="2743200" cy="502920"/>
          </a:xfrm>
          <a:prstGeom prst="rect">
            <a:avLst/>
          </a:prstGeom>
          <a:noFill/>
          <a:ln/>
        </p:spPr>
        <p:txBody>
          <a:bodyPr wrap="square" lIns="0" tIns="0" rIns="0" bIns="0" rtlCol="0" anchor="ctr"/>
          <a:lstStyle/>
          <a:p>
            <a:pPr algn="ctr" indent="0" marL="0">
              <a:buNone/>
            </a:pPr>
            <a:r>
              <a:rPr lang="en-US" sz="1150" dirty="0">
                <a:solidFill>
                  <a:srgbClr val="5E6B7A"/>
                </a:solidFill>
              </a:rPr>
              <a:t>triples extracted into 39 graphs + 1 giant graph</a:t>
            </a:r>
            <a:endParaRPr lang="en-US" sz="1150" dirty="0"/>
          </a:p>
        </p:txBody>
      </p:sp>
      <p:sp>
        <p:nvSpPr>
          <p:cNvPr id="9" name="Text 7"/>
          <p:cNvSpPr txBox="1"/>
          <p:nvPr/>
        </p:nvSpPr>
        <p:spPr>
          <a:xfrm>
            <a:off x="9052560" y="1371600"/>
            <a:ext cx="2743200" cy="685800"/>
          </a:xfrm>
          <a:prstGeom prst="rect">
            <a:avLst/>
          </a:prstGeom>
          <a:noFill/>
          <a:ln/>
        </p:spPr>
        <p:txBody>
          <a:bodyPr wrap="square" lIns="0" tIns="0" rIns="0" bIns="0" rtlCol="0" anchor="ctr"/>
          <a:lstStyle/>
          <a:p>
            <a:pPr algn="ctr" indent="0" marL="0">
              <a:buNone/>
            </a:pPr>
            <a:r>
              <a:rPr lang="en-US" sz="4000" b="1" dirty="0">
                <a:solidFill>
                  <a:srgbClr val="3B4CC0"/>
                </a:solidFill>
              </a:rPr>
              <a:t>1,689</a:t>
            </a:r>
            <a:endParaRPr lang="en-US" sz="4000" dirty="0"/>
          </a:p>
        </p:txBody>
      </p:sp>
      <p:sp>
        <p:nvSpPr>
          <p:cNvPr id="10" name="Text 8"/>
          <p:cNvSpPr txBox="1"/>
          <p:nvPr/>
        </p:nvSpPr>
        <p:spPr>
          <a:xfrm>
            <a:off x="9052560" y="2029968"/>
            <a:ext cx="2743200" cy="502920"/>
          </a:xfrm>
          <a:prstGeom prst="rect">
            <a:avLst/>
          </a:prstGeom>
          <a:noFill/>
          <a:ln/>
        </p:spPr>
        <p:txBody>
          <a:bodyPr wrap="square" lIns="0" tIns="0" rIns="0" bIns="0" rtlCol="0" anchor="ctr"/>
          <a:lstStyle/>
          <a:p>
            <a:pPr algn="ctr" indent="0" marL="0">
              <a:buNone/>
            </a:pPr>
            <a:r>
              <a:rPr lang="en-US" sz="1150" dirty="0">
                <a:solidFill>
                  <a:srgbClr val="5E6B7A"/>
                </a:solidFill>
              </a:rPr>
              <a:t>answers judged head-to-head (739x2 + test set)</a:t>
            </a:r>
            <a:endParaRPr lang="en-US" sz="1150" dirty="0"/>
          </a:p>
        </p:txBody>
      </p:sp>
      <p:sp>
        <p:nvSpPr>
          <p:cNvPr id="11" name="Shape 9"/>
          <p:cNvSpPr/>
          <p:nvPr/>
        </p:nvSpPr>
        <p:spPr>
          <a:xfrm>
            <a:off x="548640" y="2926080"/>
            <a:ext cx="11064240" cy="1234440"/>
          </a:xfrm>
          <a:prstGeom prst="roundRect">
            <a:avLst>
              <a:gd name="adj" fmla="val 4444"/>
            </a:avLst>
          </a:prstGeom>
          <a:solidFill>
            <a:srgbClr val="EEF1F8"/>
          </a:solidFill>
          <a:ln/>
        </p:spPr>
      </p:sp>
      <p:sp>
        <p:nvSpPr>
          <p:cNvPr id="12" name="Text 10"/>
          <p:cNvSpPr txBox="1"/>
          <p:nvPr/>
        </p:nvSpPr>
        <p:spPr>
          <a:xfrm>
            <a:off x="777240" y="3063240"/>
            <a:ext cx="10607040" cy="960120"/>
          </a:xfrm>
          <a:prstGeom prst="rect">
            <a:avLst/>
          </a:prstGeom>
          <a:noFill/>
          <a:ln/>
        </p:spPr>
        <p:txBody>
          <a:bodyPr wrap="square" lIns="0" tIns="0" rIns="0" bIns="0" rtlCol="0" anchor="ctr"/>
          <a:lstStyle/>
          <a:p>
            <a:pPr indent="0" marL="0">
              <a:buNone/>
            </a:pPr>
            <a:r>
              <a:rPr lang="en-US" sz="1500" b="1" dirty="0">
                <a:solidFill>
                  <a:srgbClr val="3B4CC0"/>
                </a:solidFill>
              </a:rPr>
              <a:t>Goal: </a:t>
            </a:r>
            <a:pPr indent="0" marL="0">
              <a:buNone/>
            </a:pPr>
            <a:r>
              <a:rPr lang="en-US" sz="1500" dirty="0">
                <a:solidFill>
                  <a:srgbClr val="000000"/>
                </a:solidFill>
              </a:rPr>
              <a:t>a trustworthy, queryable knowledge graph of animal science - where GraphRAG answers beat plain RAG because the graph's facts are verified. Foundation: GraphJudge (EMNLP 2025) - generate triples for recall, judge them for precision.</a:t>
            </a:r>
            <a:endParaRPr lang="en-US" sz="1500" dirty="0"/>
          </a:p>
        </p:txBody>
      </p:sp>
      <p:sp>
        <p:nvSpPr>
          <p:cNvPr id="13" name="Text 11"/>
          <p:cNvSpPr txBox="1"/>
          <p:nvPr/>
        </p:nvSpPr>
        <p:spPr>
          <a:xfrm>
            <a:off x="594360" y="4434840"/>
            <a:ext cx="10972800" cy="1828800"/>
          </a:xfrm>
          <a:prstGeom prst="rect">
            <a:avLst/>
          </a:prstGeom>
          <a:noFill/>
          <a:ln/>
        </p:spPr>
        <p:txBody>
          <a:bodyPr wrap="square" rtlCol="0" anchor="t"/>
          <a:lstStyle/>
          <a:p>
            <a:pPr marL="342900" indent="-342900">
              <a:spcAft>
                <a:spcPts val="800"/>
              </a:spcAft>
              <a:buSzPct val="100000"/>
              <a:buChar char="•"/>
            </a:pPr>
            <a:r>
              <a:rPr lang="en-US" sz="1400" dirty="0">
                <a:solidFill>
                  <a:srgbClr val="1B2530"/>
                </a:solidFill>
              </a:rPr>
              <a:t>Semester so far: corpus organized into groups -&gt; both pipelines built -&gt; 46-hour groupwise RAG vs GraphRAG evaluation -&gt; giant all-papers graph built -&gt; full triplet-level quality evaluation -&gt; correction + re-verification loop started</a:t>
            </a:r>
            <a:endParaRPr lang="en-US" sz="1400" dirty="0"/>
          </a:p>
          <a:p>
            <a:pPr marL="342900" indent="-342900">
              <a:spcAft>
                <a:spcPts val="800"/>
              </a:spcAft>
              <a:buSzPct val="100000"/>
              <a:buChar char="•"/>
            </a:pPr>
            <a:r>
              <a:rPr lang="en-US" sz="1400" dirty="0">
                <a:solidFill>
                  <a:srgbClr val="5E6B7A"/>
                </a:solidFill>
              </a:rPr>
              <a:t>Everything reproducible: shared extraction cache, per-run manifests, evaluation scripts and all data in the team repos</a:t>
            </a:r>
            <a:endParaRPr lang="en-US" sz="1400" dirty="0"/>
          </a:p>
        </p:txBody>
      </p:sp>
      <p:sp>
        <p:nvSpPr>
          <p:cNvPr id="25" name="Slide Number Placeholder 0"/>
          <p:cNvSpPr>
            <a:spLocks noGrp="1"/>
          </p:cNvSpPr>
          <p:nvPr>
            <p:ph type="sldNum" sz="quarter" idx="4294967295"/>
          </p:nvPr>
        </p:nvSpPr>
        <p:spPr>
          <a:xfrm>
            <a:off x="11521440" y="6510528"/>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5E6B7A"/>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31520"/>
          </a:xfrm>
          <a:prstGeom prst="rect">
            <a:avLst/>
          </a:prstGeom>
          <a:noFill/>
          <a:ln/>
        </p:spPr>
        <p:txBody>
          <a:bodyPr wrap="square" rtlCol="0"/>
          <a:lstStyle/>
          <a:p>
            <a:pPr algn="l" indent="0" marL="0">
              <a:buNone/>
            </a:pPr>
            <a:r>
              <a:rPr lang="en-US" sz="3000" b="1" dirty="0">
                <a:solidFill>
                  <a:srgbClr val="1B2530"/>
                </a:solidFill>
              </a:rPr>
              <a:t>Why a knowledge graph: search misses the links</a:t>
            </a:r>
            <a:endParaRPr lang="en-US" sz="3000" dirty="0"/>
          </a:p>
        </p:txBody>
      </p:sp>
      <p:sp>
        <p:nvSpPr>
          <p:cNvPr id="3" name="Text 1"/>
          <p:cNvSpPr txBox="1"/>
          <p:nvPr/>
        </p:nvSpPr>
        <p:spPr>
          <a:xfrm>
            <a:off x="594360" y="1371600"/>
            <a:ext cx="5760720" cy="2377440"/>
          </a:xfrm>
          <a:prstGeom prst="rect">
            <a:avLst/>
          </a:prstGeom>
          <a:noFill/>
          <a:ln/>
        </p:spPr>
        <p:txBody>
          <a:bodyPr wrap="square" rtlCol="0" anchor="t"/>
          <a:lstStyle/>
          <a:p>
            <a:pPr marL="342900" indent="-342900">
              <a:spcAft>
                <a:spcPts val="800"/>
              </a:spcAft>
              <a:buSzPct val="100000"/>
              <a:buChar char="•"/>
            </a:pPr>
            <a:r>
              <a:rPr lang="en-US" sz="1400" b="1" dirty="0">
                <a:solidFill>
                  <a:srgbClr val="1B2530"/>
                </a:solidFill>
              </a:rPr>
              <a:t>One Health questions span veterinary, climate and public-health papers that rarely cite each other</a:t>
            </a:r>
            <a:endParaRPr lang="en-US" sz="1400" dirty="0"/>
          </a:p>
          <a:p>
            <a:pPr marL="342900" indent="-342900">
              <a:spcAft>
                <a:spcPts val="800"/>
              </a:spcAft>
              <a:buSzPct val="100000"/>
              <a:buChar char="•"/>
            </a:pPr>
            <a:r>
              <a:rPr lang="en-US" sz="1400" dirty="0">
                <a:solidFill>
                  <a:srgbClr val="1B2530"/>
                </a:solidFill>
              </a:rPr>
              <a:t>Keyword/vector search returns passages that SHARE WORDS - not the chain of findings that answers the question</a:t>
            </a:r>
            <a:endParaRPr lang="en-US" sz="1400" dirty="0"/>
          </a:p>
          <a:p>
            <a:pPr marL="342900" indent="-342900">
              <a:spcAft>
                <a:spcPts val="800"/>
              </a:spcAft>
              <a:buSzPct val="100000"/>
              <a:buChar char="•"/>
            </a:pPr>
            <a:r>
              <a:rPr lang="en-US" sz="1400" dirty="0">
                <a:solidFill>
                  <a:srgbClr val="1B2530"/>
                </a:solidFill>
              </a:rPr>
              <a:t>A knowledge graph can return the traceable path across papers, with each hop cited</a:t>
            </a:r>
            <a:endParaRPr lang="en-US" sz="1400" dirty="0"/>
          </a:p>
        </p:txBody>
      </p:sp>
      <p:sp>
        <p:nvSpPr>
          <p:cNvPr id="4" name="Shape 2"/>
          <p:cNvSpPr/>
          <p:nvPr/>
        </p:nvSpPr>
        <p:spPr>
          <a:xfrm>
            <a:off x="6949440" y="1371600"/>
            <a:ext cx="4480560" cy="685800"/>
          </a:xfrm>
          <a:prstGeom prst="roundRect">
            <a:avLst>
              <a:gd name="adj" fmla="val 8000"/>
            </a:avLst>
          </a:prstGeom>
          <a:solidFill>
            <a:srgbClr val="FDF3E0"/>
          </a:solidFill>
          <a:ln w="12700">
            <a:solidFill>
              <a:srgbClr val="E8A33D"/>
            </a:solidFill>
            <a:prstDash val="solid"/>
          </a:ln>
        </p:spPr>
      </p:sp>
      <p:sp>
        <p:nvSpPr>
          <p:cNvPr id="5" name="Text 3"/>
          <p:cNvSpPr txBox="1"/>
          <p:nvPr/>
        </p:nvSpPr>
        <p:spPr>
          <a:xfrm>
            <a:off x="7132320" y="1444752"/>
            <a:ext cx="4114800" cy="548640"/>
          </a:xfrm>
          <a:prstGeom prst="rect">
            <a:avLst/>
          </a:prstGeom>
          <a:noFill/>
          <a:ln/>
        </p:spPr>
        <p:txBody>
          <a:bodyPr wrap="square" lIns="0" tIns="0" rIns="0" bIns="0" rtlCol="0" anchor="ctr"/>
          <a:lstStyle/>
          <a:p>
            <a:pPr algn="ctr" indent="0" marL="0">
              <a:buNone/>
            </a:pPr>
            <a:r>
              <a:rPr lang="en-US" sz="1350" dirty="0">
                <a:solidFill>
                  <a:srgbClr val="1B2530"/>
                </a:solidFill>
              </a:rPr>
              <a:t>Climate stressor (e.g. heat stress)</a:t>
            </a:r>
            <a:endParaRPr lang="en-US" sz="1350" dirty="0"/>
          </a:p>
        </p:txBody>
      </p:sp>
      <p:sp>
        <p:nvSpPr>
          <p:cNvPr id="6" name="Text 4"/>
          <p:cNvSpPr txBox="1"/>
          <p:nvPr/>
        </p:nvSpPr>
        <p:spPr>
          <a:xfrm>
            <a:off x="9052560" y="2084832"/>
            <a:ext cx="365760" cy="365760"/>
          </a:xfrm>
          <a:prstGeom prst="rect">
            <a:avLst/>
          </a:prstGeom>
          <a:noFill/>
          <a:ln/>
        </p:spPr>
        <p:txBody>
          <a:bodyPr wrap="square" lIns="0" tIns="0" rIns="0" bIns="0" rtlCol="0" anchor="ctr"/>
          <a:lstStyle/>
          <a:p>
            <a:pPr algn="ctr" indent="0" marL="0">
              <a:buNone/>
            </a:pPr>
            <a:r>
              <a:rPr lang="en-US" sz="1400" b="1" dirty="0">
                <a:solidFill>
                  <a:srgbClr val="5E6B7A"/>
                </a:solidFill>
              </a:rPr>
              <a:t>v</a:t>
            </a:r>
            <a:endParaRPr lang="en-US" sz="1400" dirty="0"/>
          </a:p>
        </p:txBody>
      </p:sp>
      <p:sp>
        <p:nvSpPr>
          <p:cNvPr id="7" name="Shape 5"/>
          <p:cNvSpPr/>
          <p:nvPr/>
        </p:nvSpPr>
        <p:spPr>
          <a:xfrm>
            <a:off x="6949440" y="2514600"/>
            <a:ext cx="4480560" cy="685800"/>
          </a:xfrm>
          <a:prstGeom prst="roundRect">
            <a:avLst>
              <a:gd name="adj" fmla="val 8000"/>
            </a:avLst>
          </a:prstGeom>
          <a:solidFill>
            <a:srgbClr val="EEF1F8"/>
          </a:solidFill>
          <a:ln w="12700">
            <a:solidFill>
              <a:srgbClr val="D8DEE7"/>
            </a:solidFill>
            <a:prstDash val="solid"/>
          </a:ln>
        </p:spPr>
      </p:sp>
      <p:sp>
        <p:nvSpPr>
          <p:cNvPr id="8" name="Text 6"/>
          <p:cNvSpPr txBox="1"/>
          <p:nvPr/>
        </p:nvSpPr>
        <p:spPr>
          <a:xfrm>
            <a:off x="7132320" y="2587752"/>
            <a:ext cx="4114800" cy="548640"/>
          </a:xfrm>
          <a:prstGeom prst="rect">
            <a:avLst/>
          </a:prstGeom>
          <a:noFill/>
          <a:ln/>
        </p:spPr>
        <p:txBody>
          <a:bodyPr wrap="square" lIns="0" tIns="0" rIns="0" bIns="0" rtlCol="0" anchor="ctr"/>
          <a:lstStyle/>
          <a:p>
            <a:pPr algn="ctr" indent="0" marL="0">
              <a:buNone/>
            </a:pPr>
            <a:r>
              <a:rPr lang="en-US" sz="1350" dirty="0">
                <a:solidFill>
                  <a:srgbClr val="1B2530"/>
                </a:solidFill>
              </a:rPr>
              <a:t>Effect on animal physiology</a:t>
            </a:r>
            <a:endParaRPr lang="en-US" sz="1350" dirty="0"/>
          </a:p>
        </p:txBody>
      </p:sp>
      <p:sp>
        <p:nvSpPr>
          <p:cNvPr id="9" name="Text 7"/>
          <p:cNvSpPr txBox="1"/>
          <p:nvPr/>
        </p:nvSpPr>
        <p:spPr>
          <a:xfrm>
            <a:off x="9052560" y="3227832"/>
            <a:ext cx="365760" cy="365760"/>
          </a:xfrm>
          <a:prstGeom prst="rect">
            <a:avLst/>
          </a:prstGeom>
          <a:noFill/>
          <a:ln/>
        </p:spPr>
        <p:txBody>
          <a:bodyPr wrap="square" lIns="0" tIns="0" rIns="0" bIns="0" rtlCol="0" anchor="ctr"/>
          <a:lstStyle/>
          <a:p>
            <a:pPr algn="ctr" indent="0" marL="0">
              <a:buNone/>
            </a:pPr>
            <a:r>
              <a:rPr lang="en-US" sz="1400" b="1" dirty="0">
                <a:solidFill>
                  <a:srgbClr val="5E6B7A"/>
                </a:solidFill>
              </a:rPr>
              <a:t>v</a:t>
            </a:r>
            <a:endParaRPr lang="en-US" sz="1400" dirty="0"/>
          </a:p>
        </p:txBody>
      </p:sp>
      <p:sp>
        <p:nvSpPr>
          <p:cNvPr id="10" name="Shape 8"/>
          <p:cNvSpPr/>
          <p:nvPr/>
        </p:nvSpPr>
        <p:spPr>
          <a:xfrm>
            <a:off x="6949440" y="3657600"/>
            <a:ext cx="4480560" cy="685800"/>
          </a:xfrm>
          <a:prstGeom prst="roundRect">
            <a:avLst>
              <a:gd name="adj" fmla="val 8000"/>
            </a:avLst>
          </a:prstGeom>
          <a:solidFill>
            <a:srgbClr val="EEF1F8"/>
          </a:solidFill>
          <a:ln w="12700">
            <a:solidFill>
              <a:srgbClr val="D8DEE7"/>
            </a:solidFill>
            <a:prstDash val="solid"/>
          </a:ln>
        </p:spPr>
      </p:sp>
      <p:sp>
        <p:nvSpPr>
          <p:cNvPr id="11" name="Text 9"/>
          <p:cNvSpPr txBox="1"/>
          <p:nvPr/>
        </p:nvSpPr>
        <p:spPr>
          <a:xfrm>
            <a:off x="7132320" y="3730752"/>
            <a:ext cx="4114800" cy="548640"/>
          </a:xfrm>
          <a:prstGeom prst="rect">
            <a:avLst/>
          </a:prstGeom>
          <a:noFill/>
          <a:ln/>
        </p:spPr>
        <p:txBody>
          <a:bodyPr wrap="square" lIns="0" tIns="0" rIns="0" bIns="0" rtlCol="0" anchor="ctr"/>
          <a:lstStyle/>
          <a:p>
            <a:pPr algn="ctr" indent="0" marL="0">
              <a:buNone/>
            </a:pPr>
            <a:r>
              <a:rPr lang="en-US" sz="1350" dirty="0">
                <a:solidFill>
                  <a:srgbClr val="1B2530"/>
                </a:solidFill>
              </a:rPr>
              <a:t>Disease susceptibility</a:t>
            </a:r>
            <a:endParaRPr lang="en-US" sz="1350" dirty="0"/>
          </a:p>
        </p:txBody>
      </p:sp>
      <p:sp>
        <p:nvSpPr>
          <p:cNvPr id="12" name="Text 10"/>
          <p:cNvSpPr txBox="1"/>
          <p:nvPr/>
        </p:nvSpPr>
        <p:spPr>
          <a:xfrm>
            <a:off x="9052560" y="4370832"/>
            <a:ext cx="365760" cy="365760"/>
          </a:xfrm>
          <a:prstGeom prst="rect">
            <a:avLst/>
          </a:prstGeom>
          <a:noFill/>
          <a:ln/>
        </p:spPr>
        <p:txBody>
          <a:bodyPr wrap="square" lIns="0" tIns="0" rIns="0" bIns="0" rtlCol="0" anchor="ctr"/>
          <a:lstStyle/>
          <a:p>
            <a:pPr algn="ctr" indent="0" marL="0">
              <a:buNone/>
            </a:pPr>
            <a:r>
              <a:rPr lang="en-US" sz="1400" b="1" dirty="0">
                <a:solidFill>
                  <a:srgbClr val="5E6B7A"/>
                </a:solidFill>
              </a:rPr>
              <a:t>v</a:t>
            </a:r>
            <a:endParaRPr lang="en-US" sz="1400" dirty="0"/>
          </a:p>
        </p:txBody>
      </p:sp>
      <p:sp>
        <p:nvSpPr>
          <p:cNvPr id="13" name="Shape 11"/>
          <p:cNvSpPr/>
          <p:nvPr/>
        </p:nvSpPr>
        <p:spPr>
          <a:xfrm>
            <a:off x="6949440" y="4800600"/>
            <a:ext cx="4480560" cy="685800"/>
          </a:xfrm>
          <a:prstGeom prst="roundRect">
            <a:avLst>
              <a:gd name="adj" fmla="val 8000"/>
            </a:avLst>
          </a:prstGeom>
          <a:solidFill>
            <a:srgbClr val="EEF1F8"/>
          </a:solidFill>
          <a:ln w="12700">
            <a:solidFill>
              <a:srgbClr val="D8DEE7"/>
            </a:solidFill>
            <a:prstDash val="solid"/>
          </a:ln>
        </p:spPr>
      </p:sp>
      <p:sp>
        <p:nvSpPr>
          <p:cNvPr id="14" name="Text 12"/>
          <p:cNvSpPr txBox="1"/>
          <p:nvPr/>
        </p:nvSpPr>
        <p:spPr>
          <a:xfrm>
            <a:off x="7132320" y="4873752"/>
            <a:ext cx="4114800" cy="548640"/>
          </a:xfrm>
          <a:prstGeom prst="rect">
            <a:avLst/>
          </a:prstGeom>
          <a:noFill/>
          <a:ln/>
        </p:spPr>
        <p:txBody>
          <a:bodyPr wrap="square" lIns="0" tIns="0" rIns="0" bIns="0" rtlCol="0" anchor="ctr"/>
          <a:lstStyle/>
          <a:p>
            <a:pPr algn="ctr" indent="0" marL="0">
              <a:buNone/>
            </a:pPr>
            <a:r>
              <a:rPr lang="en-US" sz="1350" dirty="0">
                <a:solidFill>
                  <a:srgbClr val="1B2530"/>
                </a:solidFill>
              </a:rPr>
              <a:t>Human exposure pathway</a:t>
            </a:r>
            <a:endParaRPr lang="en-US" sz="1350" dirty="0"/>
          </a:p>
        </p:txBody>
      </p:sp>
      <p:sp>
        <p:nvSpPr>
          <p:cNvPr id="15" name="Text 13"/>
          <p:cNvSpPr txBox="1"/>
          <p:nvPr/>
        </p:nvSpPr>
        <p:spPr>
          <a:xfrm>
            <a:off x="6949440" y="5989320"/>
            <a:ext cx="4480560" cy="320040"/>
          </a:xfrm>
          <a:prstGeom prst="rect">
            <a:avLst/>
          </a:prstGeom>
          <a:noFill/>
          <a:ln/>
        </p:spPr>
        <p:txBody>
          <a:bodyPr wrap="square" lIns="0" tIns="0" rIns="0" bIns="0" rtlCol="0" anchor="ctr"/>
          <a:lstStyle/>
          <a:p>
            <a:pPr algn="ctr" indent="0" marL="0">
              <a:buNone/>
            </a:pPr>
            <a:r>
              <a:rPr lang="en-US" sz="1100" dirty="0">
                <a:solidFill>
                  <a:srgbClr val="5E6B7A"/>
                </a:solidFill>
              </a:rPr>
              <a:t>the traceable path KGCompass should find</a:t>
            </a:r>
            <a:endParaRPr lang="en-US" sz="1100" dirty="0"/>
          </a:p>
        </p:txBody>
      </p:sp>
      <p:sp>
        <p:nvSpPr>
          <p:cNvPr id="25" name="Slide Number Placeholder 0"/>
          <p:cNvSpPr>
            <a:spLocks noGrp="1"/>
          </p:cNvSpPr>
          <p:nvPr>
            <p:ph type="sldNum" sz="quarter" idx="4294967295"/>
          </p:nvPr>
        </p:nvSpPr>
        <p:spPr>
          <a:xfrm>
            <a:off x="11521440" y="6510528"/>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5E6B7A"/>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31520"/>
          </a:xfrm>
          <a:prstGeom prst="rect">
            <a:avLst/>
          </a:prstGeom>
          <a:noFill/>
          <a:ln/>
        </p:spPr>
        <p:txBody>
          <a:bodyPr wrap="square" rtlCol="0"/>
          <a:lstStyle/>
          <a:p>
            <a:pPr algn="l" indent="0" marL="0">
              <a:buNone/>
            </a:pPr>
            <a:r>
              <a:rPr lang="en-US" sz="3000" b="1" dirty="0">
                <a:solidFill>
                  <a:srgbClr val="1B2530"/>
                </a:solidFill>
              </a:rPr>
              <a:t>One codebase, two pipelines</a:t>
            </a:r>
            <a:endParaRPr lang="en-US" sz="3000" dirty="0"/>
          </a:p>
        </p:txBody>
      </p:sp>
      <p:sp>
        <p:nvSpPr>
          <p:cNvPr id="3" name="Shape 1"/>
          <p:cNvSpPr/>
          <p:nvPr/>
        </p:nvSpPr>
        <p:spPr>
          <a:xfrm>
            <a:off x="548640" y="1188720"/>
            <a:ext cx="5394960" cy="3749040"/>
          </a:xfrm>
          <a:prstGeom prst="roundRect">
            <a:avLst>
              <a:gd name="adj" fmla="val 1463"/>
            </a:avLst>
          </a:prstGeom>
          <a:solidFill>
            <a:srgbClr val="EEF1F8"/>
          </a:solidFill>
          <a:ln/>
        </p:spPr>
      </p:sp>
      <p:sp>
        <p:nvSpPr>
          <p:cNvPr id="4" name="Text 2"/>
          <p:cNvSpPr txBox="1"/>
          <p:nvPr/>
        </p:nvSpPr>
        <p:spPr>
          <a:xfrm>
            <a:off x="777240" y="1417320"/>
            <a:ext cx="4937760" cy="365760"/>
          </a:xfrm>
          <a:prstGeom prst="rect">
            <a:avLst/>
          </a:prstGeom>
          <a:noFill/>
          <a:ln/>
        </p:spPr>
        <p:txBody>
          <a:bodyPr wrap="square" lIns="0" tIns="0" rIns="0" bIns="0" rtlCol="0" anchor="ctr"/>
          <a:lstStyle/>
          <a:p>
            <a:pPr indent="0" marL="0">
              <a:buNone/>
            </a:pPr>
            <a:r>
              <a:rPr lang="en-US" sz="1700" b="1" dirty="0">
                <a:solidFill>
                  <a:srgbClr val="3B4CC0"/>
                </a:solidFill>
              </a:rPr>
              <a:t>RAG (baseline - backend/)</a:t>
            </a:r>
            <a:endParaRPr lang="en-US" sz="1700" dirty="0"/>
          </a:p>
        </p:txBody>
      </p:sp>
      <p:sp>
        <p:nvSpPr>
          <p:cNvPr id="5" name="Text 3"/>
          <p:cNvSpPr txBox="1"/>
          <p:nvPr/>
        </p:nvSpPr>
        <p:spPr>
          <a:xfrm>
            <a:off x="777240" y="1828800"/>
            <a:ext cx="4983480" cy="3063240"/>
          </a:xfrm>
          <a:prstGeom prst="rect">
            <a:avLst/>
          </a:prstGeom>
          <a:noFill/>
          <a:ln/>
        </p:spPr>
        <p:txBody>
          <a:bodyPr wrap="square" rtlCol="0" anchor="t"/>
          <a:lstStyle/>
          <a:p>
            <a:pPr marL="342900" indent="-342900">
              <a:spcAft>
                <a:spcPts val="600"/>
              </a:spcAft>
              <a:buSzPct val="100000"/>
              <a:buChar char="•"/>
            </a:pPr>
            <a:r>
              <a:rPr lang="en-US" sz="1250" dirty="0">
                <a:solidFill>
                  <a:srgbClr val="1B2530"/>
                </a:solidFill>
              </a:rPr>
              <a:t>Query rewriting: LLM expands the question into ~25 search queries</a:t>
            </a:r>
            <a:endParaRPr lang="en-US" sz="1250" dirty="0"/>
          </a:p>
          <a:p>
            <a:pPr marL="342900" indent="-342900">
              <a:spcAft>
                <a:spcPts val="600"/>
              </a:spcAft>
              <a:buSzPct val="100000"/>
              <a:buChar char="•"/>
            </a:pPr>
            <a:r>
              <a:rPr lang="en-US" sz="1250" dirty="0">
                <a:solidFill>
                  <a:srgbClr val="1B2530"/>
                </a:solidFill>
              </a:rPr>
              <a:t>Hybrid retrieval: dense vectors (nomic-embed-text, ChromaDB) + BM25, fused by reciprocal rank</a:t>
            </a:r>
            <a:endParaRPr lang="en-US" sz="1250" dirty="0"/>
          </a:p>
          <a:p>
            <a:pPr marL="342900" indent="-342900">
              <a:spcAft>
                <a:spcPts val="600"/>
              </a:spcAft>
              <a:buSzPct val="100000"/>
              <a:buChar char="•"/>
            </a:pPr>
            <a:r>
              <a:rPr lang="en-US" sz="1250" b="1" dirty="0">
                <a:solidFill>
                  <a:srgbClr val="1B2530"/>
                </a:solidFill>
              </a:rPr>
              <a:t>Reranking: cross-encoder ms-marco-MiniLM-L6-v2 scores every chunk</a:t>
            </a:r>
            <a:endParaRPr lang="en-US" sz="1250" dirty="0"/>
          </a:p>
          <a:p>
            <a:pPr marL="342900" indent="-342900">
              <a:spcAft>
                <a:spcPts val="600"/>
              </a:spcAft>
              <a:buSzPct val="100000"/>
              <a:buChar char="•"/>
            </a:pPr>
            <a:r>
              <a:rPr lang="en-US" sz="1250" dirty="0">
                <a:solidFill>
                  <a:srgbClr val="1B2530"/>
                </a:solidFill>
              </a:rPr>
              <a:t>Selection: chunks scoring &gt;= 0.05 (or top 10)</a:t>
            </a:r>
            <a:endParaRPr lang="en-US" sz="1250" dirty="0"/>
          </a:p>
          <a:p>
            <a:pPr marL="342900" indent="-342900">
              <a:spcAft>
                <a:spcPts val="600"/>
              </a:spcAft>
              <a:buSzPct val="100000"/>
              <a:buChar char="•"/>
            </a:pPr>
            <a:r>
              <a:rPr lang="en-US" sz="1250" dirty="0">
                <a:solidFill>
                  <a:srgbClr val="1B2530"/>
                </a:solidFill>
              </a:rPr>
              <a:t>Answer with per-claim citations; self-check by a second LLM (llama3.1 8B)</a:t>
            </a:r>
            <a:endParaRPr lang="en-US" sz="1250" dirty="0"/>
          </a:p>
        </p:txBody>
      </p:sp>
      <p:sp>
        <p:nvSpPr>
          <p:cNvPr id="6" name="Shape 4"/>
          <p:cNvSpPr/>
          <p:nvPr/>
        </p:nvSpPr>
        <p:spPr>
          <a:xfrm>
            <a:off x="6217920" y="1188720"/>
            <a:ext cx="5394960" cy="3749040"/>
          </a:xfrm>
          <a:prstGeom prst="roundRect">
            <a:avLst>
              <a:gd name="adj" fmla="val 1463"/>
            </a:avLst>
          </a:prstGeom>
          <a:solidFill>
            <a:srgbClr val="E7F2EC"/>
          </a:solidFill>
          <a:ln/>
        </p:spPr>
      </p:sp>
      <p:sp>
        <p:nvSpPr>
          <p:cNvPr id="7" name="Text 5"/>
          <p:cNvSpPr txBox="1"/>
          <p:nvPr/>
        </p:nvSpPr>
        <p:spPr>
          <a:xfrm>
            <a:off x="6446520" y="1417320"/>
            <a:ext cx="4937760" cy="365760"/>
          </a:xfrm>
          <a:prstGeom prst="rect">
            <a:avLst/>
          </a:prstGeom>
          <a:noFill/>
          <a:ln/>
        </p:spPr>
        <p:txBody>
          <a:bodyPr wrap="square" lIns="0" tIns="0" rIns="0" bIns="0" rtlCol="0" anchor="ctr"/>
          <a:lstStyle/>
          <a:p>
            <a:pPr indent="0" marL="0">
              <a:buNone/>
            </a:pPr>
            <a:r>
              <a:rPr lang="en-US" sz="1700" b="1" dirty="0">
                <a:solidFill>
                  <a:srgbClr val="0E7C5B"/>
                </a:solidFill>
              </a:rPr>
              <a:t>GraphRAG (new - knowledge_graph/)</a:t>
            </a:r>
            <a:endParaRPr lang="en-US" sz="1700" dirty="0"/>
          </a:p>
        </p:txBody>
      </p:sp>
      <p:sp>
        <p:nvSpPr>
          <p:cNvPr id="8" name="Text 6"/>
          <p:cNvSpPr txBox="1"/>
          <p:nvPr/>
        </p:nvSpPr>
        <p:spPr>
          <a:xfrm>
            <a:off x="6446520" y="1828800"/>
            <a:ext cx="4983480" cy="3063240"/>
          </a:xfrm>
          <a:prstGeom prst="rect">
            <a:avLst/>
          </a:prstGeom>
          <a:noFill/>
          <a:ln/>
        </p:spPr>
        <p:txBody>
          <a:bodyPr wrap="square" rtlCol="0" anchor="t"/>
          <a:lstStyle/>
          <a:p>
            <a:pPr marL="342900" indent="-342900">
              <a:spcAft>
                <a:spcPts val="600"/>
              </a:spcAft>
              <a:buSzPct val="100000"/>
              <a:buChar char="•"/>
            </a:pPr>
            <a:r>
              <a:rPr lang="en-US" sz="1250" dirty="0">
                <a:solidFill>
                  <a:srgbClr val="1B2530"/>
                </a:solidFill>
              </a:rPr>
              <a:t>Build once per corpus: same chunks (1,024 chars / 120 overlap) -&gt; LLM extracts entities (14 domain types) + relations with effect direction</a:t>
            </a:r>
            <a:endParaRPr lang="en-US" sz="1250" dirty="0"/>
          </a:p>
          <a:p>
            <a:pPr marL="342900" indent="-342900">
              <a:spcAft>
                <a:spcPts val="600"/>
              </a:spcAft>
              <a:buSzPct val="100000"/>
              <a:buChar char="•"/>
            </a:pPr>
            <a:r>
              <a:rPr lang="en-US" sz="1250" dirty="0">
                <a:solidFill>
                  <a:srgbClr val="1B2530"/>
                </a:solidFill>
              </a:rPr>
              <a:t>Merge entities across chunks and papers; Louvain communities + LLM summaries; stored in FalkorDB with vector indexes</a:t>
            </a:r>
            <a:endParaRPr lang="en-US" sz="1250" dirty="0"/>
          </a:p>
          <a:p>
            <a:pPr marL="342900" indent="-342900">
              <a:spcAft>
                <a:spcPts val="600"/>
              </a:spcAft>
              <a:buSzPct val="100000"/>
              <a:buChar char="•"/>
            </a:pPr>
            <a:r>
              <a:rPr lang="en-US" sz="1250" b="1" dirty="0">
                <a:solidFill>
                  <a:srgbClr val="1B2530"/>
                </a:solidFill>
              </a:rPr>
              <a:t>Answer: seed entities -&gt; 1-hop expansion (&lt;=40 entities) -&gt; strongest &lt;=60 relations -&gt; 8 source chunks -&gt; &lt;=3 community summaries -&gt; cited answer</a:t>
            </a:r>
            <a:endParaRPr lang="en-US" sz="1250" dirty="0"/>
          </a:p>
          <a:p>
            <a:pPr marL="342900" indent="-342900">
              <a:spcAft>
                <a:spcPts val="600"/>
              </a:spcAft>
              <a:buSzPct val="100000"/>
              <a:buChar char="•"/>
            </a:pPr>
            <a:r>
              <a:rPr lang="en-US" sz="1250" dirty="0">
                <a:solidFill>
                  <a:srgbClr val="A82F23"/>
                </a:solidFill>
              </a:rPr>
              <a:t>No reranker on this path (relevant later)</a:t>
            </a:r>
            <a:endParaRPr lang="en-US" sz="1250" dirty="0"/>
          </a:p>
        </p:txBody>
      </p:sp>
      <p:sp>
        <p:nvSpPr>
          <p:cNvPr id="9" name="Shape 7"/>
          <p:cNvSpPr/>
          <p:nvPr/>
        </p:nvSpPr>
        <p:spPr>
          <a:xfrm>
            <a:off x="548640" y="5120640"/>
            <a:ext cx="11064240" cy="1234440"/>
          </a:xfrm>
          <a:prstGeom prst="roundRect">
            <a:avLst>
              <a:gd name="adj" fmla="val 4444"/>
            </a:avLst>
          </a:prstGeom>
          <a:solidFill>
            <a:srgbClr val="10162B"/>
          </a:solidFill>
          <a:ln/>
        </p:spPr>
      </p:sp>
      <p:sp>
        <p:nvSpPr>
          <p:cNvPr id="10" name="Text 8"/>
          <p:cNvSpPr txBox="1"/>
          <p:nvPr/>
        </p:nvSpPr>
        <p:spPr>
          <a:xfrm>
            <a:off x="685800" y="5193792"/>
            <a:ext cx="10789920" cy="274320"/>
          </a:xfrm>
          <a:prstGeom prst="rect">
            <a:avLst/>
          </a:prstGeom>
          <a:noFill/>
          <a:ln/>
        </p:spPr>
        <p:txBody>
          <a:bodyPr wrap="square" lIns="0" tIns="0" rIns="0" bIns="0" rtlCol="0" anchor="ctr"/>
          <a:lstStyle/>
          <a:p>
            <a:pPr indent="0" marL="0">
              <a:buNone/>
            </a:pPr>
            <a:r>
              <a:rPr lang="en-US" sz="1000" b="1" dirty="0">
                <a:solidFill>
                  <a:srgbClr val="8A97E8"/>
                </a:solidFill>
                <a:latin typeface="Courier New" pitchFamily="34" charset="0"/>
                <a:ea typeface="Courier New" pitchFamily="34" charset="-122"/>
                <a:cs typeface="Courier New" pitchFamily="34" charset="-120"/>
              </a:rPr>
              <a:t>one command compares both pipelines</a:t>
            </a:r>
            <a:endParaRPr lang="en-US" sz="1000" dirty="0"/>
          </a:p>
        </p:txBody>
      </p:sp>
      <p:sp>
        <p:nvSpPr>
          <p:cNvPr id="11" name="Text 9"/>
          <p:cNvSpPr txBox="1"/>
          <p:nvPr/>
        </p:nvSpPr>
        <p:spPr>
          <a:xfrm>
            <a:off x="685800" y="5468112"/>
            <a:ext cx="10789920" cy="777240"/>
          </a:xfrm>
          <a:prstGeom prst="rect">
            <a:avLst/>
          </a:prstGeom>
          <a:noFill/>
          <a:ln/>
        </p:spPr>
        <p:txBody>
          <a:bodyPr wrap="square" lIns="0" tIns="0" rIns="0" bIns="0" rtlCol="0" anchor="t"/>
          <a:lstStyle/>
          <a:p>
            <a:pPr indent="0" marL="0">
              <a:buNone/>
            </a:pPr>
            <a:r>
              <a:rPr lang="en-US" sz="1050" dirty="0">
                <a:solidFill>
                  <a:srgbClr val="D7DEF0"/>
                </a:solidFill>
                <a:latin typeface="Courier New" pitchFamily="34" charset="0"/>
                <a:ea typeface="Courier New" pitchFamily="34" charset="-122"/>
                <a:cs typeface="Courier New" pitchFamily="34" charset="-120"/>
              </a:rPr>
              <a:t># shared run settings (per-run manifest): LLM gemma4:12b (answers + extraction + judge) - embeddings nomic-embed-text - chunks 1024/120</a:t>
            </a:r>
            <a:endParaRPr lang="en-US" sz="1050" dirty="0"/>
          </a:p>
          <a:p>
            <a:pPr indent="0" marL="0">
              <a:buNone/>
            </a:pPr>
            <a:r>
              <a:rPr lang="en-US" sz="1050" dirty="0">
                <a:solidFill>
                  <a:srgbClr val="D7DEF0"/>
                </a:solidFill>
                <a:latin typeface="Courier New" pitchFamily="34" charset="0"/>
                <a:ea typeface="Courier New" pitchFamily="34" charset="-122"/>
                <a:cs typeface="Courier New" pitchFamily="34" charset="-120"/>
              </a:rPr>
              <a:t>$ python knowledge_graph/cli.py evaluate --group 21 --rag rerun    # live RAG vs GraphRAG on the same corpus, judged both orders</a:t>
            </a:r>
            <a:endParaRPr lang="en-US" sz="1050" dirty="0"/>
          </a:p>
          <a:p>
            <a:pPr indent="0" marL="0">
              <a:buNone/>
            </a:pPr>
            <a:r>
              <a:rPr lang="en-US" sz="1050" dirty="0">
                <a:solidFill>
                  <a:srgbClr val="D7DEF0"/>
                </a:solidFill>
                <a:latin typeface="Courier New" pitchFamily="34" charset="0"/>
                <a:ea typeface="Courier New" pitchFamily="34" charset="-122"/>
                <a:cs typeface="Courier New" pitchFamily="34" charset="-120"/>
              </a:rPr>
              <a:t>$ python knowledge_graph/cli.py evaluate --group 21 --all          # group questions answered from the GIANT graph</a:t>
            </a:r>
            <a:endParaRPr lang="en-US" sz="1050" dirty="0"/>
          </a:p>
        </p:txBody>
      </p:sp>
      <p:sp>
        <p:nvSpPr>
          <p:cNvPr id="25" name="Slide Number Placeholder 0"/>
          <p:cNvSpPr>
            <a:spLocks noGrp="1"/>
          </p:cNvSpPr>
          <p:nvPr>
            <p:ph type="sldNum" sz="quarter" idx="4294967295"/>
          </p:nvPr>
        </p:nvSpPr>
        <p:spPr>
          <a:xfrm>
            <a:off x="11521440" y="6510528"/>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5E6B7A"/>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31520"/>
          </a:xfrm>
          <a:prstGeom prst="rect">
            <a:avLst/>
          </a:prstGeom>
          <a:noFill/>
          <a:ln/>
        </p:spPr>
        <p:txBody>
          <a:bodyPr wrap="square" rtlCol="0"/>
          <a:lstStyle/>
          <a:p>
            <a:pPr algn="l" indent="0" marL="0">
              <a:buNone/>
            </a:pPr>
            <a:r>
              <a:rPr lang="en-US" sz="3000" b="1" dirty="0">
                <a:solidFill>
                  <a:srgbClr val="1B2530"/>
                </a:solidFill>
              </a:rPr>
              <a:t>System workflow</a:t>
            </a:r>
            <a:endParaRPr lang="en-US" sz="3000" dirty="0"/>
          </a:p>
        </p:txBody>
      </p:sp>
      <p:pic>
        <p:nvPicPr>
          <p:cNvPr id="3" name="Image 0" descr="/Users/srikarsankranti/Desktop/Directed Studies/experiments/sumanth-kg-eval/all-groups/viz_workflow_system.png">    </p:cNvPr>
          <p:cNvPicPr>
            <a:picLocks noChangeAspect="1"/>
          </p:cNvPicPr>
          <p:nvPr/>
        </p:nvPicPr>
        <p:blipFill>
          <a:blip r:embed="rId1"/>
          <a:stretch>
            <a:fillRect/>
          </a:stretch>
        </p:blipFill>
        <p:spPr>
          <a:xfrm>
            <a:off x="411480" y="1325880"/>
            <a:ext cx="11384280" cy="4242816"/>
          </a:xfrm>
          <a:prstGeom prst="rect">
            <a:avLst/>
          </a:prstGeom>
        </p:spPr>
      </p:pic>
      <p:sp>
        <p:nvSpPr>
          <p:cNvPr id="25" name="Slide Number Placeholder 0"/>
          <p:cNvSpPr>
            <a:spLocks noGrp="1"/>
          </p:cNvSpPr>
          <p:nvPr>
            <p:ph type="sldNum" sz="quarter" idx="4294967295"/>
          </p:nvPr>
        </p:nvSpPr>
        <p:spPr>
          <a:xfrm>
            <a:off x="11521440" y="6510528"/>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5E6B7A"/>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31520"/>
          </a:xfrm>
          <a:prstGeom prst="rect">
            <a:avLst/>
          </a:prstGeom>
          <a:noFill/>
          <a:ln/>
        </p:spPr>
        <p:txBody>
          <a:bodyPr wrap="square" rtlCol="0"/>
          <a:lstStyle/>
          <a:p>
            <a:pPr algn="l" indent="0" marL="0">
              <a:buNone/>
            </a:pPr>
            <a:r>
              <a:rPr lang="en-US" sz="3000" b="1" dirty="0">
                <a:solidFill>
                  <a:srgbClr val="1B2530"/>
                </a:solidFill>
              </a:rPr>
              <a:t>Inside the RAG store - chunks and embeddings</a:t>
            </a:r>
            <a:endParaRPr lang="en-US" sz="3000" dirty="0"/>
          </a:p>
        </p:txBody>
      </p:sp>
      <p:pic>
        <p:nvPicPr>
          <p:cNvPr id="3" name="Image 0" descr="/Users/srikarsankranti/Desktop/Directed Studies/experiments/sumanth-kg-eval/all-groups/viz_rag_store.png">    </p:cNvPr>
          <p:cNvPicPr>
            <a:picLocks noChangeAspect="1"/>
          </p:cNvPicPr>
          <p:nvPr/>
        </p:nvPicPr>
        <p:blipFill>
          <a:blip r:embed="rId1"/>
          <a:stretch>
            <a:fillRect/>
          </a:stretch>
        </p:blipFill>
        <p:spPr>
          <a:xfrm>
            <a:off x="548640" y="1417320"/>
            <a:ext cx="11064240" cy="4133088"/>
          </a:xfrm>
          <a:prstGeom prst="rect">
            <a:avLst/>
          </a:prstGeom>
        </p:spPr>
      </p:pic>
      <p:sp>
        <p:nvSpPr>
          <p:cNvPr id="4" name="Text 1"/>
          <p:cNvSpPr txBox="1"/>
          <p:nvPr/>
        </p:nvSpPr>
        <p:spPr>
          <a:xfrm>
            <a:off x="548640" y="6035040"/>
            <a:ext cx="10972800" cy="320040"/>
          </a:xfrm>
          <a:prstGeom prst="rect">
            <a:avLst/>
          </a:prstGeom>
          <a:noFill/>
          <a:ln/>
        </p:spPr>
        <p:txBody>
          <a:bodyPr wrap="square" lIns="0" tIns="0" rIns="0" bIns="0" rtlCol="0" anchor="ctr"/>
          <a:lstStyle/>
          <a:p>
            <a:pPr indent="0" marL="0">
              <a:buNone/>
            </a:pPr>
            <a:r>
              <a:rPr lang="en-US" sz="1050" dirty="0">
                <a:solidFill>
                  <a:srgbClr val="5E6B7A"/>
                </a:solidFill>
              </a:rPr>
              <a:t>Real chunk texts from the corpus; vectors illustrative (nomic-embed-text, 768-d)</a:t>
            </a:r>
            <a:endParaRPr lang="en-US" sz="1050" dirty="0"/>
          </a:p>
        </p:txBody>
      </p:sp>
      <p:sp>
        <p:nvSpPr>
          <p:cNvPr id="25" name="Slide Number Placeholder 0"/>
          <p:cNvSpPr>
            <a:spLocks noGrp="1"/>
          </p:cNvSpPr>
          <p:nvPr>
            <p:ph type="sldNum" sz="quarter" idx="4294967295"/>
          </p:nvPr>
        </p:nvSpPr>
        <p:spPr>
          <a:xfrm>
            <a:off x="11521440" y="6510528"/>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5E6B7A"/>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31520"/>
          </a:xfrm>
          <a:prstGeom prst="rect">
            <a:avLst/>
          </a:prstGeom>
          <a:noFill/>
          <a:ln/>
        </p:spPr>
        <p:txBody>
          <a:bodyPr wrap="square" rtlCol="0"/>
          <a:lstStyle/>
          <a:p>
            <a:pPr algn="l" indent="0" marL="0">
              <a:buNone/>
            </a:pPr>
            <a:r>
              <a:rPr lang="en-US" sz="3000" b="1" dirty="0">
                <a:solidFill>
                  <a:srgbClr val="1B2530"/>
                </a:solidFill>
              </a:rPr>
              <a:t>The KG build pipeline - from the codebase</a:t>
            </a:r>
            <a:endParaRPr lang="en-US" sz="3000" dirty="0"/>
          </a:p>
        </p:txBody>
      </p:sp>
      <p:sp>
        <p:nvSpPr>
          <p:cNvPr id="3" name="Shape 1"/>
          <p:cNvSpPr/>
          <p:nvPr/>
        </p:nvSpPr>
        <p:spPr>
          <a:xfrm>
            <a:off x="548640" y="1188720"/>
            <a:ext cx="6492240" cy="3657600"/>
          </a:xfrm>
          <a:prstGeom prst="roundRect">
            <a:avLst>
              <a:gd name="adj" fmla="val 1500"/>
            </a:avLst>
          </a:prstGeom>
          <a:solidFill>
            <a:srgbClr val="10162B"/>
          </a:solidFill>
          <a:ln/>
        </p:spPr>
      </p:sp>
      <p:sp>
        <p:nvSpPr>
          <p:cNvPr id="4" name="Text 2"/>
          <p:cNvSpPr txBox="1"/>
          <p:nvPr/>
        </p:nvSpPr>
        <p:spPr>
          <a:xfrm>
            <a:off x="685800" y="1261872"/>
            <a:ext cx="6217920" cy="274320"/>
          </a:xfrm>
          <a:prstGeom prst="rect">
            <a:avLst/>
          </a:prstGeom>
          <a:noFill/>
          <a:ln/>
        </p:spPr>
        <p:txBody>
          <a:bodyPr wrap="square" lIns="0" tIns="0" rIns="0" bIns="0" rtlCol="0" anchor="ctr"/>
          <a:lstStyle/>
          <a:p>
            <a:pPr indent="0" marL="0">
              <a:buNone/>
            </a:pPr>
            <a:r>
              <a:rPr lang="en-US" sz="1000" b="1" dirty="0">
                <a:solidFill>
                  <a:srgbClr val="8A97E8"/>
                </a:solidFill>
                <a:latin typeface="Courier New" pitchFamily="34" charset="0"/>
                <a:ea typeface="Courier New" pitchFamily="34" charset="-122"/>
                <a:cs typeface="Courier New" pitchFamily="34" charset="-120"/>
              </a:rPr>
              <a:t>knowledge_graph/cli.py</a:t>
            </a:r>
            <a:endParaRPr lang="en-US" sz="1000" dirty="0"/>
          </a:p>
        </p:txBody>
      </p:sp>
      <p:sp>
        <p:nvSpPr>
          <p:cNvPr id="5" name="Text 3"/>
          <p:cNvSpPr txBox="1"/>
          <p:nvPr/>
        </p:nvSpPr>
        <p:spPr>
          <a:xfrm>
            <a:off x="685800" y="1536192"/>
            <a:ext cx="6217920" cy="3200400"/>
          </a:xfrm>
          <a:prstGeom prst="rect">
            <a:avLst/>
          </a:prstGeom>
          <a:noFill/>
          <a:ln/>
        </p:spPr>
        <p:txBody>
          <a:bodyPr wrap="square" lIns="0" tIns="0" rIns="0" bIns="0" rtlCol="0" anchor="t"/>
          <a:lstStyle/>
          <a:p>
            <a:pPr indent="0" marL="0">
              <a:buNone/>
            </a:pPr>
            <a:r>
              <a:rPr lang="en-US" sz="1050" dirty="0">
                <a:solidFill>
                  <a:srgbClr val="D7DEF0"/>
                </a:solidFill>
                <a:latin typeface="Courier New" pitchFamily="34" charset="0"/>
                <a:ea typeface="Courier New" pitchFamily="34" charset="-122"/>
                <a:cs typeface="Courier New" pitchFamily="34" charset="-120"/>
              </a:rPr>
              <a:t># knowledge_graph/cli.py - cmd_build (actual pipeline)</a:t>
            </a:r>
            <a:endParaRPr lang="en-US" sz="1050" dirty="0"/>
          </a:p>
          <a:p>
            <a:pPr indent="0" marL="0">
              <a:buNone/>
            </a:pPr>
            <a:r>
              <a:rPr lang="en-US" sz="1050" dirty="0">
                <a:solidFill>
                  <a:srgbClr val="D7DEF0"/>
                </a:solidFill>
                <a:latin typeface="Courier New" pitchFamily="34" charset="0"/>
                <a:ea typeface="Courier New" pitchFamily="34" charset="-122"/>
                <a:cs typeface="Courier New" pitchFamily="34" charset="-120"/>
              </a:rPr>
              <a:t>chunks = prepare_corpus(name, pdf_paths=pdfs)</a:t>
            </a:r>
            <a:endParaRPr lang="en-US" sz="1050" dirty="0"/>
          </a:p>
          <a:p>
            <a:pPr indent="0" marL="0">
              <a:buNone/>
            </a:pPr>
            <a:r>
              <a:rPr lang="en-US" sz="1050" dirty="0">
                <a:solidFill>
                  <a:srgbClr val="D7DEF0"/>
                </a:solidFill>
                <a:latin typeface="Courier New" pitchFamily="34" charset="0"/>
                <a:ea typeface="Courier New" pitchFamily="34" charset="-122"/>
                <a:cs typeface="Courier New" pitchFamily="34" charset="-120"/>
              </a:rPr>
              <a:t>extractions = run_extraction(chunks, model=args.model,</a:t>
            </a:r>
            <a:endParaRPr lang="en-US" sz="1050" dirty="0"/>
          </a:p>
          <a:p>
            <a:pPr indent="0" marL="0">
              <a:buNone/>
            </a:pPr>
            <a:r>
              <a:rPr lang="en-US" sz="1050" dirty="0">
                <a:solidFill>
                  <a:srgbClr val="D7DEF0"/>
                </a:solidFill>
                <a:latin typeface="Courier New" pitchFamily="34" charset="0"/>
                <a:ea typeface="Courier New" pitchFamily="34" charset="-122"/>
                <a:cs typeface="Courier New" pitchFamily="34" charset="-120"/>
              </a:rPr>
              <a:t>                             workers=args.workers)   # cached per chunk</a:t>
            </a:r>
            <a:endParaRPr lang="en-US" sz="1050" dirty="0"/>
          </a:p>
          <a:p>
            <a:pPr indent="0" marL="0">
              <a:buNone/>
            </a:pPr>
            <a:r>
              <a:rPr lang="en-US" sz="1050" dirty="0">
                <a:solidFill>
                  <a:srgbClr val="D7DEF0"/>
                </a:solidFill>
                <a:latin typeface="Courier New" pitchFamily="34" charset="0"/>
                <a:ea typeface="Courier New" pitchFamily="34" charset="-122"/>
                <a:cs typeface="Courier New" pitchFamily="34" charset="-120"/>
              </a:rPr>
              <a:t>graph = build_graph(extractions)        # merge entities</a:t>
            </a:r>
            <a:endParaRPr lang="en-US" sz="1050" dirty="0"/>
          </a:p>
          <a:p>
            <a:pPr indent="0" marL="0">
              <a:buNone/>
            </a:pPr>
            <a:r>
              <a:rPr lang="en-US" sz="1050" dirty="0">
                <a:solidFill>
                  <a:srgbClr val="D7DEF0"/>
                </a:solidFill>
                <a:latin typeface="Courier New" pitchFamily="34" charset="0"/>
                <a:ea typeface="Courier New" pitchFamily="34" charset="-122"/>
                <a:cs typeface="Courier New" pitchFamily="34" charset="-120"/>
              </a:rPr>
              <a:t>communities = detect_communities(graph) # Louvain</a:t>
            </a:r>
            <a:endParaRPr lang="en-US" sz="1050" dirty="0"/>
          </a:p>
          <a:p>
            <a:pPr indent="0" marL="0">
              <a:buNone/>
            </a:pPr>
            <a:r>
              <a:rPr lang="en-US" sz="1050" dirty="0">
                <a:solidFill>
                  <a:srgbClr val="D7DEF0"/>
                </a:solidFill>
                <a:latin typeface="Courier New" pitchFamily="34" charset="0"/>
                <a:ea typeface="Courier New" pitchFamily="34" charset="-122"/>
                <a:cs typeface="Courier New" pitchFamily="34" charset="-120"/>
              </a:rPr>
              <a:t>reports = summarize_communities(graph, communities, name)</a:t>
            </a:r>
            <a:endParaRPr lang="en-US" sz="1050" dirty="0"/>
          </a:p>
          <a:p>
            <a:pPr indent="0" marL="0">
              <a:buNone/>
            </a:pPr>
            <a:r>
              <a:rPr lang="en-US" sz="1050" dirty="0">
                <a:solidFill>
                  <a:srgbClr val="D7DEF0"/>
                </a:solidFill>
                <a:latin typeface="Courier New" pitchFamily="34" charset="0"/>
                <a:ea typeface="Courier New" pitchFamily="34" charset="-122"/>
                <a:cs typeface="Courier New" pitchFamily="34" charset="-120"/>
              </a:rPr>
              <a:t>texts, vectors = entity_embeddings(graph, name)</a:t>
            </a:r>
            <a:endParaRPr lang="en-US" sz="1050" dirty="0"/>
          </a:p>
          <a:p>
            <a:pPr indent="0" marL="0">
              <a:buNone/>
            </a:pPr>
            <a:r>
              <a:rPr lang="en-US" sz="1050" dirty="0">
                <a:solidFill>
                  <a:srgbClr val="D7DEF0"/>
                </a:solidFill>
                <a:latin typeface="Courier New" pitchFamily="34" charset="0"/>
                <a:ea typeface="Courier New" pitchFamily="34" charset="-122"/>
                <a:cs typeface="Courier New" pitchFamily="34" charset="-120"/>
              </a:rPr>
              <a:t>falkor_store.write_graph(name, graph, reports, chunks,</a:t>
            </a:r>
            <a:endParaRPr lang="en-US" sz="1050" dirty="0"/>
          </a:p>
          <a:p>
            <a:pPr indent="0" marL="0">
              <a:buNone/>
            </a:pPr>
            <a:r>
              <a:rPr lang="en-US" sz="1050" dirty="0">
                <a:solidFill>
                  <a:srgbClr val="D7DEF0"/>
                </a:solidFill>
                <a:latin typeface="Courier New" pitchFamily="34" charset="0"/>
                <a:ea typeface="Courier New" pitchFamily="34" charset="-122"/>
                <a:cs typeface="Courier New" pitchFamily="34" charset="-120"/>
              </a:rPr>
              <a:t>                         chunk_vectors, texts, vectors)</a:t>
            </a:r>
            <a:endParaRPr lang="en-US" sz="1050" dirty="0"/>
          </a:p>
          <a:p>
            <a:pPr indent="0" marL="0">
              <a:buNone/>
            </a:pPr>
            <a:r>
              <a:rPr lang="en-US" sz="1050" dirty="0">
                <a:solidFill>
                  <a:srgbClr val="D7DEF0"/>
                </a:solidFill>
                <a:latin typeface="Courier New" pitchFamily="34" charset="0"/>
                <a:ea typeface="Courier New" pitchFamily="34" charset="-122"/>
                <a:cs typeface="Courier New" pitchFamily="34" charset="-120"/>
              </a:rPr>
              <a:t>export_graphml(graph, name); export_tables(graph, ...)</a:t>
            </a:r>
            <a:endParaRPr lang="en-US" sz="1050" dirty="0"/>
          </a:p>
        </p:txBody>
      </p:sp>
      <p:sp>
        <p:nvSpPr>
          <p:cNvPr id="6" name="Shape 4"/>
          <p:cNvSpPr/>
          <p:nvPr/>
        </p:nvSpPr>
        <p:spPr>
          <a:xfrm>
            <a:off x="548640" y="4983480"/>
            <a:ext cx="6492240" cy="1325880"/>
          </a:xfrm>
          <a:prstGeom prst="roundRect">
            <a:avLst>
              <a:gd name="adj" fmla="val 4138"/>
            </a:avLst>
          </a:prstGeom>
          <a:solidFill>
            <a:srgbClr val="10162B"/>
          </a:solidFill>
          <a:ln/>
        </p:spPr>
      </p:sp>
      <p:sp>
        <p:nvSpPr>
          <p:cNvPr id="7" name="Text 5"/>
          <p:cNvSpPr txBox="1"/>
          <p:nvPr/>
        </p:nvSpPr>
        <p:spPr>
          <a:xfrm>
            <a:off x="685800" y="5056632"/>
            <a:ext cx="6217920" cy="274320"/>
          </a:xfrm>
          <a:prstGeom prst="rect">
            <a:avLst/>
          </a:prstGeom>
          <a:noFill/>
          <a:ln/>
        </p:spPr>
        <p:txBody>
          <a:bodyPr wrap="square" lIns="0" tIns="0" rIns="0" bIns="0" rtlCol="0" anchor="ctr"/>
          <a:lstStyle/>
          <a:p>
            <a:pPr indent="0" marL="0">
              <a:buNone/>
            </a:pPr>
            <a:r>
              <a:rPr lang="en-US" sz="1000" b="1" dirty="0">
                <a:solidFill>
                  <a:srgbClr val="8A97E8"/>
                </a:solidFill>
                <a:latin typeface="Courier New" pitchFamily="34" charset="0"/>
                <a:ea typeface="Courier New" pitchFamily="34" charset="-122"/>
                <a:cs typeface="Courier New" pitchFamily="34" charset="-120"/>
              </a:rPr>
              <a:t>usage</a:t>
            </a:r>
            <a:endParaRPr lang="en-US" sz="1000" dirty="0"/>
          </a:p>
        </p:txBody>
      </p:sp>
      <p:sp>
        <p:nvSpPr>
          <p:cNvPr id="8" name="Text 6"/>
          <p:cNvSpPr txBox="1"/>
          <p:nvPr/>
        </p:nvSpPr>
        <p:spPr>
          <a:xfrm>
            <a:off x="685800" y="5330952"/>
            <a:ext cx="6217920" cy="868680"/>
          </a:xfrm>
          <a:prstGeom prst="rect">
            <a:avLst/>
          </a:prstGeom>
          <a:noFill/>
          <a:ln/>
        </p:spPr>
        <p:txBody>
          <a:bodyPr wrap="square" lIns="0" tIns="0" rIns="0" bIns="0" rtlCol="0" anchor="t"/>
          <a:lstStyle/>
          <a:p>
            <a:pPr indent="0" marL="0">
              <a:buNone/>
            </a:pPr>
            <a:r>
              <a:rPr lang="en-US" sz="1050" dirty="0">
                <a:solidFill>
                  <a:srgbClr val="D7DEF0"/>
                </a:solidFill>
                <a:latin typeface="Courier New" pitchFamily="34" charset="0"/>
                <a:ea typeface="Courier New" pitchFamily="34" charset="-122"/>
                <a:cs typeface="Courier New" pitchFamily="34" charset="-120"/>
              </a:rPr>
              <a:t>$ python knowledge_graph/cli.py build --group 21</a:t>
            </a:r>
            <a:endParaRPr lang="en-US" sz="1050" dirty="0"/>
          </a:p>
          <a:p>
            <a:pPr indent="0" marL="0">
              <a:buNone/>
            </a:pPr>
            <a:r>
              <a:rPr lang="en-US" sz="1050" dirty="0">
                <a:solidFill>
                  <a:srgbClr val="D7DEF0"/>
                </a:solidFill>
                <a:latin typeface="Courier New" pitchFamily="34" charset="0"/>
                <a:ea typeface="Courier New" pitchFamily="34" charset="-122"/>
                <a:cs typeface="Courier New" pitchFamily="34" charset="-120"/>
              </a:rPr>
              <a:t>$ python knowledge_graph/cli.py ask --group 21 "How do mycotoxins induce ferroptosis?"</a:t>
            </a:r>
            <a:endParaRPr lang="en-US" sz="1050" dirty="0"/>
          </a:p>
          <a:p>
            <a:pPr indent="0" marL="0">
              <a:buNone/>
            </a:pPr>
            <a:r>
              <a:rPr lang="en-US" sz="1050" dirty="0">
                <a:solidFill>
                  <a:srgbClr val="D7DEF0"/>
                </a:solidFill>
                <a:latin typeface="Courier New" pitchFamily="34" charset="0"/>
                <a:ea typeface="Courier New" pitchFamily="34" charset="-122"/>
                <a:cs typeface="Courier New" pitchFamily="34" charset="-120"/>
              </a:rPr>
              <a:t>$ python knowledge_graph/cli.py build --all   # one graph, all 283 papers</a:t>
            </a:r>
            <a:endParaRPr lang="en-US" sz="1050" dirty="0"/>
          </a:p>
        </p:txBody>
      </p:sp>
      <p:sp>
        <p:nvSpPr>
          <p:cNvPr id="9" name="Text 7"/>
          <p:cNvSpPr txBox="1"/>
          <p:nvPr/>
        </p:nvSpPr>
        <p:spPr>
          <a:xfrm>
            <a:off x="7315200" y="1417320"/>
            <a:ext cx="2194560" cy="685800"/>
          </a:xfrm>
          <a:prstGeom prst="rect">
            <a:avLst/>
          </a:prstGeom>
          <a:noFill/>
          <a:ln/>
        </p:spPr>
        <p:txBody>
          <a:bodyPr wrap="square" lIns="0" tIns="0" rIns="0" bIns="0" rtlCol="0" anchor="ctr"/>
          <a:lstStyle/>
          <a:p>
            <a:pPr algn="ctr" indent="0" marL="0">
              <a:buNone/>
            </a:pPr>
            <a:r>
              <a:rPr lang="en-US" sz="4000" b="1" dirty="0">
                <a:solidFill>
                  <a:srgbClr val="0E7C5B"/>
                </a:solidFill>
              </a:rPr>
              <a:t>20,554</a:t>
            </a:r>
            <a:endParaRPr lang="en-US" sz="4000" dirty="0"/>
          </a:p>
        </p:txBody>
      </p:sp>
      <p:sp>
        <p:nvSpPr>
          <p:cNvPr id="10" name="Text 8"/>
          <p:cNvSpPr txBox="1"/>
          <p:nvPr/>
        </p:nvSpPr>
        <p:spPr>
          <a:xfrm>
            <a:off x="7315200" y="2075688"/>
            <a:ext cx="2194560" cy="502920"/>
          </a:xfrm>
          <a:prstGeom prst="rect">
            <a:avLst/>
          </a:prstGeom>
          <a:noFill/>
          <a:ln/>
        </p:spPr>
        <p:txBody>
          <a:bodyPr wrap="square" lIns="0" tIns="0" rIns="0" bIns="0" rtlCol="0" anchor="ctr"/>
          <a:lstStyle/>
          <a:p>
            <a:pPr algn="ctr" indent="0" marL="0">
              <a:buNone/>
            </a:pPr>
            <a:r>
              <a:rPr lang="en-US" sz="1150" dirty="0">
                <a:solidFill>
                  <a:srgbClr val="5E6B7A"/>
                </a:solidFill>
              </a:rPr>
              <a:t>chunks processed (cached, never twice)</a:t>
            </a:r>
            <a:endParaRPr lang="en-US" sz="1150" dirty="0"/>
          </a:p>
        </p:txBody>
      </p:sp>
      <p:sp>
        <p:nvSpPr>
          <p:cNvPr id="11" name="Text 9"/>
          <p:cNvSpPr txBox="1"/>
          <p:nvPr/>
        </p:nvSpPr>
        <p:spPr>
          <a:xfrm>
            <a:off x="9555480" y="1417320"/>
            <a:ext cx="2194560" cy="685800"/>
          </a:xfrm>
          <a:prstGeom prst="rect">
            <a:avLst/>
          </a:prstGeom>
          <a:noFill/>
          <a:ln/>
        </p:spPr>
        <p:txBody>
          <a:bodyPr wrap="square" lIns="0" tIns="0" rIns="0" bIns="0" rtlCol="0" anchor="ctr"/>
          <a:lstStyle/>
          <a:p>
            <a:pPr algn="ctr" indent="0" marL="0">
              <a:buNone/>
            </a:pPr>
            <a:r>
              <a:rPr lang="en-US" sz="4000" b="1" dirty="0">
                <a:solidFill>
                  <a:srgbClr val="0E7C5B"/>
                </a:solidFill>
              </a:rPr>
              <a:t>55,008</a:t>
            </a:r>
            <a:endParaRPr lang="en-US" sz="4000" dirty="0"/>
          </a:p>
        </p:txBody>
      </p:sp>
      <p:sp>
        <p:nvSpPr>
          <p:cNvPr id="12" name="Text 10"/>
          <p:cNvSpPr txBox="1"/>
          <p:nvPr/>
        </p:nvSpPr>
        <p:spPr>
          <a:xfrm>
            <a:off x="9555480" y="2075688"/>
            <a:ext cx="2194560" cy="502920"/>
          </a:xfrm>
          <a:prstGeom prst="rect">
            <a:avLst/>
          </a:prstGeom>
          <a:noFill/>
          <a:ln/>
        </p:spPr>
        <p:txBody>
          <a:bodyPr wrap="square" lIns="0" tIns="0" rIns="0" bIns="0" rtlCol="0" anchor="ctr"/>
          <a:lstStyle/>
          <a:p>
            <a:pPr algn="ctr" indent="0" marL="0">
              <a:buNone/>
            </a:pPr>
            <a:r>
              <a:rPr lang="en-US" sz="1150" dirty="0">
                <a:solidFill>
                  <a:srgbClr val="5E6B7A"/>
                </a:solidFill>
              </a:rPr>
              <a:t>entities across 38 group graphs</a:t>
            </a:r>
            <a:endParaRPr lang="en-US" sz="1150" dirty="0"/>
          </a:p>
        </p:txBody>
      </p:sp>
      <p:sp>
        <p:nvSpPr>
          <p:cNvPr id="13" name="Text 11"/>
          <p:cNvSpPr txBox="1"/>
          <p:nvPr/>
        </p:nvSpPr>
        <p:spPr>
          <a:xfrm>
            <a:off x="7315200" y="2971800"/>
            <a:ext cx="2194560" cy="685800"/>
          </a:xfrm>
          <a:prstGeom prst="rect">
            <a:avLst/>
          </a:prstGeom>
          <a:noFill/>
          <a:ln/>
        </p:spPr>
        <p:txBody>
          <a:bodyPr wrap="square" lIns="0" tIns="0" rIns="0" bIns="0" rtlCol="0" anchor="ctr"/>
          <a:lstStyle/>
          <a:p>
            <a:pPr algn="ctr" indent="0" marL="0">
              <a:buNone/>
            </a:pPr>
            <a:r>
              <a:rPr lang="en-US" sz="4000" b="1" dirty="0">
                <a:solidFill>
                  <a:srgbClr val="0E7C5B"/>
                </a:solidFill>
              </a:rPr>
              <a:t>80,057</a:t>
            </a:r>
            <a:endParaRPr lang="en-US" sz="4000" dirty="0"/>
          </a:p>
        </p:txBody>
      </p:sp>
      <p:sp>
        <p:nvSpPr>
          <p:cNvPr id="14" name="Text 12"/>
          <p:cNvSpPr txBox="1"/>
          <p:nvPr/>
        </p:nvSpPr>
        <p:spPr>
          <a:xfrm>
            <a:off x="7315200" y="3630168"/>
            <a:ext cx="2194560" cy="502920"/>
          </a:xfrm>
          <a:prstGeom prst="rect">
            <a:avLst/>
          </a:prstGeom>
          <a:noFill/>
          <a:ln/>
        </p:spPr>
        <p:txBody>
          <a:bodyPr wrap="square" lIns="0" tIns="0" rIns="0" bIns="0" rtlCol="0" anchor="ctr"/>
          <a:lstStyle/>
          <a:p>
            <a:pPr algn="ctr" indent="0" marL="0">
              <a:buNone/>
            </a:pPr>
            <a:r>
              <a:rPr lang="en-US" sz="1150" dirty="0">
                <a:solidFill>
                  <a:srgbClr val="5E6B7A"/>
                </a:solidFill>
              </a:rPr>
              <a:t>relationships with effect direction</a:t>
            </a:r>
            <a:endParaRPr lang="en-US" sz="1150" dirty="0"/>
          </a:p>
        </p:txBody>
      </p:sp>
      <p:sp>
        <p:nvSpPr>
          <p:cNvPr id="15" name="Text 13"/>
          <p:cNvSpPr txBox="1"/>
          <p:nvPr/>
        </p:nvSpPr>
        <p:spPr>
          <a:xfrm>
            <a:off x="9555480" y="2971800"/>
            <a:ext cx="2194560" cy="685800"/>
          </a:xfrm>
          <a:prstGeom prst="rect">
            <a:avLst/>
          </a:prstGeom>
          <a:noFill/>
          <a:ln/>
        </p:spPr>
        <p:txBody>
          <a:bodyPr wrap="square" lIns="0" tIns="0" rIns="0" bIns="0" rtlCol="0" anchor="ctr"/>
          <a:lstStyle/>
          <a:p>
            <a:pPr algn="ctr" indent="0" marL="0">
              <a:buNone/>
            </a:pPr>
            <a:r>
              <a:rPr lang="en-US" sz="4000" b="1" dirty="0">
                <a:solidFill>
                  <a:srgbClr val="0E7C5B"/>
                </a:solidFill>
              </a:rPr>
              <a:t>30,515</a:t>
            </a:r>
            <a:endParaRPr lang="en-US" sz="4000" dirty="0"/>
          </a:p>
        </p:txBody>
      </p:sp>
      <p:sp>
        <p:nvSpPr>
          <p:cNvPr id="16" name="Text 14"/>
          <p:cNvSpPr txBox="1"/>
          <p:nvPr/>
        </p:nvSpPr>
        <p:spPr>
          <a:xfrm>
            <a:off x="9555480" y="3630168"/>
            <a:ext cx="2194560" cy="502920"/>
          </a:xfrm>
          <a:prstGeom prst="rect">
            <a:avLst/>
          </a:prstGeom>
          <a:noFill/>
          <a:ln/>
        </p:spPr>
        <p:txBody>
          <a:bodyPr wrap="square" lIns="0" tIns="0" rIns="0" bIns="0" rtlCol="0" anchor="ctr"/>
          <a:lstStyle/>
          <a:p>
            <a:pPr algn="ctr" indent="0" marL="0">
              <a:buNone/>
            </a:pPr>
            <a:r>
              <a:rPr lang="en-US" sz="1150" dirty="0">
                <a:solidFill>
                  <a:srgbClr val="5E6B7A"/>
                </a:solidFill>
              </a:rPr>
              <a:t>entities in the giant graph (-45% by merging)</a:t>
            </a:r>
            <a:endParaRPr lang="en-US" sz="1150" dirty="0"/>
          </a:p>
        </p:txBody>
      </p:sp>
      <p:sp>
        <p:nvSpPr>
          <p:cNvPr id="17" name="Text 15"/>
          <p:cNvSpPr txBox="1"/>
          <p:nvPr/>
        </p:nvSpPr>
        <p:spPr>
          <a:xfrm>
            <a:off x="7315200" y="4572000"/>
            <a:ext cx="4480560" cy="1188720"/>
          </a:xfrm>
          <a:prstGeom prst="rect">
            <a:avLst/>
          </a:prstGeom>
          <a:noFill/>
          <a:ln/>
        </p:spPr>
        <p:txBody>
          <a:bodyPr wrap="square" lIns="0" tIns="0" rIns="0" bIns="0" rtlCol="0" anchor="ctr"/>
          <a:lstStyle/>
          <a:p>
            <a:pPr indent="0" marL="0">
              <a:buNone/>
            </a:pPr>
            <a:r>
              <a:rPr lang="en-US" sz="1250" dirty="0">
                <a:solidFill>
                  <a:srgbClr val="5E6B7A"/>
                </a:solidFill>
              </a:rPr>
              <a:t>Giant graph: 79,855 relations, 6,319 communities - entity merging halves the nodes but keeps 95.6% of the edges</a:t>
            </a:r>
            <a:endParaRPr lang="en-US" sz="1250" dirty="0"/>
          </a:p>
        </p:txBody>
      </p:sp>
      <p:sp>
        <p:nvSpPr>
          <p:cNvPr id="25" name="Slide Number Placeholder 0"/>
          <p:cNvSpPr>
            <a:spLocks noGrp="1"/>
          </p:cNvSpPr>
          <p:nvPr>
            <p:ph type="sldNum" sz="quarter" idx="4294967295"/>
          </p:nvPr>
        </p:nvSpPr>
        <p:spPr>
          <a:xfrm>
            <a:off x="11521440" y="6510528"/>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5E6B7A"/>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31520"/>
          </a:xfrm>
          <a:prstGeom prst="rect">
            <a:avLst/>
          </a:prstGeom>
          <a:noFill/>
          <a:ln/>
        </p:spPr>
        <p:txBody>
          <a:bodyPr wrap="square" rtlCol="0"/>
          <a:lstStyle/>
          <a:p>
            <a:pPr algn="l" indent="0" marL="0">
              <a:buNone/>
            </a:pPr>
            <a:r>
              <a:rPr lang="en-US" sz="3000" b="1" dirty="0">
                <a:solidFill>
                  <a:srgbClr val="1B2530"/>
                </a:solidFill>
              </a:rPr>
              <a:t>The graphs themselves - real samples</a:t>
            </a:r>
            <a:endParaRPr lang="en-US" sz="3000" dirty="0"/>
          </a:p>
        </p:txBody>
      </p:sp>
      <p:pic>
        <p:nvPicPr>
          <p:cNvPr id="3" name="Image 0" descr="/Users/srikarsankranti/Desktop/Directed Studies/experiments/sumanth-kg-eval/all-groups/viz_kg_samples.png">    </p:cNvPr>
          <p:cNvPicPr>
            <a:picLocks noChangeAspect="1"/>
          </p:cNvPicPr>
          <p:nvPr/>
        </p:nvPicPr>
        <p:blipFill>
          <a:blip r:embed="rId1"/>
          <a:stretch>
            <a:fillRect/>
          </a:stretch>
        </p:blipFill>
        <p:spPr>
          <a:xfrm>
            <a:off x="411480" y="1234440"/>
            <a:ext cx="11384280" cy="5138928"/>
          </a:xfrm>
          <a:prstGeom prst="rect">
            <a:avLst/>
          </a:prstGeom>
        </p:spPr>
      </p:pic>
      <p:sp>
        <p:nvSpPr>
          <p:cNvPr id="4" name="Text 1"/>
          <p:cNvSpPr txBox="1"/>
          <p:nvPr/>
        </p:nvSpPr>
        <p:spPr>
          <a:xfrm>
            <a:off x="548640" y="6400800"/>
            <a:ext cx="10972800" cy="320040"/>
          </a:xfrm>
          <a:prstGeom prst="rect">
            <a:avLst/>
          </a:prstGeom>
          <a:noFill/>
          <a:ln/>
        </p:spPr>
        <p:txBody>
          <a:bodyPr wrap="square" lIns="0" tIns="0" rIns="0" bIns="0" rtlCol="0" anchor="ctr"/>
          <a:lstStyle/>
          <a:p>
            <a:pPr indent="0" marL="0">
              <a:buNone/>
            </a:pPr>
            <a:r>
              <a:rPr lang="en-US" sz="1050" dirty="0">
                <a:solidFill>
                  <a:srgbClr val="5E6B7A"/>
                </a:solidFill>
              </a:rPr>
              <a:t>Every node and edge drawn from the exported triples.csv of the FalkorDB stores</a:t>
            </a:r>
            <a:endParaRPr lang="en-US" sz="1050" dirty="0"/>
          </a:p>
        </p:txBody>
      </p:sp>
      <p:sp>
        <p:nvSpPr>
          <p:cNvPr id="25" name="Slide Number Placeholder 0"/>
          <p:cNvSpPr>
            <a:spLocks noGrp="1"/>
          </p:cNvSpPr>
          <p:nvPr>
            <p:ph type="sldNum" sz="quarter" idx="4294967295"/>
          </p:nvPr>
        </p:nvSpPr>
        <p:spPr>
          <a:xfrm>
            <a:off x="11521440" y="6510528"/>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5E6B7A"/>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31520"/>
          </a:xfrm>
          <a:prstGeom prst="rect">
            <a:avLst/>
          </a:prstGeom>
          <a:noFill/>
          <a:ln/>
        </p:spPr>
        <p:txBody>
          <a:bodyPr wrap="square" rtlCol="0"/>
          <a:lstStyle/>
          <a:p>
            <a:pPr algn="l" indent="0" marL="0">
              <a:buNone/>
            </a:pPr>
            <a:r>
              <a:rPr lang="en-US" sz="3000" b="1" dirty="0">
                <a:solidFill>
                  <a:srgbClr val="1B2530"/>
                </a:solidFill>
              </a:rPr>
              <a:t>Groupwise: GraphRAG wins the head-to-head</a:t>
            </a:r>
            <a:endParaRPr lang="en-US" sz="3000" dirty="0"/>
          </a:p>
        </p:txBody>
      </p:sp>
      <p:graphicFrame>
        <p:nvGraphicFramePr>
          <p:cNvPr id="3" name="Chart 0" descr=""/>
          <p:cNvGraphicFramePr/>
          <p:nvPr/>
        </p:nvGraphicFramePr>
        <p:xfrm>
          <a:off x="548640" y="1371600"/>
          <a:ext cx="5669280" cy="393192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6492240" y="1463040"/>
            <a:ext cx="5120640" cy="4754880"/>
          </a:xfrm>
          <a:prstGeom prst="rect">
            <a:avLst/>
          </a:prstGeom>
          <a:noFill/>
          <a:ln/>
        </p:spPr>
        <p:txBody>
          <a:bodyPr wrap="square" rtlCol="0" anchor="t"/>
          <a:lstStyle/>
          <a:p>
            <a:pPr marL="342900" indent="-342900">
              <a:spcAft>
                <a:spcPts val="800"/>
              </a:spcAft>
              <a:buSzPct val="100000"/>
              <a:buChar char="•"/>
            </a:pPr>
            <a:r>
              <a:rPr lang="en-US" sz="1400" b="1" dirty="0">
                <a:solidFill>
                  <a:srgbClr val="1B2530"/>
                </a:solidFill>
              </a:rPr>
              <a:t>Groups won: GraphRAG 35, RAG 1, tied 2 (p = 1e-9); sign test on verdicts p = 6e-27</a:t>
            </a:r>
            <a:endParaRPr lang="en-US" sz="1400" dirty="0"/>
          </a:p>
          <a:p>
            <a:pPr marL="342900" indent="-342900">
              <a:spcAft>
                <a:spcPts val="800"/>
              </a:spcAft>
              <a:buSzPct val="100000"/>
              <a:buChar char="•"/>
            </a:pPr>
            <a:r>
              <a:rPr lang="en-US" sz="1400" dirty="0">
                <a:solidFill>
                  <a:srgbClr val="1B2530"/>
                </a:solidFill>
              </a:rPr>
              <a:t>Test set vs expert answers: correctness tied at the ceiling (9.4-9.5/10); completeness 6.28 vs 5.80; paper recall 0.53 vs 0.42 - GraphRAG finds more of the right papers</a:t>
            </a:r>
            <a:endParaRPr lang="en-US" sz="1400" dirty="0"/>
          </a:p>
          <a:p>
            <a:pPr marL="342900" indent="-342900">
              <a:spcAft>
                <a:spcPts val="800"/>
              </a:spcAft>
              <a:buSzPct val="100000"/>
              <a:buChar char="•"/>
            </a:pPr>
            <a:r>
              <a:rPr lang="en-US" sz="1400" dirty="0">
                <a:solidFill>
                  <a:srgbClr val="1B2530"/>
                </a:solidFill>
              </a:rPr>
              <a:t>GraphRAG also faster: 17.7s vs 22.8s per answer (RAG spends calls on rewrite + self-check)</a:t>
            </a:r>
            <a:endParaRPr lang="en-US" sz="1400" dirty="0"/>
          </a:p>
          <a:p>
            <a:pPr marL="342900" indent="-342900">
              <a:spcAft>
                <a:spcPts val="800"/>
              </a:spcAft>
              <a:buSzPct val="100000"/>
              <a:buChar char="•"/>
            </a:pPr>
            <a:r>
              <a:rPr lang="en-US" sz="1400" b="1" dirty="0">
                <a:solidFill>
                  <a:srgbClr val="A82F23"/>
                </a:solidFill>
              </a:rPr>
              <a:t>Honest caveat: the judge tracks answer LENGTH - at equal length the systems tie (p = 0.4). Win counts alone do not prove better answers</a:t>
            </a:r>
            <a:endParaRPr lang="en-US" sz="1400" dirty="0"/>
          </a:p>
        </p:txBody>
      </p:sp>
      <p:sp>
        <p:nvSpPr>
          <p:cNvPr id="25" name="Slide Number Placeholder 0"/>
          <p:cNvSpPr>
            <a:spLocks noGrp="1"/>
          </p:cNvSpPr>
          <p:nvPr>
            <p:ph type="sldNum" sz="quarter" idx="4294967295"/>
          </p:nvPr>
        </p:nvSpPr>
        <p:spPr>
          <a:xfrm>
            <a:off x="11521440" y="6510528"/>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5E6B7A"/>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31520"/>
          </a:xfrm>
          <a:prstGeom prst="rect">
            <a:avLst/>
          </a:prstGeom>
          <a:noFill/>
          <a:ln/>
        </p:spPr>
        <p:txBody>
          <a:bodyPr wrap="square" rtlCol="0"/>
          <a:lstStyle/>
          <a:p>
            <a:pPr algn="l" indent="0" marL="0">
              <a:buNone/>
            </a:pPr>
            <a:r>
              <a:rPr lang="en-US" sz="3000" b="1" dirty="0">
                <a:solidFill>
                  <a:srgbClr val="1B2530"/>
                </a:solidFill>
              </a:rPr>
              <a:t>Giant graph (283 papers): RAG wins - and we know why</a:t>
            </a:r>
            <a:endParaRPr lang="en-US" sz="3000" dirty="0"/>
          </a:p>
        </p:txBody>
      </p:sp>
      <p:sp>
        <p:nvSpPr>
          <p:cNvPr id="3" name="Shape 1"/>
          <p:cNvSpPr/>
          <p:nvPr/>
        </p:nvSpPr>
        <p:spPr>
          <a:xfrm>
            <a:off x="548640" y="1188720"/>
            <a:ext cx="11064240" cy="1143000"/>
          </a:xfrm>
          <a:prstGeom prst="roundRect">
            <a:avLst>
              <a:gd name="adj" fmla="val 4800"/>
            </a:avLst>
          </a:prstGeom>
          <a:solidFill>
            <a:srgbClr val="F8E5E2"/>
          </a:solidFill>
          <a:ln/>
        </p:spPr>
      </p:sp>
      <p:sp>
        <p:nvSpPr>
          <p:cNvPr id="4" name="Text 2"/>
          <p:cNvSpPr txBox="1"/>
          <p:nvPr/>
        </p:nvSpPr>
        <p:spPr>
          <a:xfrm>
            <a:off x="777240" y="1298448"/>
            <a:ext cx="10607040" cy="914400"/>
          </a:xfrm>
          <a:prstGeom prst="rect">
            <a:avLst/>
          </a:prstGeom>
          <a:noFill/>
          <a:ln/>
        </p:spPr>
        <p:txBody>
          <a:bodyPr wrap="square" lIns="0" tIns="0" rIns="0" bIns="0" rtlCol="0" anchor="ctr"/>
          <a:lstStyle/>
          <a:p>
            <a:pPr indent="0" marL="0">
              <a:buNone/>
            </a:pPr>
            <a:r>
              <a:rPr lang="en-US" sz="1350" b="1" dirty="0">
                <a:solidFill>
                  <a:srgbClr val="A82F23"/>
                </a:solidFill>
              </a:rPr>
              <a:t>Setting B (one graph, 283 papers): RAG 431 - GraphRAG 221 - ties 87; RAG takes 33 of 38 groups; paper recall collapses 0.29 vs 0.15.  </a:t>
            </a:r>
            <a:pPr indent="0" marL="0">
              <a:buNone/>
            </a:pPr>
            <a:r>
              <a:rPr lang="en-US" sz="1350" dirty="0">
                <a:solidFill>
                  <a:srgbClr val="1B2530"/>
                </a:solidFill>
              </a:rPr>
              <a:t>Not a length effect: RAG also wins at equal length (116 vs 33) and on expert-scored correctness (9.56 vs 8.68).</a:t>
            </a:r>
            <a:endParaRPr lang="en-US" sz="1350" dirty="0"/>
          </a:p>
        </p:txBody>
      </p:sp>
      <p:sp>
        <p:nvSpPr>
          <p:cNvPr id="5" name="Shape 3"/>
          <p:cNvSpPr/>
          <p:nvPr/>
        </p:nvSpPr>
        <p:spPr>
          <a:xfrm>
            <a:off x="548640" y="6199632"/>
            <a:ext cx="11064240" cy="475488"/>
          </a:xfrm>
          <a:prstGeom prst="roundRect">
            <a:avLst>
              <a:gd name="adj" fmla="val 9615"/>
            </a:avLst>
          </a:prstGeom>
          <a:solidFill>
            <a:srgbClr val="151B33"/>
          </a:solidFill>
          <a:ln/>
        </p:spPr>
      </p:sp>
      <p:sp>
        <p:nvSpPr>
          <p:cNvPr id="6" name="Text 4"/>
          <p:cNvSpPr txBox="1"/>
          <p:nvPr/>
        </p:nvSpPr>
        <p:spPr>
          <a:xfrm>
            <a:off x="777240" y="6254496"/>
            <a:ext cx="10607040" cy="365760"/>
          </a:xfrm>
          <a:prstGeom prst="rect">
            <a:avLst/>
          </a:prstGeom>
          <a:noFill/>
          <a:ln/>
        </p:spPr>
        <p:txBody>
          <a:bodyPr wrap="square" lIns="0" tIns="0" rIns="0" bIns="0" rtlCol="0" anchor="ctr"/>
          <a:lstStyle/>
          <a:p>
            <a:pPr indent="0" marL="0">
              <a:buNone/>
            </a:pPr>
            <a:r>
              <a:rPr lang="en-US" sz="1250" b="1" dirty="0">
                <a:solidFill>
                  <a:srgbClr val="8A97E8"/>
                </a:solidFill>
              </a:rPr>
              <a:t>Measured root cause: </a:t>
            </a:r>
            <a:pPr indent="0" marL="0">
              <a:buNone/>
            </a:pPr>
            <a:r>
              <a:rPr lang="en-US" sz="1250" dirty="0">
                <a:solidFill>
                  <a:srgbClr val="FFFFFF"/>
                </a:solidFill>
              </a:rPr>
              <a:t>only 27% of GraphRAG's seed entities come from the question's own papers - so just 26% of its passages are on-topic, vs 51% for RAG.</a:t>
            </a:r>
            <a:endParaRPr lang="en-US" sz="1250" dirty="0"/>
          </a:p>
        </p:txBody>
      </p:sp>
      <p:sp>
        <p:nvSpPr>
          <p:cNvPr id="7" name="Shape 5"/>
          <p:cNvSpPr/>
          <p:nvPr/>
        </p:nvSpPr>
        <p:spPr>
          <a:xfrm>
            <a:off x="548640" y="2487168"/>
            <a:ext cx="5394960" cy="1664208"/>
          </a:xfrm>
          <a:prstGeom prst="roundRect">
            <a:avLst>
              <a:gd name="adj" fmla="val 3297"/>
            </a:avLst>
          </a:prstGeom>
          <a:solidFill>
            <a:srgbClr val="EEF1F8"/>
          </a:solidFill>
          <a:ln/>
        </p:spPr>
      </p:sp>
      <p:sp>
        <p:nvSpPr>
          <p:cNvPr id="8" name="Text 6"/>
          <p:cNvSpPr txBox="1"/>
          <p:nvPr/>
        </p:nvSpPr>
        <p:spPr>
          <a:xfrm>
            <a:off x="713232" y="2651760"/>
            <a:ext cx="457200" cy="457200"/>
          </a:xfrm>
          <a:prstGeom prst="rect">
            <a:avLst/>
          </a:prstGeom>
          <a:noFill/>
          <a:ln/>
        </p:spPr>
        <p:txBody>
          <a:bodyPr wrap="square" lIns="0" tIns="0" rIns="0" bIns="0" rtlCol="0" anchor="ctr"/>
          <a:lstStyle/>
          <a:p>
            <a:pPr indent="0" marL="0">
              <a:buNone/>
            </a:pPr>
            <a:r>
              <a:rPr lang="en-US" sz="2200" b="1" dirty="0">
                <a:solidFill>
                  <a:srgbClr val="3B4CC0"/>
                </a:solidFill>
              </a:rPr>
              <a:t>1</a:t>
            </a:r>
            <a:endParaRPr lang="en-US" sz="2200" dirty="0"/>
          </a:p>
        </p:txBody>
      </p:sp>
      <p:sp>
        <p:nvSpPr>
          <p:cNvPr id="9" name="Text 7"/>
          <p:cNvSpPr txBox="1"/>
          <p:nvPr/>
        </p:nvSpPr>
        <p:spPr>
          <a:xfrm>
            <a:off x="1188720" y="2642616"/>
            <a:ext cx="4572000" cy="365760"/>
          </a:xfrm>
          <a:prstGeom prst="rect">
            <a:avLst/>
          </a:prstGeom>
          <a:noFill/>
          <a:ln/>
        </p:spPr>
        <p:txBody>
          <a:bodyPr wrap="square" lIns="0" tIns="0" rIns="0" bIns="0" rtlCol="0" anchor="ctr"/>
          <a:lstStyle/>
          <a:p>
            <a:pPr indent="0" marL="0">
              <a:buNone/>
            </a:pPr>
            <a:r>
              <a:rPr lang="en-US" sz="1450" b="1" dirty="0">
                <a:solidFill>
                  <a:srgbClr val="1B2530"/>
                </a:solidFill>
              </a:rPr>
              <a:t>1-hop retrieval only</a:t>
            </a:r>
            <a:endParaRPr lang="en-US" sz="1450" dirty="0"/>
          </a:p>
        </p:txBody>
      </p:sp>
      <p:sp>
        <p:nvSpPr>
          <p:cNvPr id="10" name="Text 8"/>
          <p:cNvSpPr txBox="1"/>
          <p:nvPr/>
        </p:nvSpPr>
        <p:spPr>
          <a:xfrm>
            <a:off x="1188720" y="2999232"/>
            <a:ext cx="4572000" cy="1097280"/>
          </a:xfrm>
          <a:prstGeom prst="rect">
            <a:avLst/>
          </a:prstGeom>
          <a:noFill/>
          <a:ln/>
        </p:spPr>
        <p:txBody>
          <a:bodyPr wrap="square" lIns="0" tIns="0" rIns="0" bIns="0" rtlCol="0" anchor="ctr"/>
          <a:lstStyle/>
          <a:p>
            <a:pPr indent="0" marL="0">
              <a:buNone/>
            </a:pPr>
            <a:r>
              <a:rPr lang="en-US" sz="1100" dirty="0">
                <a:solidFill>
                  <a:srgbClr val="5E6B7A"/>
                </a:solidFill>
              </a:rPr>
              <a:t>Multi-concept questions need 2+ hops; one hop in a 30,515-entity graph surfaces the mega-hubs ('bovine milk': 1,576 edges), not the specific path.</a:t>
            </a:r>
            <a:endParaRPr lang="en-US" sz="1100" dirty="0"/>
          </a:p>
        </p:txBody>
      </p:sp>
      <p:sp>
        <p:nvSpPr>
          <p:cNvPr id="11" name="Shape 9"/>
          <p:cNvSpPr/>
          <p:nvPr/>
        </p:nvSpPr>
        <p:spPr>
          <a:xfrm>
            <a:off x="6217920" y="2487168"/>
            <a:ext cx="5394960" cy="1664208"/>
          </a:xfrm>
          <a:prstGeom prst="roundRect">
            <a:avLst>
              <a:gd name="adj" fmla="val 3297"/>
            </a:avLst>
          </a:prstGeom>
          <a:solidFill>
            <a:srgbClr val="EEF1F8"/>
          </a:solidFill>
          <a:ln/>
        </p:spPr>
      </p:sp>
      <p:sp>
        <p:nvSpPr>
          <p:cNvPr id="12" name="Text 10"/>
          <p:cNvSpPr txBox="1"/>
          <p:nvPr/>
        </p:nvSpPr>
        <p:spPr>
          <a:xfrm>
            <a:off x="6382512" y="2651760"/>
            <a:ext cx="457200" cy="457200"/>
          </a:xfrm>
          <a:prstGeom prst="rect">
            <a:avLst/>
          </a:prstGeom>
          <a:noFill/>
          <a:ln/>
        </p:spPr>
        <p:txBody>
          <a:bodyPr wrap="square" lIns="0" tIns="0" rIns="0" bIns="0" rtlCol="0" anchor="ctr"/>
          <a:lstStyle/>
          <a:p>
            <a:pPr indent="0" marL="0">
              <a:buNone/>
            </a:pPr>
            <a:r>
              <a:rPr lang="en-US" sz="2200" b="1" dirty="0">
                <a:solidFill>
                  <a:srgbClr val="3B4CC0"/>
                </a:solidFill>
              </a:rPr>
              <a:t>2</a:t>
            </a:r>
            <a:endParaRPr lang="en-US" sz="2200" dirty="0"/>
          </a:p>
        </p:txBody>
      </p:sp>
      <p:sp>
        <p:nvSpPr>
          <p:cNvPr id="13" name="Text 11"/>
          <p:cNvSpPr txBox="1"/>
          <p:nvPr/>
        </p:nvSpPr>
        <p:spPr>
          <a:xfrm>
            <a:off x="6858000" y="2642616"/>
            <a:ext cx="4572000" cy="365760"/>
          </a:xfrm>
          <a:prstGeom prst="rect">
            <a:avLst/>
          </a:prstGeom>
          <a:noFill/>
          <a:ln/>
        </p:spPr>
        <p:txBody>
          <a:bodyPr wrap="square" lIns="0" tIns="0" rIns="0" bIns="0" rtlCol="0" anchor="ctr"/>
          <a:lstStyle/>
          <a:p>
            <a:pPr indent="0" marL="0">
              <a:buNone/>
            </a:pPr>
            <a:r>
              <a:rPr lang="en-US" sz="1450" b="1" dirty="0">
                <a:solidFill>
                  <a:srgbClr val="1B2530"/>
                </a:solidFill>
              </a:rPr>
              <a:t>Fixed caps lose the relevant chunk</a:t>
            </a:r>
            <a:endParaRPr lang="en-US" sz="1450" dirty="0"/>
          </a:p>
        </p:txBody>
      </p:sp>
      <p:sp>
        <p:nvSpPr>
          <p:cNvPr id="14" name="Text 12"/>
          <p:cNvSpPr txBox="1"/>
          <p:nvPr/>
        </p:nvSpPr>
        <p:spPr>
          <a:xfrm>
            <a:off x="6858000" y="2999232"/>
            <a:ext cx="4572000" cy="1097280"/>
          </a:xfrm>
          <a:prstGeom prst="rect">
            <a:avLst/>
          </a:prstGeom>
          <a:noFill/>
          <a:ln/>
        </p:spPr>
        <p:txBody>
          <a:bodyPr wrap="square" lIns="0" tIns="0" rIns="0" bIns="0" rtlCol="0" anchor="ctr"/>
          <a:lstStyle/>
          <a:p>
            <a:pPr indent="0" marL="0">
              <a:buNone/>
            </a:pPr>
            <a:r>
              <a:rPr lang="en-US" sz="1100" dirty="0">
                <a:solidFill>
                  <a:srgbClr val="5E6B7A"/>
                </a:solidFill>
              </a:rPr>
              <a:t>&lt;=40 entities, &lt;=60 relations, 8 chunks were tuned for ~2,000-entity graphs. In the giant graph the budget fills with hub neighbours and the chunk that answers the question falls outside the cap.</a:t>
            </a:r>
            <a:endParaRPr lang="en-US" sz="1100" dirty="0"/>
          </a:p>
        </p:txBody>
      </p:sp>
      <p:sp>
        <p:nvSpPr>
          <p:cNvPr id="15" name="Shape 13"/>
          <p:cNvSpPr/>
          <p:nvPr/>
        </p:nvSpPr>
        <p:spPr>
          <a:xfrm>
            <a:off x="548640" y="4297680"/>
            <a:ext cx="5394960" cy="1664208"/>
          </a:xfrm>
          <a:prstGeom prst="roundRect">
            <a:avLst>
              <a:gd name="adj" fmla="val 3297"/>
            </a:avLst>
          </a:prstGeom>
          <a:solidFill>
            <a:srgbClr val="EEF1F8"/>
          </a:solidFill>
          <a:ln/>
        </p:spPr>
      </p:sp>
      <p:sp>
        <p:nvSpPr>
          <p:cNvPr id="16" name="Text 14"/>
          <p:cNvSpPr txBox="1"/>
          <p:nvPr/>
        </p:nvSpPr>
        <p:spPr>
          <a:xfrm>
            <a:off x="713232" y="4462272"/>
            <a:ext cx="457200" cy="457200"/>
          </a:xfrm>
          <a:prstGeom prst="rect">
            <a:avLst/>
          </a:prstGeom>
          <a:noFill/>
          <a:ln/>
        </p:spPr>
        <p:txBody>
          <a:bodyPr wrap="square" lIns="0" tIns="0" rIns="0" bIns="0" rtlCol="0" anchor="ctr"/>
          <a:lstStyle/>
          <a:p>
            <a:pPr indent="0" marL="0">
              <a:buNone/>
            </a:pPr>
            <a:r>
              <a:rPr lang="en-US" sz="2200" b="1" dirty="0">
                <a:solidFill>
                  <a:srgbClr val="3B4CC0"/>
                </a:solidFill>
              </a:rPr>
              <a:t>3</a:t>
            </a:r>
            <a:endParaRPr lang="en-US" sz="2200" dirty="0"/>
          </a:p>
        </p:txBody>
      </p:sp>
      <p:sp>
        <p:nvSpPr>
          <p:cNvPr id="17" name="Text 15"/>
          <p:cNvSpPr txBox="1"/>
          <p:nvPr/>
        </p:nvSpPr>
        <p:spPr>
          <a:xfrm>
            <a:off x="1188720" y="4453128"/>
            <a:ext cx="4572000" cy="365760"/>
          </a:xfrm>
          <a:prstGeom prst="rect">
            <a:avLst/>
          </a:prstGeom>
          <a:noFill/>
          <a:ln/>
        </p:spPr>
        <p:txBody>
          <a:bodyPr wrap="square" lIns="0" tIns="0" rIns="0" bIns="0" rtlCol="0" anchor="ctr"/>
          <a:lstStyle/>
          <a:p>
            <a:pPr indent="0" marL="0">
              <a:buNone/>
            </a:pPr>
            <a:r>
              <a:rPr lang="en-US" sz="1450" b="1" dirty="0">
                <a:solidFill>
                  <a:srgbClr val="1B2530"/>
                </a:solidFill>
              </a:rPr>
              <a:t>No reranking on the graph path</a:t>
            </a:r>
            <a:endParaRPr lang="en-US" sz="1450" dirty="0"/>
          </a:p>
        </p:txBody>
      </p:sp>
      <p:sp>
        <p:nvSpPr>
          <p:cNvPr id="18" name="Text 16"/>
          <p:cNvSpPr txBox="1"/>
          <p:nvPr/>
        </p:nvSpPr>
        <p:spPr>
          <a:xfrm>
            <a:off x="1188720" y="4809744"/>
            <a:ext cx="4572000" cy="1097280"/>
          </a:xfrm>
          <a:prstGeom prst="rect">
            <a:avLst/>
          </a:prstGeom>
          <a:noFill/>
          <a:ln/>
        </p:spPr>
        <p:txBody>
          <a:bodyPr wrap="square" lIns="0" tIns="0" rIns="0" bIns="0" rtlCol="0" anchor="ctr"/>
          <a:lstStyle/>
          <a:p>
            <a:pPr indent="0" marL="0">
              <a:buNone/>
            </a:pPr>
            <a:r>
              <a:rPr lang="en-US" sz="1100" dirty="0">
                <a:solidFill>
                  <a:srgbClr val="5E6B7A"/>
                </a:solidFill>
              </a:rPr>
              <a:t>RAG reranks every candidate with a cross-encoder; GraphRAG selects chunks by graph weight + similarity only - exactly the step that saves RAG at scale is missing.</a:t>
            </a:r>
            <a:endParaRPr lang="en-US" sz="1100" dirty="0"/>
          </a:p>
        </p:txBody>
      </p:sp>
      <p:sp>
        <p:nvSpPr>
          <p:cNvPr id="19" name="Shape 17"/>
          <p:cNvSpPr/>
          <p:nvPr/>
        </p:nvSpPr>
        <p:spPr>
          <a:xfrm>
            <a:off x="6217920" y="4297680"/>
            <a:ext cx="5394960" cy="1664208"/>
          </a:xfrm>
          <a:prstGeom prst="roundRect">
            <a:avLst>
              <a:gd name="adj" fmla="val 3297"/>
            </a:avLst>
          </a:prstGeom>
          <a:solidFill>
            <a:srgbClr val="EEF1F8"/>
          </a:solidFill>
          <a:ln/>
        </p:spPr>
      </p:sp>
      <p:sp>
        <p:nvSpPr>
          <p:cNvPr id="20" name="Text 18"/>
          <p:cNvSpPr txBox="1"/>
          <p:nvPr/>
        </p:nvSpPr>
        <p:spPr>
          <a:xfrm>
            <a:off x="6382512" y="4462272"/>
            <a:ext cx="457200" cy="457200"/>
          </a:xfrm>
          <a:prstGeom prst="rect">
            <a:avLst/>
          </a:prstGeom>
          <a:noFill/>
          <a:ln/>
        </p:spPr>
        <p:txBody>
          <a:bodyPr wrap="square" lIns="0" tIns="0" rIns="0" bIns="0" rtlCol="0" anchor="ctr"/>
          <a:lstStyle/>
          <a:p>
            <a:pPr indent="0" marL="0">
              <a:buNone/>
            </a:pPr>
            <a:r>
              <a:rPr lang="en-US" sz="2200" b="1" dirty="0">
                <a:solidFill>
                  <a:srgbClr val="3B4CC0"/>
                </a:solidFill>
              </a:rPr>
              <a:t>4</a:t>
            </a:r>
            <a:endParaRPr lang="en-US" sz="2200" dirty="0"/>
          </a:p>
        </p:txBody>
      </p:sp>
      <p:sp>
        <p:nvSpPr>
          <p:cNvPr id="21" name="Text 19"/>
          <p:cNvSpPr txBox="1"/>
          <p:nvPr/>
        </p:nvSpPr>
        <p:spPr>
          <a:xfrm>
            <a:off x="6858000" y="4453128"/>
            <a:ext cx="4572000" cy="365760"/>
          </a:xfrm>
          <a:prstGeom prst="rect">
            <a:avLst/>
          </a:prstGeom>
          <a:noFill/>
          <a:ln/>
        </p:spPr>
        <p:txBody>
          <a:bodyPr wrap="square" lIns="0" tIns="0" rIns="0" bIns="0" rtlCol="0" anchor="ctr"/>
          <a:lstStyle/>
          <a:p>
            <a:pPr indent="0" marL="0">
              <a:buNone/>
            </a:pPr>
            <a:r>
              <a:rPr lang="en-US" sz="1450" b="1" dirty="0">
                <a:solidFill>
                  <a:srgbClr val="1B2530"/>
                </a:solidFill>
              </a:rPr>
              <a:t>Merging concentrates the graph</a:t>
            </a:r>
            <a:endParaRPr lang="en-US" sz="1450" dirty="0"/>
          </a:p>
        </p:txBody>
      </p:sp>
      <p:sp>
        <p:nvSpPr>
          <p:cNvPr id="22" name="Text 20"/>
          <p:cNvSpPr txBox="1"/>
          <p:nvPr/>
        </p:nvSpPr>
        <p:spPr>
          <a:xfrm>
            <a:off x="6858000" y="4809744"/>
            <a:ext cx="4572000" cy="1097280"/>
          </a:xfrm>
          <a:prstGeom prst="rect">
            <a:avLst/>
          </a:prstGeom>
          <a:noFill/>
          <a:ln/>
        </p:spPr>
        <p:txBody>
          <a:bodyPr wrap="square" lIns="0" tIns="0" rIns="0" bIns="0" rtlCol="0" anchor="ctr"/>
          <a:lstStyle/>
          <a:p>
            <a:pPr indent="0" marL="0">
              <a:buNone/>
            </a:pPr>
            <a:r>
              <a:rPr lang="en-US" sz="1100" dirty="0">
                <a:solidFill>
                  <a:srgbClr val="5E6B7A"/>
                </a:solidFill>
              </a:rPr>
              <a:t>Entities -45%, edges -4%: double the edges per node pair, so hub expansion gets noisier while cap budgets stay fixed.</a:t>
            </a:r>
            <a:endParaRPr lang="en-US" sz="1100" dirty="0"/>
          </a:p>
        </p:txBody>
      </p:sp>
      <p:sp>
        <p:nvSpPr>
          <p:cNvPr id="25" name="Slide Number Placeholder 0"/>
          <p:cNvSpPr>
            <a:spLocks noGrp="1"/>
          </p:cNvSpPr>
          <p:nvPr>
            <p:ph type="sldNum" sz="quarter" idx="4294967295"/>
          </p:nvPr>
        </p:nvSpPr>
        <p:spPr>
          <a:xfrm>
            <a:off x="11521440" y="6510528"/>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5E6B7A"/>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31520"/>
          </a:xfrm>
          <a:prstGeom prst="rect">
            <a:avLst/>
          </a:prstGeom>
          <a:noFill/>
          <a:ln/>
        </p:spPr>
        <p:txBody>
          <a:bodyPr wrap="square" rtlCol="0"/>
          <a:lstStyle/>
          <a:p>
            <a:pPr algn="l" indent="0" marL="0">
              <a:buNone/>
            </a:pPr>
            <a:r>
              <a:rPr lang="en-US" sz="3000" b="1" dirty="0">
                <a:solidFill>
                  <a:srgbClr val="1B2530"/>
                </a:solidFill>
              </a:rPr>
              <a:t>Going deeper: evaluating the triplets themselves</a:t>
            </a:r>
            <a:endParaRPr lang="en-US" sz="3000" dirty="0"/>
          </a:p>
        </p:txBody>
      </p:sp>
      <p:sp>
        <p:nvSpPr>
          <p:cNvPr id="3" name="Text 1"/>
          <p:cNvSpPr txBox="1"/>
          <p:nvPr/>
        </p:nvSpPr>
        <p:spPr>
          <a:xfrm>
            <a:off x="594360" y="1280160"/>
            <a:ext cx="5943600" cy="4937760"/>
          </a:xfrm>
          <a:prstGeom prst="rect">
            <a:avLst/>
          </a:prstGeom>
          <a:noFill/>
          <a:ln/>
        </p:spPr>
        <p:txBody>
          <a:bodyPr wrap="square" rtlCol="0" anchor="t"/>
          <a:lstStyle/>
          <a:p>
            <a:pPr marL="342900" indent="-342900">
              <a:spcAft>
                <a:spcPts val="800"/>
              </a:spcAft>
              <a:buSzPct val="100000"/>
              <a:buChar char="•"/>
            </a:pPr>
            <a:r>
              <a:rPr lang="en-US" sz="1400" b="1" dirty="0">
                <a:solidFill>
                  <a:srgbClr val="1B2530"/>
                </a:solidFill>
              </a:rPr>
              <a:t>Why: answer-level judging is blind to KG errors - faithfulness tied 83% of the time while wrong facts sat in the graph. Prof. Tao's directive: verify triplet accuracy directly.</a:t>
            </a:r>
            <a:endParaRPr lang="en-US" sz="1400" dirty="0"/>
          </a:p>
          <a:p>
            <a:pPr marL="342900" indent="-342900">
              <a:spcAft>
                <a:spcPts val="800"/>
              </a:spcAft>
              <a:buSzPct val="100000"/>
              <a:buChar char="•"/>
            </a:pPr>
            <a:r>
              <a:rPr lang="en-US" sz="1400" dirty="0">
                <a:solidFill>
                  <a:srgbClr val="1B2530"/>
                </a:solidFill>
              </a:rPr>
              <a:t>Full-coverage scan (code): all 83,554 triples - relation vocabulary, trivial triples, vague entities, contradictions</a:t>
            </a:r>
            <a:endParaRPr lang="en-US" sz="1400" dirty="0"/>
          </a:p>
          <a:p>
            <a:pPr marL="342900" indent="-342900">
              <a:spcAft>
                <a:spcPts val="800"/>
              </a:spcAft>
              <a:buSzPct val="100000"/>
              <a:buChar char="•"/>
            </a:pPr>
            <a:r>
              <a:rPr lang="en-US" sz="1400" dirty="0">
                <a:solidFill>
                  <a:srgbClr val="1B2530"/>
                </a:solidFill>
              </a:rPr>
              <a:t>LLM-judged sample (reasoning): 950 triples (25 per group) verified against the FULL TEXT of their source papers; every verdict carries quoted evidence</a:t>
            </a:r>
            <a:endParaRPr lang="en-US" sz="1400" dirty="0"/>
          </a:p>
          <a:p>
            <a:pPr marL="342900" indent="-342900">
              <a:spcAft>
                <a:spcPts val="800"/>
              </a:spcAft>
              <a:buSzPct val="100000"/>
              <a:buChar char="•"/>
            </a:pPr>
            <a:r>
              <a:rPr lang="en-US" sz="1400" dirty="0">
                <a:solidFill>
                  <a:srgbClr val="1B2530"/>
                </a:solidFill>
              </a:rPr>
              <a:t>Calibration: 50-triple deep dive judged independently by two models - 84% exact / 94% binary agreement, zero correct-wrong flips</a:t>
            </a:r>
            <a:endParaRPr lang="en-US" sz="1400" dirty="0"/>
          </a:p>
        </p:txBody>
      </p:sp>
      <p:graphicFrame>
        <p:nvGraphicFramePr>
          <p:cNvPr id="4" name="Chart 0" descr=""/>
          <p:cNvGraphicFramePr/>
          <p:nvPr/>
        </p:nvGraphicFramePr>
        <p:xfrm>
          <a:off x="6675120" y="1371600"/>
          <a:ext cx="4937760" cy="374904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6675120" y="5257800"/>
            <a:ext cx="4937760" cy="548640"/>
          </a:xfrm>
          <a:prstGeom prst="rect">
            <a:avLst/>
          </a:prstGeom>
          <a:noFill/>
          <a:ln/>
        </p:spPr>
        <p:txBody>
          <a:bodyPr wrap="square" lIns="0" tIns="0" rIns="0" bIns="0" rtlCol="0" anchor="ctr"/>
          <a:lstStyle/>
          <a:p>
            <a:pPr indent="0" marL="0">
              <a:buNone/>
            </a:pPr>
            <a:r>
              <a:rPr lang="en-US" sz="1250" dirty="0">
                <a:solidFill>
                  <a:srgbClr val="5E6B7A"/>
                </a:solidFill>
              </a:rPr>
              <a:t>Per-group correct: 48% - 88% (median 72%). Every group has flawed triples.</a:t>
            </a:r>
            <a:endParaRPr lang="en-US" sz="1250" dirty="0"/>
          </a:p>
        </p:txBody>
      </p:sp>
      <p:sp>
        <p:nvSpPr>
          <p:cNvPr id="25" name="Slide Number Placeholder 0"/>
          <p:cNvSpPr>
            <a:spLocks noGrp="1"/>
          </p:cNvSpPr>
          <p:nvPr>
            <p:ph type="sldNum" sz="quarter" idx="4294967295"/>
          </p:nvPr>
        </p:nvSpPr>
        <p:spPr>
          <a:xfrm>
            <a:off x="11521440" y="6510528"/>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5E6B7A"/>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31520"/>
          </a:xfrm>
          <a:prstGeom prst="rect">
            <a:avLst/>
          </a:prstGeom>
          <a:noFill/>
          <a:ln/>
        </p:spPr>
        <p:txBody>
          <a:bodyPr wrap="square" rtlCol="0"/>
          <a:lstStyle/>
          <a:p>
            <a:pPr algn="l" indent="0" marL="0">
              <a:buNone/>
            </a:pPr>
            <a:r>
              <a:rPr lang="en-US" sz="3000" b="1" dirty="0">
                <a:solidFill>
                  <a:srgbClr val="1B2530"/>
                </a:solidFill>
              </a:rPr>
              <a:t>Why triplets fail: the five reasons</a:t>
            </a:r>
            <a:endParaRPr lang="en-US" sz="3000" dirty="0"/>
          </a:p>
        </p:txBody>
      </p:sp>
      <p:sp>
        <p:nvSpPr>
          <p:cNvPr id="3" name="Shape 1"/>
          <p:cNvSpPr/>
          <p:nvPr/>
        </p:nvSpPr>
        <p:spPr>
          <a:xfrm>
            <a:off x="548640" y="1188720"/>
            <a:ext cx="11064240" cy="914400"/>
          </a:xfrm>
          <a:prstGeom prst="roundRect">
            <a:avLst>
              <a:gd name="adj" fmla="val 5000"/>
            </a:avLst>
          </a:prstGeom>
          <a:solidFill>
            <a:srgbClr val="EEF1F8"/>
          </a:solidFill>
          <a:ln w="9525">
            <a:solidFill>
              <a:srgbClr val="D8DEE7"/>
            </a:solidFill>
            <a:prstDash val="solid"/>
          </a:ln>
        </p:spPr>
      </p:sp>
      <p:sp>
        <p:nvSpPr>
          <p:cNvPr id="4" name="Text 2"/>
          <p:cNvSpPr txBox="1"/>
          <p:nvPr/>
        </p:nvSpPr>
        <p:spPr>
          <a:xfrm>
            <a:off x="731520" y="1261872"/>
            <a:ext cx="1737360" cy="365760"/>
          </a:xfrm>
          <a:prstGeom prst="rect">
            <a:avLst/>
          </a:prstGeom>
          <a:noFill/>
          <a:ln/>
        </p:spPr>
        <p:txBody>
          <a:bodyPr wrap="square" lIns="0" tIns="0" rIns="0" bIns="0" rtlCol="0" anchor="ctr"/>
          <a:lstStyle/>
          <a:p>
            <a:pPr indent="0" marL="0">
              <a:buNone/>
            </a:pPr>
            <a:r>
              <a:rPr lang="en-US" sz="1450" b="1" dirty="0">
                <a:solidFill>
                  <a:srgbClr val="A82F23"/>
                </a:solidFill>
              </a:rPr>
              <a:t>1 - Factual</a:t>
            </a:r>
            <a:endParaRPr lang="en-US" sz="1450" dirty="0"/>
          </a:p>
        </p:txBody>
      </p:sp>
      <p:sp>
        <p:nvSpPr>
          <p:cNvPr id="5" name="Text 3"/>
          <p:cNvSpPr txBox="1"/>
          <p:nvPr/>
        </p:nvSpPr>
        <p:spPr>
          <a:xfrm>
            <a:off x="731520" y="1645920"/>
            <a:ext cx="1783080" cy="365760"/>
          </a:xfrm>
          <a:prstGeom prst="rect">
            <a:avLst/>
          </a:prstGeom>
          <a:noFill/>
          <a:ln/>
        </p:spPr>
        <p:txBody>
          <a:bodyPr wrap="square" lIns="0" tIns="0" rIns="0" bIns="0" rtlCol="0" anchor="ctr"/>
          <a:lstStyle/>
          <a:p>
            <a:pPr indent="0" marL="0">
              <a:buNone/>
            </a:pPr>
            <a:r>
              <a:rPr lang="en-US" sz="1050" dirty="0">
                <a:solidFill>
                  <a:srgbClr val="5E6B7A"/>
                </a:solidFill>
              </a:rPr>
              <a:t>Inverted or false as stated</a:t>
            </a:r>
            <a:endParaRPr lang="en-US" sz="1050" dirty="0"/>
          </a:p>
        </p:txBody>
      </p:sp>
      <p:sp>
        <p:nvSpPr>
          <p:cNvPr id="6" name="Text 4"/>
          <p:cNvSpPr txBox="1"/>
          <p:nvPr/>
        </p:nvSpPr>
        <p:spPr>
          <a:xfrm>
            <a:off x="2606040" y="1280160"/>
            <a:ext cx="8869680" cy="777240"/>
          </a:xfrm>
          <a:prstGeom prst="rect">
            <a:avLst/>
          </a:prstGeom>
          <a:noFill/>
          <a:ln/>
        </p:spPr>
        <p:txBody>
          <a:bodyPr wrap="square" lIns="0" tIns="0" rIns="0" bIns="0" rtlCol="0" anchor="ctr"/>
          <a:lstStyle/>
          <a:p>
            <a:pPr indent="0" marL="0">
              <a:buNone/>
            </a:pPr>
            <a:r>
              <a:rPr lang="en-US" sz="1200" dirty="0">
                <a:solidFill>
                  <a:srgbClr val="1B2530"/>
                </a:solidFill>
              </a:rPr>
              <a:t>'alfalfa silage increases milk yield' - the paper shows LOWER yield (P=0.011); negative results stored as positive; GEM expanded to the wrong drug</a:t>
            </a:r>
            <a:endParaRPr lang="en-US" sz="1200" dirty="0"/>
          </a:p>
        </p:txBody>
      </p:sp>
      <p:sp>
        <p:nvSpPr>
          <p:cNvPr id="7" name="Shape 5"/>
          <p:cNvSpPr/>
          <p:nvPr/>
        </p:nvSpPr>
        <p:spPr>
          <a:xfrm>
            <a:off x="548640" y="2231136"/>
            <a:ext cx="11064240" cy="914400"/>
          </a:xfrm>
          <a:prstGeom prst="roundRect">
            <a:avLst>
              <a:gd name="adj" fmla="val 5000"/>
            </a:avLst>
          </a:prstGeom>
          <a:solidFill>
            <a:srgbClr val="FFFFFF"/>
          </a:solidFill>
          <a:ln w="9525">
            <a:solidFill>
              <a:srgbClr val="D8DEE7"/>
            </a:solidFill>
            <a:prstDash val="solid"/>
          </a:ln>
        </p:spPr>
      </p:sp>
      <p:sp>
        <p:nvSpPr>
          <p:cNvPr id="8" name="Text 6"/>
          <p:cNvSpPr txBox="1"/>
          <p:nvPr/>
        </p:nvSpPr>
        <p:spPr>
          <a:xfrm>
            <a:off x="731520" y="2304288"/>
            <a:ext cx="1737360" cy="365760"/>
          </a:xfrm>
          <a:prstGeom prst="rect">
            <a:avLst/>
          </a:prstGeom>
          <a:noFill/>
          <a:ln/>
        </p:spPr>
        <p:txBody>
          <a:bodyPr wrap="square" lIns="0" tIns="0" rIns="0" bIns="0" rtlCol="0" anchor="ctr"/>
          <a:lstStyle/>
          <a:p>
            <a:pPr indent="0" marL="0">
              <a:buNone/>
            </a:pPr>
            <a:r>
              <a:rPr lang="en-US" sz="1450" b="1" dirty="0">
                <a:solidFill>
                  <a:srgbClr val="E8A33D"/>
                </a:solidFill>
              </a:rPr>
              <a:t>2 - Precision</a:t>
            </a:r>
            <a:endParaRPr lang="en-US" sz="1450" dirty="0"/>
          </a:p>
        </p:txBody>
      </p:sp>
      <p:sp>
        <p:nvSpPr>
          <p:cNvPr id="9" name="Text 7"/>
          <p:cNvSpPr txBox="1"/>
          <p:nvPr/>
        </p:nvSpPr>
        <p:spPr>
          <a:xfrm>
            <a:off x="731520" y="2688336"/>
            <a:ext cx="1783080" cy="365760"/>
          </a:xfrm>
          <a:prstGeom prst="rect">
            <a:avLst/>
          </a:prstGeom>
          <a:noFill/>
          <a:ln/>
        </p:spPr>
        <p:txBody>
          <a:bodyPr wrap="square" lIns="0" tIns="0" rIns="0" bIns="0" rtlCol="0" anchor="ctr"/>
          <a:lstStyle/>
          <a:p>
            <a:pPr indent="0" marL="0">
              <a:buNone/>
            </a:pPr>
            <a:r>
              <a:rPr lang="en-US" sz="1050" dirty="0">
                <a:solidFill>
                  <a:srgbClr val="5E6B7A"/>
                </a:solidFill>
              </a:rPr>
              <a:t>True idea, meaning lost</a:t>
            </a:r>
            <a:endParaRPr lang="en-US" sz="1050" dirty="0"/>
          </a:p>
        </p:txBody>
      </p:sp>
      <p:sp>
        <p:nvSpPr>
          <p:cNvPr id="10" name="Text 8"/>
          <p:cNvSpPr txBox="1"/>
          <p:nvPr/>
        </p:nvSpPr>
        <p:spPr>
          <a:xfrm>
            <a:off x="2606040" y="2322576"/>
            <a:ext cx="8869680" cy="777240"/>
          </a:xfrm>
          <a:prstGeom prst="rect">
            <a:avLst/>
          </a:prstGeom>
          <a:noFill/>
          <a:ln/>
        </p:spPr>
        <p:txBody>
          <a:bodyPr wrap="square" lIns="0" tIns="0" rIns="0" bIns="0" rtlCol="0" anchor="ctr"/>
          <a:lstStyle/>
          <a:p>
            <a:pPr indent="0" marL="0">
              <a:buNone/>
            </a:pPr>
            <a:r>
              <a:rPr lang="en-US" sz="1200" dirty="0">
                <a:solidFill>
                  <a:srgbClr val="1B2530"/>
                </a:solidFill>
              </a:rPr>
              <a:t>'selenium increases liver' (the Se CONCENTRATION in liver); 'iodine causes hypothyroidism' (source says EXCESS iodine) - quantity and conditions dropped</a:t>
            </a:r>
            <a:endParaRPr lang="en-US" sz="1200" dirty="0"/>
          </a:p>
        </p:txBody>
      </p:sp>
      <p:sp>
        <p:nvSpPr>
          <p:cNvPr id="11" name="Shape 9"/>
          <p:cNvSpPr/>
          <p:nvPr/>
        </p:nvSpPr>
        <p:spPr>
          <a:xfrm>
            <a:off x="548640" y="3273552"/>
            <a:ext cx="11064240" cy="914400"/>
          </a:xfrm>
          <a:prstGeom prst="roundRect">
            <a:avLst>
              <a:gd name="adj" fmla="val 5000"/>
            </a:avLst>
          </a:prstGeom>
          <a:solidFill>
            <a:srgbClr val="EEF1F8"/>
          </a:solidFill>
          <a:ln w="9525">
            <a:solidFill>
              <a:srgbClr val="D8DEE7"/>
            </a:solidFill>
            <a:prstDash val="solid"/>
          </a:ln>
        </p:spPr>
      </p:sp>
      <p:sp>
        <p:nvSpPr>
          <p:cNvPr id="12" name="Text 10"/>
          <p:cNvSpPr txBox="1"/>
          <p:nvPr/>
        </p:nvSpPr>
        <p:spPr>
          <a:xfrm>
            <a:off x="731520" y="3346704"/>
            <a:ext cx="1737360" cy="365760"/>
          </a:xfrm>
          <a:prstGeom prst="rect">
            <a:avLst/>
          </a:prstGeom>
          <a:noFill/>
          <a:ln/>
        </p:spPr>
        <p:txBody>
          <a:bodyPr wrap="square" lIns="0" tIns="0" rIns="0" bIns="0" rtlCol="0" anchor="ctr"/>
          <a:lstStyle/>
          <a:p>
            <a:pPr indent="0" marL="0">
              <a:buNone/>
            </a:pPr>
            <a:r>
              <a:rPr lang="en-US" sz="1450" b="1" dirty="0">
                <a:solidFill>
                  <a:srgbClr val="A82F23"/>
                </a:solidFill>
              </a:rPr>
              <a:t>3 - Consistency</a:t>
            </a:r>
            <a:endParaRPr lang="en-US" sz="1450" dirty="0"/>
          </a:p>
        </p:txBody>
      </p:sp>
      <p:sp>
        <p:nvSpPr>
          <p:cNvPr id="13" name="Text 11"/>
          <p:cNvSpPr txBox="1"/>
          <p:nvPr/>
        </p:nvSpPr>
        <p:spPr>
          <a:xfrm>
            <a:off x="731520" y="3730752"/>
            <a:ext cx="1783080" cy="365760"/>
          </a:xfrm>
          <a:prstGeom prst="rect">
            <a:avLst/>
          </a:prstGeom>
          <a:noFill/>
          <a:ln/>
        </p:spPr>
        <p:txBody>
          <a:bodyPr wrap="square" lIns="0" tIns="0" rIns="0" bIns="0" rtlCol="0" anchor="ctr"/>
          <a:lstStyle/>
          <a:p>
            <a:pPr indent="0" marL="0">
              <a:buNone/>
            </a:pPr>
            <a:r>
              <a:rPr lang="en-US" sz="1050" dirty="0">
                <a:solidFill>
                  <a:srgbClr val="5E6B7A"/>
                </a:solidFill>
              </a:rPr>
              <a:t>Graph contradicts itself</a:t>
            </a:r>
            <a:endParaRPr lang="en-US" sz="1050" dirty="0"/>
          </a:p>
        </p:txBody>
      </p:sp>
      <p:sp>
        <p:nvSpPr>
          <p:cNvPr id="14" name="Text 12"/>
          <p:cNvSpPr txBox="1"/>
          <p:nvPr/>
        </p:nvSpPr>
        <p:spPr>
          <a:xfrm>
            <a:off x="2606040" y="3364992"/>
            <a:ext cx="8869680" cy="777240"/>
          </a:xfrm>
          <a:prstGeom prst="rect">
            <a:avLst/>
          </a:prstGeom>
          <a:noFill/>
          <a:ln/>
        </p:spPr>
        <p:txBody>
          <a:bodyPr wrap="square" lIns="0" tIns="0" rIns="0" bIns="0" rtlCol="0" anchor="ctr"/>
          <a:lstStyle/>
          <a:p>
            <a:pPr indent="0" marL="0">
              <a:buNone/>
            </a:pPr>
            <a:r>
              <a:rPr lang="en-US" sz="1200" dirty="0">
                <a:solidFill>
                  <a:srgbClr val="1B2530"/>
                </a:solidFill>
              </a:rPr>
              <a:t>495 pairs like 'monensin increases AND reduces feed efficiency' - no dose/species qualifiers, so both sit as flat facts</a:t>
            </a:r>
            <a:endParaRPr lang="en-US" sz="1200" dirty="0"/>
          </a:p>
        </p:txBody>
      </p:sp>
      <p:sp>
        <p:nvSpPr>
          <p:cNvPr id="15" name="Shape 13"/>
          <p:cNvSpPr/>
          <p:nvPr/>
        </p:nvSpPr>
        <p:spPr>
          <a:xfrm>
            <a:off x="548640" y="4315968"/>
            <a:ext cx="11064240" cy="914400"/>
          </a:xfrm>
          <a:prstGeom prst="roundRect">
            <a:avLst>
              <a:gd name="adj" fmla="val 5000"/>
            </a:avLst>
          </a:prstGeom>
          <a:solidFill>
            <a:srgbClr val="FFFFFF"/>
          </a:solidFill>
          <a:ln w="9525">
            <a:solidFill>
              <a:srgbClr val="D8DEE7"/>
            </a:solidFill>
            <a:prstDash val="solid"/>
          </a:ln>
        </p:spPr>
      </p:sp>
      <p:sp>
        <p:nvSpPr>
          <p:cNvPr id="16" name="Text 14"/>
          <p:cNvSpPr txBox="1"/>
          <p:nvPr/>
        </p:nvSpPr>
        <p:spPr>
          <a:xfrm>
            <a:off x="731520" y="4389120"/>
            <a:ext cx="1737360" cy="365760"/>
          </a:xfrm>
          <a:prstGeom prst="rect">
            <a:avLst/>
          </a:prstGeom>
          <a:noFill/>
          <a:ln/>
        </p:spPr>
        <p:txBody>
          <a:bodyPr wrap="square" lIns="0" tIns="0" rIns="0" bIns="0" rtlCol="0" anchor="ctr"/>
          <a:lstStyle/>
          <a:p>
            <a:pPr indent="0" marL="0">
              <a:buNone/>
            </a:pPr>
            <a:r>
              <a:rPr lang="en-US" sz="1450" b="1" dirty="0">
                <a:solidFill>
                  <a:srgbClr val="E8A33D"/>
                </a:solidFill>
              </a:rPr>
              <a:t>4 - Form</a:t>
            </a:r>
            <a:endParaRPr lang="en-US" sz="1450" dirty="0"/>
          </a:p>
        </p:txBody>
      </p:sp>
      <p:sp>
        <p:nvSpPr>
          <p:cNvPr id="17" name="Text 15"/>
          <p:cNvSpPr txBox="1"/>
          <p:nvPr/>
        </p:nvSpPr>
        <p:spPr>
          <a:xfrm>
            <a:off x="731520" y="4773168"/>
            <a:ext cx="1783080" cy="365760"/>
          </a:xfrm>
          <a:prstGeom prst="rect">
            <a:avLst/>
          </a:prstGeom>
          <a:noFill/>
          <a:ln/>
        </p:spPr>
        <p:txBody>
          <a:bodyPr wrap="square" lIns="0" tIns="0" rIns="0" bIns="0" rtlCol="0" anchor="ctr"/>
          <a:lstStyle/>
          <a:p>
            <a:pPr indent="0" marL="0">
              <a:buNone/>
            </a:pPr>
            <a:r>
              <a:rPr lang="en-US" sz="1050" dirty="0">
                <a:solidFill>
                  <a:srgbClr val="5E6B7A"/>
                </a:solidFill>
              </a:rPr>
              <a:t>Garbled surface</a:t>
            </a:r>
            <a:endParaRPr lang="en-US" sz="1050" dirty="0"/>
          </a:p>
        </p:txBody>
      </p:sp>
      <p:sp>
        <p:nvSpPr>
          <p:cNvPr id="18" name="Text 16"/>
          <p:cNvSpPr txBox="1"/>
          <p:nvPr/>
        </p:nvSpPr>
        <p:spPr>
          <a:xfrm>
            <a:off x="2606040" y="4407408"/>
            <a:ext cx="8869680" cy="777240"/>
          </a:xfrm>
          <a:prstGeom prst="rect">
            <a:avLst/>
          </a:prstGeom>
          <a:noFill/>
          <a:ln/>
        </p:spPr>
        <p:txBody>
          <a:bodyPr wrap="square" lIns="0" tIns="0" rIns="0" bIns="0" rtlCol="0" anchor="ctr"/>
          <a:lstStyle/>
          <a:p>
            <a:pPr indent="0" marL="0">
              <a:buNone/>
            </a:pPr>
            <a:r>
              <a:rPr lang="en-US" sz="1200" dirty="0">
                <a:solidFill>
                  <a:srgbClr val="1B2530"/>
                </a:solidFill>
              </a:rPr>
              <a:t>OCR mangles: 'n-6' became 'n/C06' (30 of 34 garbles from this one corruption); nonsense like 'maize is source of broiler chicken'</a:t>
            </a:r>
            <a:endParaRPr lang="en-US" sz="1200" dirty="0"/>
          </a:p>
        </p:txBody>
      </p:sp>
      <p:sp>
        <p:nvSpPr>
          <p:cNvPr id="19" name="Shape 17"/>
          <p:cNvSpPr/>
          <p:nvPr/>
        </p:nvSpPr>
        <p:spPr>
          <a:xfrm>
            <a:off x="548640" y="5358384"/>
            <a:ext cx="11064240" cy="914400"/>
          </a:xfrm>
          <a:prstGeom prst="roundRect">
            <a:avLst>
              <a:gd name="adj" fmla="val 5000"/>
            </a:avLst>
          </a:prstGeom>
          <a:solidFill>
            <a:srgbClr val="EEF1F8"/>
          </a:solidFill>
          <a:ln w="9525">
            <a:solidFill>
              <a:srgbClr val="D8DEE7"/>
            </a:solidFill>
            <a:prstDash val="solid"/>
          </a:ln>
        </p:spPr>
      </p:sp>
      <p:sp>
        <p:nvSpPr>
          <p:cNvPr id="20" name="Text 18"/>
          <p:cNvSpPr txBox="1"/>
          <p:nvPr/>
        </p:nvSpPr>
        <p:spPr>
          <a:xfrm>
            <a:off x="731520" y="5431536"/>
            <a:ext cx="1737360" cy="365760"/>
          </a:xfrm>
          <a:prstGeom prst="rect">
            <a:avLst/>
          </a:prstGeom>
          <a:noFill/>
          <a:ln/>
        </p:spPr>
        <p:txBody>
          <a:bodyPr wrap="square" lIns="0" tIns="0" rIns="0" bIns="0" rtlCol="0" anchor="ctr"/>
          <a:lstStyle/>
          <a:p>
            <a:pPr indent="0" marL="0">
              <a:buNone/>
            </a:pPr>
            <a:r>
              <a:rPr lang="en-US" sz="1450" b="1" dirty="0">
                <a:solidFill>
                  <a:srgbClr val="5E6B7A"/>
                </a:solidFill>
              </a:rPr>
              <a:t>5 - Noise</a:t>
            </a:r>
            <a:endParaRPr lang="en-US" sz="1450" dirty="0"/>
          </a:p>
        </p:txBody>
      </p:sp>
      <p:sp>
        <p:nvSpPr>
          <p:cNvPr id="21" name="Text 19"/>
          <p:cNvSpPr txBox="1"/>
          <p:nvPr/>
        </p:nvSpPr>
        <p:spPr>
          <a:xfrm>
            <a:off x="731520" y="5815584"/>
            <a:ext cx="1783080" cy="365760"/>
          </a:xfrm>
          <a:prstGeom prst="rect">
            <a:avLst/>
          </a:prstGeom>
          <a:noFill/>
          <a:ln/>
        </p:spPr>
        <p:txBody>
          <a:bodyPr wrap="square" lIns="0" tIns="0" rIns="0" bIns="0" rtlCol="0" anchor="ctr"/>
          <a:lstStyle/>
          <a:p>
            <a:pPr indent="0" marL="0">
              <a:buNone/>
            </a:pPr>
            <a:r>
              <a:rPr lang="en-US" sz="1050" dirty="0">
                <a:solidFill>
                  <a:srgbClr val="5E6B7A"/>
                </a:solidFill>
              </a:rPr>
              <a:t>True but worthless</a:t>
            </a:r>
            <a:endParaRPr lang="en-US" sz="1050" dirty="0"/>
          </a:p>
        </p:txBody>
      </p:sp>
      <p:sp>
        <p:nvSpPr>
          <p:cNvPr id="22" name="Text 20"/>
          <p:cNvSpPr txBox="1"/>
          <p:nvPr/>
        </p:nvSpPr>
        <p:spPr>
          <a:xfrm>
            <a:off x="2606040" y="5449824"/>
            <a:ext cx="8869680" cy="777240"/>
          </a:xfrm>
          <a:prstGeom prst="rect">
            <a:avLst/>
          </a:prstGeom>
          <a:noFill/>
          <a:ln/>
        </p:spPr>
        <p:txBody>
          <a:bodyPr wrap="square" lIns="0" tIns="0" rIns="0" bIns="0" rtlCol="0" anchor="ctr"/>
          <a:lstStyle/>
          <a:p>
            <a:pPr indent="0" marL="0">
              <a:buNone/>
            </a:pPr>
            <a:r>
              <a:rPr lang="en-US" sz="1200" dirty="0">
                <a:solidFill>
                  <a:srgbClr val="1B2530"/>
                </a:solidFill>
              </a:rPr>
              <a:t>3,474 'is measured in' triples; 7,603 relation types with 56% used once - retrieval slots fill with filler instead of facts</a:t>
            </a:r>
            <a:endParaRPr lang="en-US" sz="1200" dirty="0"/>
          </a:p>
        </p:txBody>
      </p:sp>
      <p:sp>
        <p:nvSpPr>
          <p:cNvPr id="25" name="Slide Number Placeholder 0"/>
          <p:cNvSpPr>
            <a:spLocks noGrp="1"/>
          </p:cNvSpPr>
          <p:nvPr>
            <p:ph type="sldNum" sz="quarter" idx="4294967295"/>
          </p:nvPr>
        </p:nvSpPr>
        <p:spPr>
          <a:xfrm>
            <a:off x="11521440" y="6510528"/>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5E6B7A"/>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31520"/>
          </a:xfrm>
          <a:prstGeom prst="rect">
            <a:avLst/>
          </a:prstGeom>
          <a:noFill/>
          <a:ln/>
        </p:spPr>
        <p:txBody>
          <a:bodyPr wrap="square" rtlCol="0"/>
          <a:lstStyle/>
          <a:p>
            <a:pPr algn="l" indent="0" marL="0">
              <a:buNone/>
            </a:pPr>
            <a:r>
              <a:rPr lang="en-US" sz="3000" b="1" dirty="0">
                <a:solidFill>
                  <a:srgbClr val="1B2530"/>
                </a:solidFill>
              </a:rPr>
              <a:t>Correct, re-verify, repeat: quality goes up</a:t>
            </a:r>
            <a:endParaRPr lang="en-US" sz="3000" dirty="0"/>
          </a:p>
        </p:txBody>
      </p:sp>
      <p:sp>
        <p:nvSpPr>
          <p:cNvPr id="3" name="Shape 1"/>
          <p:cNvSpPr/>
          <p:nvPr/>
        </p:nvSpPr>
        <p:spPr>
          <a:xfrm>
            <a:off x="548640" y="1371600"/>
            <a:ext cx="2651760" cy="3566160"/>
          </a:xfrm>
          <a:prstGeom prst="roundRect">
            <a:avLst>
              <a:gd name="adj" fmla="val 2414"/>
            </a:avLst>
          </a:prstGeom>
          <a:solidFill>
            <a:srgbClr val="EEF1F8"/>
          </a:solidFill>
          <a:ln/>
        </p:spPr>
      </p:sp>
      <p:sp>
        <p:nvSpPr>
          <p:cNvPr id="4" name="Text 2"/>
          <p:cNvSpPr txBox="1"/>
          <p:nvPr/>
        </p:nvSpPr>
        <p:spPr>
          <a:xfrm>
            <a:off x="731520" y="1554480"/>
            <a:ext cx="2286000" cy="411480"/>
          </a:xfrm>
          <a:prstGeom prst="rect">
            <a:avLst/>
          </a:prstGeom>
          <a:noFill/>
          <a:ln/>
        </p:spPr>
        <p:txBody>
          <a:bodyPr wrap="square" lIns="0" tIns="0" rIns="0" bIns="0" rtlCol="0" anchor="ctr"/>
          <a:lstStyle/>
          <a:p>
            <a:pPr indent="0" marL="0">
              <a:buNone/>
            </a:pPr>
            <a:r>
              <a:rPr lang="en-US" sz="1800" b="1" dirty="0">
                <a:solidFill>
                  <a:srgbClr val="3B4CC0"/>
                </a:solidFill>
              </a:rPr>
              <a:t>Detect</a:t>
            </a:r>
            <a:endParaRPr lang="en-US" sz="1800" dirty="0"/>
          </a:p>
        </p:txBody>
      </p:sp>
      <p:sp>
        <p:nvSpPr>
          <p:cNvPr id="5" name="Text 3"/>
          <p:cNvSpPr txBox="1"/>
          <p:nvPr/>
        </p:nvSpPr>
        <p:spPr>
          <a:xfrm>
            <a:off x="731520" y="2057400"/>
            <a:ext cx="2331720" cy="2743200"/>
          </a:xfrm>
          <a:prstGeom prst="rect">
            <a:avLst/>
          </a:prstGeom>
          <a:noFill/>
          <a:ln/>
        </p:spPr>
        <p:txBody>
          <a:bodyPr wrap="square" lIns="0" tIns="0" rIns="0" bIns="0" rtlCol="0" anchor="ctr"/>
          <a:lstStyle/>
          <a:p>
            <a:pPr indent="0" marL="0">
              <a:buNone/>
            </a:pPr>
            <a:r>
              <a:rPr lang="en-US" sz="1150" dirty="0">
                <a:solidFill>
                  <a:srgbClr val="1B2530"/>
                </a:solidFill>
              </a:rPr>
              <a:t>15,466 triples flagged by full-coverage detectors (18.5%) + 950 paper-verified verdicts</a:t>
            </a:r>
            <a:endParaRPr lang="en-US" sz="1150" dirty="0"/>
          </a:p>
        </p:txBody>
      </p:sp>
      <p:sp>
        <p:nvSpPr>
          <p:cNvPr id="6" name="Text 4"/>
          <p:cNvSpPr txBox="1"/>
          <p:nvPr/>
        </p:nvSpPr>
        <p:spPr>
          <a:xfrm>
            <a:off x="3163824" y="2834640"/>
            <a:ext cx="320040" cy="457200"/>
          </a:xfrm>
          <a:prstGeom prst="rect">
            <a:avLst/>
          </a:prstGeom>
          <a:noFill/>
          <a:ln/>
        </p:spPr>
        <p:txBody>
          <a:bodyPr wrap="square" lIns="0" tIns="0" rIns="0" bIns="0" rtlCol="0" anchor="ctr"/>
          <a:lstStyle/>
          <a:p>
            <a:pPr algn="ctr" indent="0" marL="0">
              <a:buNone/>
            </a:pPr>
            <a:r>
              <a:rPr lang="en-US" sz="2400" b="1" dirty="0">
                <a:solidFill>
                  <a:srgbClr val="5E6B7A"/>
                </a:solidFill>
              </a:rPr>
              <a:t>&gt;</a:t>
            </a:r>
            <a:endParaRPr lang="en-US" sz="2400" dirty="0"/>
          </a:p>
        </p:txBody>
      </p:sp>
      <p:sp>
        <p:nvSpPr>
          <p:cNvPr id="7" name="Shape 5"/>
          <p:cNvSpPr/>
          <p:nvPr/>
        </p:nvSpPr>
        <p:spPr>
          <a:xfrm>
            <a:off x="3401568" y="1371600"/>
            <a:ext cx="2651760" cy="3566160"/>
          </a:xfrm>
          <a:prstGeom prst="roundRect">
            <a:avLst>
              <a:gd name="adj" fmla="val 2414"/>
            </a:avLst>
          </a:prstGeom>
          <a:solidFill>
            <a:srgbClr val="EEF1F8"/>
          </a:solidFill>
          <a:ln/>
        </p:spPr>
      </p:sp>
      <p:sp>
        <p:nvSpPr>
          <p:cNvPr id="8" name="Text 6"/>
          <p:cNvSpPr txBox="1"/>
          <p:nvPr/>
        </p:nvSpPr>
        <p:spPr>
          <a:xfrm>
            <a:off x="3584448" y="1554480"/>
            <a:ext cx="2286000" cy="411480"/>
          </a:xfrm>
          <a:prstGeom prst="rect">
            <a:avLst/>
          </a:prstGeom>
          <a:noFill/>
          <a:ln/>
        </p:spPr>
        <p:txBody>
          <a:bodyPr wrap="square" lIns="0" tIns="0" rIns="0" bIns="0" rtlCol="0" anchor="ctr"/>
          <a:lstStyle/>
          <a:p>
            <a:pPr indent="0" marL="0">
              <a:buNone/>
            </a:pPr>
            <a:r>
              <a:rPr lang="en-US" sz="1800" b="1" dirty="0">
                <a:solidFill>
                  <a:srgbClr val="3B4CC0"/>
                </a:solidFill>
              </a:rPr>
              <a:t>Reason</a:t>
            </a:r>
            <a:endParaRPr lang="en-US" sz="1800" dirty="0"/>
          </a:p>
        </p:txBody>
      </p:sp>
      <p:sp>
        <p:nvSpPr>
          <p:cNvPr id="9" name="Text 7"/>
          <p:cNvSpPr txBox="1"/>
          <p:nvPr/>
        </p:nvSpPr>
        <p:spPr>
          <a:xfrm>
            <a:off x="3584448" y="2057400"/>
            <a:ext cx="2331720" cy="2743200"/>
          </a:xfrm>
          <a:prstGeom prst="rect">
            <a:avLst/>
          </a:prstGeom>
          <a:noFill/>
          <a:ln/>
        </p:spPr>
        <p:txBody>
          <a:bodyPr wrap="square" lIns="0" tIns="0" rIns="0" bIns="0" rtlCol="0" anchor="ctr"/>
          <a:lstStyle/>
          <a:p>
            <a:pPr indent="0" marL="0">
              <a:buNone/>
            </a:pPr>
            <a:r>
              <a:rPr lang="en-US" sz="1150" dirty="0">
                <a:solidFill>
                  <a:srgbClr val="1B2530"/>
                </a:solidFill>
              </a:rPr>
              <a:t>All 495 contradictions adjudicated case-by-case: 56% conditional (qualify, don't delete), 21% extraction errors, 14% real cross-paper disagreement; 48 garbles corrected - 14 were detector false positives</a:t>
            </a:r>
            <a:endParaRPr lang="en-US" sz="1150" dirty="0"/>
          </a:p>
        </p:txBody>
      </p:sp>
      <p:sp>
        <p:nvSpPr>
          <p:cNvPr id="10" name="Text 8"/>
          <p:cNvSpPr txBox="1"/>
          <p:nvPr/>
        </p:nvSpPr>
        <p:spPr>
          <a:xfrm>
            <a:off x="6016752" y="2834640"/>
            <a:ext cx="320040" cy="457200"/>
          </a:xfrm>
          <a:prstGeom prst="rect">
            <a:avLst/>
          </a:prstGeom>
          <a:noFill/>
          <a:ln/>
        </p:spPr>
        <p:txBody>
          <a:bodyPr wrap="square" lIns="0" tIns="0" rIns="0" bIns="0" rtlCol="0" anchor="ctr"/>
          <a:lstStyle/>
          <a:p>
            <a:pPr algn="ctr" indent="0" marL="0">
              <a:buNone/>
            </a:pPr>
            <a:r>
              <a:rPr lang="en-US" sz="2400" b="1" dirty="0">
                <a:solidFill>
                  <a:srgbClr val="5E6B7A"/>
                </a:solidFill>
              </a:rPr>
              <a:t>&gt;</a:t>
            </a:r>
            <a:endParaRPr lang="en-US" sz="2400" dirty="0"/>
          </a:p>
        </p:txBody>
      </p:sp>
      <p:sp>
        <p:nvSpPr>
          <p:cNvPr id="11" name="Shape 9"/>
          <p:cNvSpPr/>
          <p:nvPr/>
        </p:nvSpPr>
        <p:spPr>
          <a:xfrm>
            <a:off x="6254496" y="1371600"/>
            <a:ext cx="2651760" cy="3566160"/>
          </a:xfrm>
          <a:prstGeom prst="roundRect">
            <a:avLst>
              <a:gd name="adj" fmla="val 2414"/>
            </a:avLst>
          </a:prstGeom>
          <a:solidFill>
            <a:srgbClr val="E7F2EC"/>
          </a:solidFill>
          <a:ln/>
        </p:spPr>
      </p:sp>
      <p:sp>
        <p:nvSpPr>
          <p:cNvPr id="12" name="Text 10"/>
          <p:cNvSpPr txBox="1"/>
          <p:nvPr/>
        </p:nvSpPr>
        <p:spPr>
          <a:xfrm>
            <a:off x="6437376" y="1554480"/>
            <a:ext cx="2286000" cy="411480"/>
          </a:xfrm>
          <a:prstGeom prst="rect">
            <a:avLst/>
          </a:prstGeom>
          <a:noFill/>
          <a:ln/>
        </p:spPr>
        <p:txBody>
          <a:bodyPr wrap="square" lIns="0" tIns="0" rIns="0" bIns="0" rtlCol="0" anchor="ctr"/>
          <a:lstStyle/>
          <a:p>
            <a:pPr indent="0" marL="0">
              <a:buNone/>
            </a:pPr>
            <a:r>
              <a:rPr lang="en-US" sz="1800" b="1" dirty="0">
                <a:solidFill>
                  <a:srgbClr val="0E7C5B"/>
                </a:solidFill>
              </a:rPr>
              <a:t>Correct</a:t>
            </a:r>
            <a:endParaRPr lang="en-US" sz="1800" dirty="0"/>
          </a:p>
        </p:txBody>
      </p:sp>
      <p:sp>
        <p:nvSpPr>
          <p:cNvPr id="13" name="Text 11"/>
          <p:cNvSpPr txBox="1"/>
          <p:nvPr/>
        </p:nvSpPr>
        <p:spPr>
          <a:xfrm>
            <a:off x="6437376" y="2057400"/>
            <a:ext cx="2331720" cy="2743200"/>
          </a:xfrm>
          <a:prstGeom prst="rect">
            <a:avLst/>
          </a:prstGeom>
          <a:noFill/>
          <a:ln/>
        </p:spPr>
        <p:txBody>
          <a:bodyPr wrap="square" lIns="0" tIns="0" rIns="0" bIns="0" rtlCol="0" anchor="ctr"/>
          <a:lstStyle/>
          <a:p>
            <a:pPr indent="0" marL="0">
              <a:buNone/>
            </a:pPr>
            <a:r>
              <a:rPr lang="en-US" sz="1150" dirty="0">
                <a:solidFill>
                  <a:srgbClr val="1B2530"/>
                </a:solidFill>
              </a:rPr>
              <a:t>One normalization rule fixes 30/34 garbles; extraction-error sides deleted; conditional pairs get dose/species qualifiers; trivial + singleton relations pruned/merged</a:t>
            </a:r>
            <a:endParaRPr lang="en-US" sz="1150" dirty="0"/>
          </a:p>
        </p:txBody>
      </p:sp>
      <p:sp>
        <p:nvSpPr>
          <p:cNvPr id="14" name="Text 12"/>
          <p:cNvSpPr txBox="1"/>
          <p:nvPr/>
        </p:nvSpPr>
        <p:spPr>
          <a:xfrm>
            <a:off x="8869680" y="2834640"/>
            <a:ext cx="320040" cy="457200"/>
          </a:xfrm>
          <a:prstGeom prst="rect">
            <a:avLst/>
          </a:prstGeom>
          <a:noFill/>
          <a:ln/>
        </p:spPr>
        <p:txBody>
          <a:bodyPr wrap="square" lIns="0" tIns="0" rIns="0" bIns="0" rtlCol="0" anchor="ctr"/>
          <a:lstStyle/>
          <a:p>
            <a:pPr algn="ctr" indent="0" marL="0">
              <a:buNone/>
            </a:pPr>
            <a:r>
              <a:rPr lang="en-US" sz="2400" b="1" dirty="0">
                <a:solidFill>
                  <a:srgbClr val="5E6B7A"/>
                </a:solidFill>
              </a:rPr>
              <a:t>&gt;</a:t>
            </a:r>
            <a:endParaRPr lang="en-US" sz="2400" dirty="0"/>
          </a:p>
        </p:txBody>
      </p:sp>
      <p:sp>
        <p:nvSpPr>
          <p:cNvPr id="15" name="Shape 13"/>
          <p:cNvSpPr/>
          <p:nvPr/>
        </p:nvSpPr>
        <p:spPr>
          <a:xfrm>
            <a:off x="9107424" y="1371600"/>
            <a:ext cx="2651760" cy="3566160"/>
          </a:xfrm>
          <a:prstGeom prst="roundRect">
            <a:avLst>
              <a:gd name="adj" fmla="val 2414"/>
            </a:avLst>
          </a:prstGeom>
          <a:solidFill>
            <a:srgbClr val="E7F2EC"/>
          </a:solidFill>
          <a:ln/>
        </p:spPr>
      </p:sp>
      <p:sp>
        <p:nvSpPr>
          <p:cNvPr id="16" name="Text 14"/>
          <p:cNvSpPr txBox="1"/>
          <p:nvPr/>
        </p:nvSpPr>
        <p:spPr>
          <a:xfrm>
            <a:off x="9290304" y="1554480"/>
            <a:ext cx="2286000" cy="411480"/>
          </a:xfrm>
          <a:prstGeom prst="rect">
            <a:avLst/>
          </a:prstGeom>
          <a:noFill/>
          <a:ln/>
        </p:spPr>
        <p:txBody>
          <a:bodyPr wrap="square" lIns="0" tIns="0" rIns="0" bIns="0" rtlCol="0" anchor="ctr"/>
          <a:lstStyle/>
          <a:p>
            <a:pPr indent="0" marL="0">
              <a:buNone/>
            </a:pPr>
            <a:r>
              <a:rPr lang="en-US" sz="1800" b="1" dirty="0">
                <a:solidFill>
                  <a:srgbClr val="0E7C5B"/>
                </a:solidFill>
              </a:rPr>
              <a:t>Re-verify</a:t>
            </a:r>
            <a:endParaRPr lang="en-US" sz="1800" dirty="0"/>
          </a:p>
        </p:txBody>
      </p:sp>
      <p:sp>
        <p:nvSpPr>
          <p:cNvPr id="17" name="Text 15"/>
          <p:cNvSpPr txBox="1"/>
          <p:nvPr/>
        </p:nvSpPr>
        <p:spPr>
          <a:xfrm>
            <a:off x="9290304" y="2057400"/>
            <a:ext cx="2331720" cy="2743200"/>
          </a:xfrm>
          <a:prstGeom prst="rect">
            <a:avLst/>
          </a:prstGeom>
          <a:noFill/>
          <a:ln/>
        </p:spPr>
        <p:txBody>
          <a:bodyPr wrap="square" lIns="0" tIns="0" rIns="0" bIns="0" rtlCol="0" anchor="ctr"/>
          <a:lstStyle/>
          <a:p>
            <a:pPr indent="0" marL="0">
              <a:buNone/>
            </a:pPr>
            <a:r>
              <a:rPr lang="en-US" sz="1150" dirty="0">
                <a:solidFill>
                  <a:srgbClr val="1B2530"/>
                </a:solidFill>
              </a:rPr>
              <a:t>Corrected triples re-judged against their own source chunks (chunk ids already stored per triple) - two-judge agreement protocol, 94% binary</a:t>
            </a:r>
            <a:endParaRPr lang="en-US" sz="1150" dirty="0"/>
          </a:p>
        </p:txBody>
      </p:sp>
      <p:sp>
        <p:nvSpPr>
          <p:cNvPr id="18" name="Shape 16"/>
          <p:cNvSpPr/>
          <p:nvPr/>
        </p:nvSpPr>
        <p:spPr>
          <a:xfrm>
            <a:off x="548640" y="5257800"/>
            <a:ext cx="11064240" cy="1051560"/>
          </a:xfrm>
          <a:prstGeom prst="roundRect">
            <a:avLst>
              <a:gd name="adj" fmla="val 5217"/>
            </a:avLst>
          </a:prstGeom>
          <a:solidFill>
            <a:srgbClr val="151B33"/>
          </a:solidFill>
          <a:ln/>
        </p:spPr>
      </p:sp>
      <p:sp>
        <p:nvSpPr>
          <p:cNvPr id="19" name="Text 17"/>
          <p:cNvSpPr txBox="1"/>
          <p:nvPr/>
        </p:nvSpPr>
        <p:spPr>
          <a:xfrm>
            <a:off x="822960" y="5440680"/>
            <a:ext cx="10515600" cy="731520"/>
          </a:xfrm>
          <a:prstGeom prst="rect">
            <a:avLst/>
          </a:prstGeom>
          <a:noFill/>
          <a:ln/>
        </p:spPr>
        <p:txBody>
          <a:bodyPr wrap="square" lIns="0" tIns="0" rIns="0" bIns="0" rtlCol="0" anchor="ctr"/>
          <a:lstStyle/>
          <a:p>
            <a:pPr indent="0" marL="0">
              <a:buNone/>
            </a:pPr>
            <a:r>
              <a:rPr lang="en-US" sz="1450" b="1" dirty="0">
                <a:solidFill>
                  <a:srgbClr val="8A97E8"/>
                </a:solidFill>
              </a:rPr>
              <a:t>The loop is the point: </a:t>
            </a:r>
            <a:pPr indent="0" marL="0">
              <a:buNone/>
            </a:pPr>
            <a:r>
              <a:rPr lang="en-US" sz="1450" dirty="0">
                <a:solidFill>
                  <a:srgbClr val="FFFFFF"/>
                </a:solidFill>
              </a:rPr>
              <a:t>each pass removes a named error class and is re-verified before it lands - so KG quality rises measurably, release by release, instead of by hope.</a:t>
            </a:r>
            <a:endParaRPr lang="en-US" sz="1450" dirty="0"/>
          </a:p>
        </p:txBody>
      </p:sp>
      <p:sp>
        <p:nvSpPr>
          <p:cNvPr id="25" name="Slide Number Placeholder 0"/>
          <p:cNvSpPr>
            <a:spLocks noGrp="1"/>
          </p:cNvSpPr>
          <p:nvPr>
            <p:ph type="sldNum" sz="quarter" idx="4294967295"/>
          </p:nvPr>
        </p:nvSpPr>
        <p:spPr>
          <a:xfrm>
            <a:off x="11521440" y="6510528"/>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5E6B7A"/>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31520"/>
          </a:xfrm>
          <a:prstGeom prst="rect">
            <a:avLst/>
          </a:prstGeom>
          <a:noFill/>
          <a:ln/>
        </p:spPr>
        <p:txBody>
          <a:bodyPr wrap="square" rtlCol="0"/>
          <a:lstStyle/>
          <a:p>
            <a:pPr algn="l" indent="0" marL="0">
              <a:buNone/>
            </a:pPr>
            <a:r>
              <a:rPr lang="en-US" sz="3000" b="1" dirty="0">
                <a:solidFill>
                  <a:srgbClr val="1B2530"/>
                </a:solidFill>
              </a:rPr>
              <a:t>The quality loop as a workflow</a:t>
            </a:r>
            <a:endParaRPr lang="en-US" sz="3000" dirty="0"/>
          </a:p>
        </p:txBody>
      </p:sp>
      <p:pic>
        <p:nvPicPr>
          <p:cNvPr id="3" name="Image 0" descr="/Users/srikarsankranti/Desktop/Directed Studies/experiments/sumanth-kg-eval/all-groups/viz_workflow_eval.png">    </p:cNvPr>
          <p:cNvPicPr>
            <a:picLocks noChangeAspect="1"/>
          </p:cNvPicPr>
          <p:nvPr/>
        </p:nvPicPr>
        <p:blipFill>
          <a:blip r:embed="rId1"/>
          <a:stretch>
            <a:fillRect/>
          </a:stretch>
        </p:blipFill>
        <p:spPr>
          <a:xfrm>
            <a:off x="457200" y="1554480"/>
            <a:ext cx="11292840" cy="4206240"/>
          </a:xfrm>
          <a:prstGeom prst="rect">
            <a:avLst/>
          </a:prstGeom>
        </p:spPr>
      </p:pic>
      <p:sp>
        <p:nvSpPr>
          <p:cNvPr id="25" name="Slide Number Placeholder 0"/>
          <p:cNvSpPr>
            <a:spLocks noGrp="1"/>
          </p:cNvSpPr>
          <p:nvPr>
            <p:ph type="sldNum" sz="quarter" idx="4294967295"/>
          </p:nvPr>
        </p:nvSpPr>
        <p:spPr>
          <a:xfrm>
            <a:off x="11521440" y="6510528"/>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5E6B7A"/>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31520"/>
          </a:xfrm>
          <a:prstGeom prst="rect">
            <a:avLst/>
          </a:prstGeom>
          <a:noFill/>
          <a:ln/>
        </p:spPr>
        <p:txBody>
          <a:bodyPr wrap="square" rtlCol="0"/>
          <a:lstStyle/>
          <a:p>
            <a:pPr algn="l" indent="0" marL="0">
              <a:buNone/>
            </a:pPr>
            <a:r>
              <a:rPr lang="en-US" sz="3000" b="1" dirty="0">
                <a:solidFill>
                  <a:srgbClr val="1B2530"/>
                </a:solidFill>
              </a:rPr>
              <a:t>Second half: make the KG pass its own evaluation</a:t>
            </a:r>
            <a:endParaRPr lang="en-US" sz="3000" dirty="0"/>
          </a:p>
        </p:txBody>
      </p:sp>
      <p:sp>
        <p:nvSpPr>
          <p:cNvPr id="3" name="Shape 1"/>
          <p:cNvSpPr/>
          <p:nvPr/>
        </p:nvSpPr>
        <p:spPr>
          <a:xfrm>
            <a:off x="548640" y="1234440"/>
            <a:ext cx="5394960" cy="4892040"/>
          </a:xfrm>
          <a:prstGeom prst="roundRect">
            <a:avLst>
              <a:gd name="adj" fmla="val 1121"/>
            </a:avLst>
          </a:prstGeom>
          <a:solidFill>
            <a:srgbClr val="EEF1F8"/>
          </a:solidFill>
          <a:ln/>
        </p:spPr>
      </p:sp>
      <p:sp>
        <p:nvSpPr>
          <p:cNvPr id="4" name="Text 2"/>
          <p:cNvSpPr txBox="1"/>
          <p:nvPr/>
        </p:nvSpPr>
        <p:spPr>
          <a:xfrm>
            <a:off x="777240" y="1417320"/>
            <a:ext cx="4937760" cy="365760"/>
          </a:xfrm>
          <a:prstGeom prst="rect">
            <a:avLst/>
          </a:prstGeom>
          <a:noFill/>
          <a:ln/>
        </p:spPr>
        <p:txBody>
          <a:bodyPr wrap="square" lIns="0" tIns="0" rIns="0" bIns="0" rtlCol="0" anchor="ctr"/>
          <a:lstStyle/>
          <a:p>
            <a:pPr indent="0" marL="0">
              <a:buNone/>
            </a:pPr>
            <a:r>
              <a:rPr lang="en-US" sz="1600" b="1" dirty="0">
                <a:solidFill>
                  <a:srgbClr val="3B4CC0"/>
                </a:solidFill>
              </a:rPr>
              <a:t>Find the best evaluation methods</a:t>
            </a:r>
            <a:endParaRPr lang="en-US" sz="1600" dirty="0"/>
          </a:p>
        </p:txBody>
      </p:sp>
      <p:sp>
        <p:nvSpPr>
          <p:cNvPr id="5" name="Text 3"/>
          <p:cNvSpPr txBox="1"/>
          <p:nvPr/>
        </p:nvSpPr>
        <p:spPr>
          <a:xfrm>
            <a:off x="777240" y="1874520"/>
            <a:ext cx="4983480" cy="4023360"/>
          </a:xfrm>
          <a:prstGeom prst="rect">
            <a:avLst/>
          </a:prstGeom>
          <a:noFill/>
          <a:ln/>
        </p:spPr>
        <p:txBody>
          <a:bodyPr wrap="square" rtlCol="0" anchor="t"/>
          <a:lstStyle/>
          <a:p>
            <a:pPr marL="342900" indent="-342900">
              <a:spcAft>
                <a:spcPts val="800"/>
              </a:spcAft>
              <a:buSzPct val="100000"/>
              <a:buChar char="•"/>
            </a:pPr>
            <a:r>
              <a:rPr lang="en-US" sz="1400" dirty="0">
                <a:solidFill>
                  <a:srgbClr val="1B2530"/>
                </a:solidFill>
              </a:rPr>
              <a:t>CI gate on every graph build: deterministic detectors, zero new high-severity defects</a:t>
            </a:r>
            <a:endParaRPr lang="en-US" sz="1400" dirty="0"/>
          </a:p>
          <a:p>
            <a:pPr marL="342900" indent="-342900">
              <a:spcAft>
                <a:spcPts val="800"/>
              </a:spcAft>
              <a:buSzPct val="100000"/>
              <a:buChar char="•"/>
            </a:pPr>
            <a:r>
              <a:rPr lang="en-US" sz="1400" dirty="0">
                <a:solidFill>
                  <a:srgbClr val="1B2530"/>
                </a:solidFill>
              </a:rPr>
              <a:t>Judge stage: every triple vs its own source chunk (GraphJudge released weights now; domain fine-tune on HPRC - allocation in hand)</a:t>
            </a:r>
            <a:endParaRPr lang="en-US" sz="1400" dirty="0"/>
          </a:p>
          <a:p>
            <a:pPr marL="342900" indent="-342900">
              <a:spcAft>
                <a:spcPts val="800"/>
              </a:spcAft>
              <a:buSzPct val="100000"/>
              <a:buChar char="•"/>
            </a:pPr>
            <a:r>
              <a:rPr lang="en-US" sz="1400" dirty="0">
                <a:solidFill>
                  <a:srgbClr val="1B2530"/>
                </a:solidFill>
              </a:rPr>
              <a:t>Gold set: expand the 950 verified triples into the team's labeled standard</a:t>
            </a:r>
            <a:endParaRPr lang="en-US" sz="1400" dirty="0"/>
          </a:p>
          <a:p>
            <a:pPr marL="342900" indent="-342900">
              <a:spcAft>
                <a:spcPts val="800"/>
              </a:spcAft>
              <a:buSzPct val="100000"/>
              <a:buChar char="•"/>
            </a:pPr>
            <a:r>
              <a:rPr lang="en-US" sz="1400" dirty="0">
                <a:solidFill>
                  <a:srgbClr val="1B2530"/>
                </a:solidFill>
              </a:rPr>
              <a:t>Keep the answer-level benchmark, but length-controlled and with an independent judge model</a:t>
            </a:r>
            <a:endParaRPr lang="en-US" sz="1400" dirty="0"/>
          </a:p>
        </p:txBody>
      </p:sp>
      <p:sp>
        <p:nvSpPr>
          <p:cNvPr id="6" name="Shape 4"/>
          <p:cNvSpPr/>
          <p:nvPr/>
        </p:nvSpPr>
        <p:spPr>
          <a:xfrm>
            <a:off x="6217920" y="1234440"/>
            <a:ext cx="5394960" cy="4892040"/>
          </a:xfrm>
          <a:prstGeom prst="roundRect">
            <a:avLst>
              <a:gd name="adj" fmla="val 1121"/>
            </a:avLst>
          </a:prstGeom>
          <a:solidFill>
            <a:srgbClr val="E7F2EC"/>
          </a:solidFill>
          <a:ln/>
        </p:spPr>
      </p:sp>
      <p:sp>
        <p:nvSpPr>
          <p:cNvPr id="7" name="Text 5"/>
          <p:cNvSpPr txBox="1"/>
          <p:nvPr/>
        </p:nvSpPr>
        <p:spPr>
          <a:xfrm>
            <a:off x="6446520" y="1417320"/>
            <a:ext cx="4937760" cy="365760"/>
          </a:xfrm>
          <a:prstGeom prst="rect">
            <a:avLst/>
          </a:prstGeom>
          <a:noFill/>
          <a:ln/>
        </p:spPr>
        <p:txBody>
          <a:bodyPr wrap="square" lIns="0" tIns="0" rIns="0" bIns="0" rtlCol="0" anchor="ctr"/>
          <a:lstStyle/>
          <a:p>
            <a:pPr indent="0" marL="0">
              <a:buNone/>
            </a:pPr>
            <a:r>
              <a:rPr lang="en-US" sz="1600" b="1" dirty="0">
                <a:solidFill>
                  <a:srgbClr val="0E7C5B"/>
                </a:solidFill>
              </a:rPr>
              <a:t>Improve the KG until it passes</a:t>
            </a:r>
            <a:endParaRPr lang="en-US" sz="1600" dirty="0"/>
          </a:p>
        </p:txBody>
      </p:sp>
      <p:sp>
        <p:nvSpPr>
          <p:cNvPr id="8" name="Text 6"/>
          <p:cNvSpPr txBox="1"/>
          <p:nvPr/>
        </p:nvSpPr>
        <p:spPr>
          <a:xfrm>
            <a:off x="6446520" y="1874520"/>
            <a:ext cx="4983480" cy="4023360"/>
          </a:xfrm>
          <a:prstGeom prst="rect">
            <a:avLst/>
          </a:prstGeom>
          <a:noFill/>
          <a:ln/>
        </p:spPr>
        <p:txBody>
          <a:bodyPr wrap="square" rtlCol="0" anchor="t"/>
          <a:lstStyle/>
          <a:p>
            <a:pPr marL="342900" indent="-342900">
              <a:spcAft>
                <a:spcPts val="800"/>
              </a:spcAft>
              <a:buSzPct val="100000"/>
              <a:buChar char="•"/>
            </a:pPr>
            <a:r>
              <a:rPr lang="en-US" sz="1400" b="1" dirty="0">
                <a:solidFill>
                  <a:srgbClr val="1B2530"/>
                </a:solidFill>
              </a:rPr>
              <a:t>Fix giant-graph retrieval: add cross-encoder reranking to the graph path; go beyond 1-hop (path search / Personalized PageRank); scale caps with graph size</a:t>
            </a:r>
            <a:endParaRPr lang="en-US" sz="1400" dirty="0"/>
          </a:p>
          <a:p>
            <a:pPr marL="342900" indent="-342900">
              <a:spcAft>
                <a:spcPts val="800"/>
              </a:spcAft>
              <a:buSzPct val="100000"/>
              <a:buChar char="•"/>
            </a:pPr>
            <a:r>
              <a:rPr lang="en-US" sz="1400" dirty="0">
                <a:solidFill>
                  <a:srgbClr val="1B2530"/>
                </a:solidFill>
              </a:rPr>
              <a:t>Qualified triples: dose / species / phase fields - turns the 56% conditional contradictions into coexisting correct facts (our research contribution)</a:t>
            </a:r>
            <a:endParaRPr lang="en-US" sz="1400" dirty="0"/>
          </a:p>
          <a:p>
            <a:pPr marL="342900" indent="-342900">
              <a:spcAft>
                <a:spcPts val="800"/>
              </a:spcAft>
              <a:buSzPct val="100000"/>
              <a:buChar char="•"/>
            </a:pPr>
            <a:r>
              <a:rPr lang="en-US" sz="1400" dirty="0">
                <a:solidFill>
                  <a:srgbClr val="1B2530"/>
                </a:solidFill>
              </a:rPr>
              <a:t>OCR normalization + abbreviation tables before extraction; controlled ~40-relation vocabulary</a:t>
            </a:r>
            <a:endParaRPr lang="en-US" sz="1400" dirty="0"/>
          </a:p>
          <a:p>
            <a:pPr marL="342900" indent="-342900">
              <a:spcAft>
                <a:spcPts val="800"/>
              </a:spcAft>
              <a:buSzPct val="100000"/>
              <a:buChar char="•"/>
            </a:pPr>
            <a:r>
              <a:rPr lang="en-US" sz="1400" b="1" dirty="0">
                <a:solidFill>
                  <a:srgbClr val="1B2530"/>
                </a:solidFill>
              </a:rPr>
              <a:t>Success test: on the whole corpus, GraphRAG ties or beats RAG with length-matched answers, an independent judge, and an expert spot-check</a:t>
            </a:r>
            <a:endParaRPr lang="en-US" sz="1400" dirty="0"/>
          </a:p>
        </p:txBody>
      </p:sp>
      <p:sp>
        <p:nvSpPr>
          <p:cNvPr id="25" name="Slide Number Placeholder 0"/>
          <p:cNvSpPr>
            <a:spLocks noGrp="1"/>
          </p:cNvSpPr>
          <p:nvPr>
            <p:ph type="sldNum" sz="quarter" idx="4294967295"/>
          </p:nvPr>
        </p:nvSpPr>
        <p:spPr>
          <a:xfrm>
            <a:off x="11521440" y="6510528"/>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5E6B7A"/>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rtlCol="0"/>
          <a:lstStyle/>
          <a:p>
            <a:pPr algn="l" indent="0" marL="0">
              <a:buNone/>
            </a:pPr>
            <a:r>
              <a:rPr lang="en-US" sz="4400" b="1" dirty="0">
                <a:solidFill>
                  <a:srgbClr val="FFFFFF"/>
                </a:solidFill>
              </a:rPr>
              <a:t>Where we stand</a:t>
            </a:r>
            <a:endParaRPr lang="en-US" sz="4400" dirty="0"/>
          </a:p>
        </p:txBody>
      </p:sp>
      <p:sp>
        <p:nvSpPr>
          <p:cNvPr id="3" name="Text 1"/>
          <p:cNvSpPr txBox="1"/>
          <p:nvPr/>
        </p:nvSpPr>
        <p:spPr>
          <a:xfrm>
            <a:off x="731520" y="3383280"/>
            <a:ext cx="10607040" cy="2377440"/>
          </a:xfrm>
          <a:prstGeom prst="rect">
            <a:avLst/>
          </a:prstGeom>
          <a:noFill/>
          <a:ln/>
        </p:spPr>
        <p:txBody>
          <a:bodyPr wrap="square" rtlCol="0" anchor="t"/>
          <a:lstStyle/>
          <a:p>
            <a:pPr indent="0" marL="0">
              <a:spcAft>
                <a:spcPts val="1000"/>
              </a:spcAft>
              <a:buNone/>
            </a:pPr>
            <a:r>
              <a:rPr lang="en-US" sz="1600" b="1" dirty="0">
                <a:solidFill>
                  <a:srgbClr val="8A97E8"/>
                </a:solidFill>
              </a:rPr>
              <a:t>Built: </a:t>
            </a:r>
            <a:pPr indent="0" marL="0">
              <a:spcAft>
                <a:spcPts val="1000"/>
              </a:spcAft>
              <a:buNone/>
            </a:pPr>
            <a:r>
              <a:rPr lang="en-US" sz="1600" dirty="0">
                <a:solidFill>
                  <a:srgbClr val="FFFFFF"/>
                </a:solidFill>
              </a:rPr>
              <a:t>both pipelines, 39 graphs + the giant graph, 83,554 triples, full evaluation stack
</a:t>
            </a:r>
            <a:pPr indent="0" marL="0">
              <a:spcAft>
                <a:spcPts val="1000"/>
              </a:spcAft>
              <a:buNone/>
            </a:pPr>
            <a:r>
              <a:rPr lang="en-US" sz="1600" b="1" dirty="0">
                <a:solidFill>
                  <a:srgbClr val="8A97E8"/>
                </a:solidFill>
              </a:rPr>
              <a:t>Learned: </a:t>
            </a:r>
            <a:pPr indent="0" marL="0">
              <a:spcAft>
                <a:spcPts val="1000"/>
              </a:spcAft>
              <a:buNone/>
            </a:pPr>
            <a:r>
              <a:rPr lang="en-US" sz="1600" dirty="0">
                <a:solidFill>
                  <a:srgbClr val="FFFFFF"/>
                </a:solidFill>
              </a:rPr>
              <a:t>GraphRAG wins groupwise; at 283-paper scale retrieval design (1-hop, caps, no reranker) hands the win to RAG; ~30% of triplets are flawed for 5 nameable reasons
</a:t>
            </a:r>
            <a:pPr indent="0" marL="0">
              <a:spcAft>
                <a:spcPts val="1000"/>
              </a:spcAft>
              <a:buNone/>
            </a:pPr>
            <a:r>
              <a:rPr lang="en-US" sz="1600" b="1" dirty="0">
                <a:solidFill>
                  <a:srgbClr val="8A97E8"/>
                </a:solidFill>
              </a:rPr>
              <a:t>Doing: </a:t>
            </a:r>
            <a:pPr indent="0" marL="0">
              <a:spcAft>
                <a:spcPts val="1000"/>
              </a:spcAft>
              <a:buNone/>
            </a:pPr>
            <a:r>
              <a:rPr lang="en-US" sz="1600" dirty="0">
                <a:solidFill>
                  <a:srgbClr val="FFFFFF"/>
                </a:solidFill>
              </a:rPr>
              <a:t>detect -&gt; reason -&gt; correct -&gt; re-verify loop; evaluation harness; graph-retrieval fixes; qualified triples
</a:t>
            </a:r>
            <a:pPr indent="0" marL="0">
              <a:spcAft>
                <a:spcPts val="1000"/>
              </a:spcAft>
              <a:buNone/>
            </a:pPr>
            <a:r>
              <a:rPr lang="en-US" sz="1600" b="1" dirty="0">
                <a:solidFill>
                  <a:srgbClr val="8A97E8"/>
                </a:solidFill>
              </a:rPr>
              <a:t>Deliverables: </a:t>
            </a:r>
            <a:pPr indent="0" marL="0">
              <a:spcAft>
                <a:spcPts val="1000"/>
              </a:spcAft>
              <a:buNone/>
            </a:pPr>
            <a:r>
              <a:rPr lang="en-US" sz="1600" dirty="0">
                <a:solidFill>
                  <a:srgbClr val="FFFFFF"/>
                </a:solidFill>
              </a:rPr>
              <a:t>evaluation report + bad-triple catalog + reproducible codebase in the team repos</a:t>
            </a:r>
            <a:endParaRPr lang="en-US" sz="1600" dirty="0"/>
          </a:p>
        </p:txBody>
      </p:sp>
      <p:sp>
        <p:nvSpPr>
          <p:cNvPr id="4" name="Text 2"/>
          <p:cNvSpPr txBox="1"/>
          <p:nvPr/>
        </p:nvSpPr>
        <p:spPr>
          <a:xfrm>
            <a:off x="731520" y="6126480"/>
            <a:ext cx="10058400" cy="365760"/>
          </a:xfrm>
          <a:prstGeom prst="rect">
            <a:avLst/>
          </a:prstGeom>
          <a:noFill/>
          <a:ln/>
        </p:spPr>
        <p:txBody>
          <a:bodyPr wrap="square" lIns="0" tIns="0" rIns="0" bIns="0" rtlCol="0" anchor="ctr"/>
          <a:lstStyle/>
          <a:p>
            <a:pPr indent="0" marL="0">
              <a:buNone/>
            </a:pPr>
            <a:r>
              <a:rPr lang="en-US" sz="1300" dirty="0">
                <a:solidFill>
                  <a:srgbClr val="9AA6C8"/>
                </a:solidFill>
              </a:rPr>
              <a:t>Questions - TAU Group</a:t>
            </a:r>
            <a:endParaRPr lang="en-US" sz="1300" dirty="0"/>
          </a:p>
        </p:txBody>
      </p:sp>
    </p:spTree>
  </p:cSld>
  <p:clrMapOvr>
    <a:masterClrMapping/>
  </p:clrMapOvr>
</p:sld>
</file>

<file path=ppt/theme/theme1.xml><?xml version="1.0" encoding="utf-8"?>
<a:theme xmlns:a="http://schemas.openxmlformats.org/drawingml/2006/main" name="KGCompass Midpoint">
  <a:themeElements>
    <a:clrScheme name="KGCompass Midpoint">
      <a:dk1>
        <a:srgbClr val="1B2530"/>
      </a:dk1>
      <a:lt1>
        <a:srgbClr val="FFFFFF"/>
      </a:lt1>
      <a:dk2>
        <a:srgbClr val="151B33"/>
      </a:dk2>
      <a:lt2>
        <a:srgbClr val="EEF1F8"/>
      </a:lt2>
      <a:accent1>
        <a:srgbClr val="3B4CC0"/>
      </a:accent1>
      <a:accent2>
        <a:srgbClr val="0E7C5B"/>
      </a:accent2>
      <a:accent3>
        <a:srgbClr val="E8A33D"/>
      </a:accent3>
      <a:accent4>
        <a:srgbClr val="A82F23"/>
      </a:accent4>
      <a:accent5>
        <a:srgbClr val="37B8D6"/>
      </a:accent5>
      <a:accent6>
        <a:srgbClr val="8A97E8"/>
      </a:accent6>
      <a:hlink>
        <a:srgbClr val="3B4CC0"/>
      </a:hlink>
      <a:folHlink>
        <a:srgbClr val="6D5BD0"/>
      </a:folHlink>
    </a:clrScheme>
    <a:fontScheme name="KGCompass Midpoin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Texas A&amp;M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TAU Group</dc:creator>
  <cp:lastModifiedBy>TAU Group</cp:lastModifiedBy>
  <cp:revision>1</cp:revision>
  <dcterms:created xsi:type="dcterms:W3CDTF">2026-10-20T01:09:20Z</dcterms:created>
  <dcterms:modified xsi:type="dcterms:W3CDTF">2026-10-20T01:09:20Z</dcterms:modified>
</cp:coreProperties>
</file>