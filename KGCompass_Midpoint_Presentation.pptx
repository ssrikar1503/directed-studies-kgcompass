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7ea0b5-fa8b-fd7f-f7bd-9a82f45b6033}">
          <p14:sldIdLst>
            <p14:sldId id="256"/>
          </p14:sldIdLst>
        </p14:section>
        <p14:section name="What We Built" id="{2c5c2c2f-3ac2-b3bb-b52e-bf6dec0dcc6b}">
          <p14:sldIdLst>
            <p14:sldId id="257"/>
            <p14:sldId id="258"/>
            <p14:sldId id="259"/>
            <p14:sldId id="260"/>
            <p14:sldId id="261"/>
            <p14:sldId id="262"/>
            <p14:sldId id="263"/>
          </p14:sldIdLst>
        </p14:section>
        <p14:section name="RAG vs GraphRAG" id="{27b2756c-9fcf-719a-dfa3-6139fcb9eb98}">
          <p14:sldIdLst>
            <p14:sldId id="264"/>
            <p14:sldId id="265"/>
          </p14:sldIdLst>
        </p14:section>
        <p14:section name="Triplet Quality" id="{c5de1c1d-da1a-d3f4-a6bc-d266a8b8848d}">
          <p14:sldIdLst>
            <p14:sldId id="266"/>
            <p14:sldId id="267"/>
            <p14:sldId id="268"/>
            <p14:sldId id="269"/>
          </p14:sldIdLst>
        </p14:section>
        <p14:section name="Road Ahead" id="{6512dd7c-724f-950b-0758-ceaab6a56ef0}">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B7A"/>
                </a:solidFill>
                <a:latin typeface="+mn-lt"/>
              </a:defRPr>
            </a:pPr>
            <a:r>
              <a:rPr sz="1200" b="0" i="0" u="none" strike="noStrike">
                <a:solidFill>
                  <a:srgbClr val="5E6B7A"/>
                </a:solidFill>
                <a:latin typeface="+mn-lt"/>
              </a:rPr>
              <a:t>Judge verdicts: 739 questions, both orders judged</a:t>
            </a:r>
          </a:p>
        </c:rich>
      </c:tx>
      <c:layout/>
      <c:overlay val="0"/>
    </c:title>
    <c:autoTitleDeleted val="0"/>
    <c:plotArea>
      <c:layout/>
      <c:barChart>
        <c:barDir val="col"/>
        <c:grouping val="clustered"/>
        <c:varyColors val="0"/>
        <c:ser>
          <c:idx val="0"/>
          <c:order val="0"/>
          <c:tx>
            <c:strRef>
              <c:f>Sheet1!$B$1</c:f>
              <c:strCache>
                <c:ptCount val="1"/>
                <c:pt idx="0">
                  <c:v>Overall verdicts (739 questions, 38 groups)</c:v>
                </c:pt>
              </c:strCache>
            </c:strRef>
          </c:tx>
          <c:spPr>
            <a:solidFill>
              <a:srgbClr val="0E7C5B"/>
            </a:solidFill>
            <a:effectLst/>
          </c:spPr>
          <c:invertIfNegative val="0"/>
          <c:dLbls>
            <c:numFmt formatCode="#,##0"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dPt>
            <c:idx val="0"/>
            <c:invertIfNegative val="0"/>
            <c:bubble3D val="0"/>
            <c:spPr>
              <a:solidFill>
                <a:srgbClr val="0E7C5B"/>
              </a:solidFill>
              <a:effectLst/>
            </c:spPr>
          </c:dPt>
          <c:dPt>
            <c:idx val="1"/>
            <c:invertIfNegative val="0"/>
            <c:bubble3D val="0"/>
            <c:spPr>
              <a:solidFill>
                <a:srgbClr val="3B4CC0"/>
              </a:solidFill>
              <a:effectLst/>
            </c:spPr>
          </c:dPt>
          <c:dPt>
            <c:idx val="2"/>
            <c:invertIfNegative val="0"/>
            <c:bubble3D val="0"/>
            <c:spPr>
              <a:solidFill>
                <a:srgbClr val="B9C2D6"/>
              </a:solidFill>
              <a:effectLst/>
            </c:spPr>
          </c:dPt>
          <c:cat>
            <c:multiLvlStrRef>
              <c:f>Sheet1!$A$2:$A$4</c:f>
              <c:multiLvlStrCache>
                <c:ptCount val="3"/>
                <c:lvl>
                  <c:pt idx="0">
                    <c:v>GraphRAG wins</c:v>
                  </c:pt>
                  <c:pt idx="1">
                    <c:v>RAG wins</c:v>
                  </c:pt>
                  <c:pt idx="2">
                    <c:v>Ties</c:v>
                  </c:pt>
                </c:lvl>
              </c:multiLvlStrCache>
            </c:multiLvlStrRef>
          </c:cat>
          <c:val>
            <c:numRef>
              <c:f>Sheet1!$B$2:$B$4</c:f>
              <c:numCache>
                <c:formatCode>General</c:formatCode>
                <c:ptCount val="3"/>
                <c:pt idx="0">
                  <c:v>455</c:v>
                </c:pt>
                <c:pt idx="1">
                  <c:v>186</c:v>
                </c:pt>
                <c:pt idx="2">
                  <c:v>98</c:v>
                </c:pt>
              </c:numCache>
            </c:numRef>
          </c:val>
        </c:ser>
        <c:dLbls>
          <c:numFmt formatCode="#,##0"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530"/>
                </a:solidFill>
                <a:latin typeface="+mn-lt"/>
              </a:defRPr>
            </a:pPr>
            <a:endParaRPr lang="en-US"/>
          </a:p>
        </c:txPr>
        <c:crossAx val="2094734552"/>
        <c:crosses val="autoZero"/>
        <c:auto val="1"/>
        <c:lblAlgn val="ctr"/>
        <c:noMultiLvlLbl val="1"/>
      </c:catAx>
      <c:valAx>
        <c:axId val="2094734552"/>
        <c:scaling>
          <c:orientation val="minMax"/>
          <c:max val="500"/>
        </c:scaling>
        <c:delete val="0"/>
        <c:axPos val="l"/>
        <c:majorGridlines>
          <c:spPr>
            <a:ln w="1270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B7A"/>
                </a:solidFill>
                <a:latin typeface="+mn-lt"/>
              </a:defRPr>
            </a:pPr>
            <a:r>
              <a:rPr sz="1200" b="0" i="0" u="none" strike="noStrike">
                <a:solidFill>
                  <a:srgbClr val="5E6B7A"/>
                </a:solidFill>
                <a:latin typeface="+mn-lt"/>
              </a:rPr>
              <a:t>950 triples judged against source papers</a:t>
            </a:r>
          </a:p>
        </c:rich>
      </c:tx>
      <c:layout/>
      <c:overlay val="0"/>
    </c:title>
    <c:autoTitleDeleted val="0"/>
    <c:plotArea>
      <c:layout/>
      <c:barChart>
        <c:barDir val="col"/>
        <c:grouping val="clustered"/>
        <c:varyColors val="0"/>
        <c:ser>
          <c:idx val="0"/>
          <c:order val="0"/>
          <c:tx>
            <c:strRef>
              <c:f>Sheet1!$B$1</c:f>
              <c:strCache>
                <c:ptCount val="1"/>
                <c:pt idx="0">
                  <c:v>Judged verdicts (950 triples)</c:v>
                </c:pt>
              </c:strCache>
            </c:strRef>
          </c:tx>
          <c:spPr>
            <a:solidFill>
              <a:srgbClr val="0E7C5B"/>
            </a:solidFill>
            <a:effectLst/>
          </c:spPr>
          <c:invertIfNegative val="0"/>
          <c:dLbls>
            <c:numFmt formatCode="0.0&quot;%&quot;"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dPt>
            <c:idx val="0"/>
            <c:invertIfNegative val="0"/>
            <c:bubble3D val="0"/>
            <c:spPr>
              <a:solidFill>
                <a:srgbClr val="0E7C5B"/>
              </a:solidFill>
              <a:effectLst/>
            </c:spPr>
          </c:dPt>
          <c:dPt>
            <c:idx val="1"/>
            <c:invertIfNegative val="0"/>
            <c:bubble3D val="0"/>
            <c:spPr>
              <a:solidFill>
                <a:srgbClr val="E8A33D"/>
              </a:solidFill>
              <a:effectLst/>
            </c:spPr>
          </c:dPt>
          <c:dPt>
            <c:idx val="2"/>
            <c:invertIfNegative val="0"/>
            <c:bubble3D val="0"/>
            <c:spPr>
              <a:solidFill>
                <a:srgbClr val="A82F23"/>
              </a:solidFill>
              <a:effectLst/>
            </c:spPr>
          </c:dPt>
          <c:cat>
            <c:multiLvlStrRef>
              <c:f>Sheet1!$A$2:$A$4</c:f>
              <c:multiLvlStrCache>
                <c:ptCount val="3"/>
                <c:lvl>
                  <c:pt idx="0">
                    <c:v>Correct</c:v>
                  </c:pt>
                  <c:pt idx="1">
                    <c:v>Imprecise</c:v>
                  </c:pt>
                  <c:pt idx="2">
                    <c:v>Wrong</c:v>
                  </c:pt>
                </c:lvl>
              </c:multiLvlStrCache>
            </c:multiLvlStrRef>
          </c:cat>
          <c:val>
            <c:numRef>
              <c:f>Sheet1!$B$2:$B$4</c:f>
              <c:numCache>
                <c:formatCode>General</c:formatCode>
                <c:ptCount val="3"/>
                <c:pt idx="0">
                  <c:v>69.5</c:v>
                </c:pt>
                <c:pt idx="1">
                  <c:v>26.1</c:v>
                </c:pt>
                <c:pt idx="2">
                  <c:v>4.4</c:v>
                </c:pt>
              </c:numCache>
            </c:numRef>
          </c:val>
        </c:ser>
        <c:dLbls>
          <c:numFmt formatCode="0.0&quot;%&quot;" sourceLinked="0"/>
          <c:txPr>
            <a:bodyPr/>
            <a:lstStyle/>
            <a:p>
              <a:pPr>
                <a:defRPr b="0" i="0" strike="noStrike" sz="1300" u="none">
                  <a:solidFill>
                    <a:srgbClr val="1B25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530"/>
                </a:solidFill>
                <a:latin typeface="+mn-lt"/>
              </a:defRPr>
            </a:pPr>
            <a:endParaRPr lang="en-US"/>
          </a:p>
        </c:txPr>
        <c:crossAx val="2094734552"/>
        <c:crosses val="autoZero"/>
        <c:auto val="1"/>
        <c:lblAlgn val="ctr"/>
        <c:noMultiLvlLbl val="1"/>
      </c:catAx>
      <c:valAx>
        <c:axId val="2094734552"/>
        <c:scaling>
          <c:orientation val="minMax"/>
          <c:max val="80"/>
        </c:scaling>
        <c:delete val="0"/>
        <c:axPos val="l"/>
        <c:majorGridlines>
          <c:spPr>
            <a:ln w="1270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B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0:20] Good afternoon. We're the TAU Group, advised by Professor Tao. KGCompass in one line: we built both a RAG system and a knowledge-graph system over 283 animal science papers, compared them head-to-head at two scales, and then evaluated the graph down to individual triplets. I'll show the system, Person 2 the evidence, Person 3 where we go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0:25] The numbers that frame everything: 283 papers in 42 topic groups. Two pipelines in one codebase. 83,554 triples extracted into 39 graphs plus one giant graph. Nearly 1,700 answers judged. The goal: a knowledge graph trustworthy enough that GraphRAG reliably beats plain 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0:30] Why a knowledge graph at all? One Health questions - how a climate stressor becomes a human exposure risk - span veterinary, climate, and public-health papers that rarely cite each other. Search returns passages that share words with the question, not the chain of findings that answers it. This path on the right - stressor, physiology, disease, exposure - is what KGCompass should trace, every hop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0:30] One codebase, two pipelines, deliberately fair: same papers, same chunks, same LLM. RAG is retrieval engineering - query expansion, hybrid dense-plus-keyword search, a cross-encoder reranker, cited answers. GraphRAG builds a knowledge graph first, then answers by walking it. One asymmetry to remember: RAG has a reranker; the graph path doesn't. One command runs both on the same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0:25] The whole system in one picture. The corpus is chunked once; both pipelines consume the same chunks. Top branch RAG, bottom branch the graph build into FalkorDB, and both answers meet at the same LLM judge, scored in both orders to cancel position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0:20] Inside the RAG store: twenty thousand chunks in ChromaDB, each with its embedding. A question becomes a vector, cosine search plus BM25, fused, then reranked. Keep the reranker in mind - it matters later. (Gesture at the figure and move on - designated skip slide if running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0:25] This is the actual build pipeline, not pseudocode: extract - cached per chunk so nothing is paid twice - merge, detect communities, store, export. One command per group, one command for all 283 papers. Note the right side: merging the giant graph collapses entities by 45% while keeping nearly all edges. Hold that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1 | 0:30] And the graphs themselves - every node and edge here is drawn from our real exported triples. Iodine-and-thyroid, meat quality, gut microbiota - 38 of these. On the right, the giant graph: merging connects entities across topics, aflatoxin linking kidneys, broilers, oxidative stress - and the faded dots stand for thirty thousand more entities. HANDOFF: 'Person 2 - what the evaluations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0:35] Two comparisons. First, groupwise: 739 questions, one graph per topic. GraphRAG wins 455 to 186, takes 35 of 38 groups, finds more of the right papers - recall 0.53 versus 0.42 - and is faster. One honest caveat we found ourselves: the LLM judge rewards longer answers, and at equal length the systems tie. So groupwise says GraphRAG retrieves richer context - not yet that it's strictly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0:50 - KEY SLIDE, know the four causes cold] Second comparison - the interesting one. On the single graph over all 283 papers, the result flips: RAG wins 431 to 221, takes 33 of 38 groups, and GraphRAG's paper recall collapses to 0.15. And this time it is NOT the length artifact - RAG wins at equal length and on expert-scored correctness. We know why, mechanically: retrieval expands only one hop, so it lands on mega-hubs like bovine milk with 1,576 edges; the retrieval caps were tuned for small graphs, so the relevant chunk falls outside the budget; the graph path has no reranker - the exact step that saves RAG; and merging concentrated the graph. The measured root cause at the bottom: only 27% of seed entities come from the question's own papers, so only 26% of retrieved passages are on-topic versus 51% for RAG. All four causes are fixable retrieval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0:35] Then we went a level deeper, because answer-level judging is blind to graph errors - faithfulness tied 83% of the time while wrong facts sat in the graph. Following Professor Tao's directive we verified triplets directly: a code scan of all 83,554, plus 950 triplets judged against the full text of their source papers, calibrated by two independent judges agreeing 94%. Result: 69.5% correct, 26% imprecise, 4.4% wrong - and no group is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0:45] Every failed triplet has one of five reasons. One, factual - inverted directions: the graph says alfalfa silage increases milk yield; the paper shows the opposite. Two, precision - conditions dropped: 'iodine causes hypothyroidism' when the source says excess iodine. Three, consistency - 495 contradiction pairs like monensin both increasing and reducing feed efficiency. Four, form - OCR garbles; thirty of thirty-four come from one corruption of the omega notation. Five, noise - thousands of true-but-worthless 'is measured in' triples diluting retrieval. Every example here is a real triple from our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0:35] Finding errors only matters if it changes the graph, so we closed the loop: detect, reason, correct, re-verify. The headline from adjudicating all 495 contradictions: 56% aren't errors at all - they're dose- or species-conditional findings that need qualifiers, not deletion. That's our research direction. 21% are extraction errors - deleted. Corrections are re-verified against source chunks before they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2 | 0:15] The same loop as the standing workflow - every release re-enters evaluation, and a CI gate blocks any new detectable defect. HANDOFF: 'Person 3 - the plan.' (Designated skip slide if running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3 | 1:00] The second half of the semester has a one-sentence plan: find the best evaluation methods, and improve the knowledge graph until it passes them. Evaluation side: the CI gate, a judge checking every triple against its own source chunk - HPRC allocation is already in hand for the domain fine-tune - the gold set grown from the 950 verified triplets, and the answer benchmark kept but length-controlled with an independent judge. Improvement side: fix exactly the four giant-graph causes - reranking on the graph path, multi-hop retrieval, adaptive caps; add dose-and-species qualifiers, which is also our publishable contribution; normalize text before extraction. And our success test is explicit: on the whole corpus, GraphRAG ties or beats RAG with length-matched answers, an independent judge, and an expert spot-check.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 3 | 0:40] Where we stand: both systems built end-to-end; evaluated at every level, answers and triplets. We learned GraphRAG wins when graphs are small, that at scale retrieval design hands the win back to RAG for four fixable reasons, and that a third of triplets are flawed for five nameable reasons - many of which are actually conditional science needing richer representation. The correction loop is already raising quality. By the final review, we intend to show the rematch: the verified graph beating RAG at full scale. Thank you - happy to take questions. (Total: ~8:45, leaving ~15s for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B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r>
              <a:rPr lang="en-US" sz="4400" b="1" dirty="0">
                <a:solidFill>
                  <a:srgbClr val="FFFFFF"/>
                </a:solidFill>
              </a:rPr>
              <a:t>Title</a:t>
            </a: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lvl1pPr algn="l" indent="0" marL="0">
              <a:buNone/>
              <a:defRPr lang="en-US" sz="3000" b="1" dirty="0">
                <a:solidFill>
                  <a:srgbClr val="1B2530"/>
                </a:solidFill>
              </a:defRPr>
            </a:lvl1pPr>
          </a:lstStyle>
          <a:p>
            <a:pPr algn="l" indent="0" marL="0">
              <a:buNone/>
            </a:pPr>
            <a:r>
              <a:rPr lang="en-US" sz="3000" b="1" dirty="0">
                <a:solidFill>
                  <a:srgbClr val="1B2530"/>
                </a:solidFill>
              </a:rPr>
              <a:t>Title</a:t>
            </a:r>
            <a:endParaRPr lang="en-US" sz="30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p>
            <a:pPr algn="l" indent="0" marL="0">
              <a:buNone/>
            </a:pPr>
            <a:r>
              <a:rPr lang="en-US" sz="4400" b="1" dirty="0">
                <a:solidFill>
                  <a:srgbClr val="FFFFFF"/>
                </a:solidFill>
              </a:rPr>
              <a:t>Animal Science Knowledge Graphs</a:t>
            </a:r>
            <a:endParaRPr lang="en-US" sz="4400" dirty="0"/>
          </a:p>
        </p:txBody>
      </p:sp>
      <p:sp>
        <p:nvSpPr>
          <p:cNvPr id="3" name="Text 1"/>
          <p:cNvSpPr txBox="1"/>
          <p:nvPr/>
        </p:nvSpPr>
        <p:spPr>
          <a:xfrm>
            <a:off x="731520" y="3429000"/>
            <a:ext cx="10515600" cy="822960"/>
          </a:xfrm>
          <a:prstGeom prst="rect">
            <a:avLst/>
          </a:prstGeom>
          <a:noFill/>
          <a:ln/>
        </p:spPr>
        <p:txBody>
          <a:bodyPr wrap="square" lIns="0" tIns="0" rIns="0" bIns="0" rtlCol="0" anchor="ctr"/>
          <a:lstStyle/>
          <a:p>
            <a:pPr indent="0" marL="0">
              <a:buNone/>
            </a:pPr>
            <a:r>
              <a:rPr lang="en-US" sz="2000" dirty="0">
                <a:solidFill>
                  <a:srgbClr val="CAD3F0"/>
                </a:solidFill>
              </a:rPr>
              <a:t>RAG vs GraphRAG on 283 papers - construction, head-to-head evaluation, and triplet-level quality</a:t>
            </a:r>
            <a:endParaRPr lang="en-US" sz="2000" dirty="0"/>
          </a:p>
        </p:txBody>
      </p:sp>
      <p:sp>
        <p:nvSpPr>
          <p:cNvPr id="4" name="Text 2"/>
          <p:cNvSpPr txBox="1"/>
          <p:nvPr/>
        </p:nvSpPr>
        <p:spPr>
          <a:xfrm>
            <a:off x="731520" y="1371600"/>
            <a:ext cx="7315200" cy="457200"/>
          </a:xfrm>
          <a:prstGeom prst="rect">
            <a:avLst/>
          </a:prstGeom>
          <a:noFill/>
          <a:ln/>
        </p:spPr>
        <p:txBody>
          <a:bodyPr wrap="square" lIns="0" tIns="0" rIns="0" bIns="0" rtlCol="0" anchor="ctr"/>
          <a:lstStyle/>
          <a:p>
            <a:pPr indent="0" marL="0">
              <a:buNone/>
            </a:pPr>
            <a:r>
              <a:rPr lang="en-US" sz="1500" b="1" dirty="0">
                <a:solidFill>
                  <a:srgbClr val="8A97E8"/>
                </a:solidFill>
              </a:rPr>
              <a:t>Midpoint Review - Fall 2026</a:t>
            </a:r>
            <a:endParaRPr lang="en-US" sz="1500" dirty="0"/>
          </a:p>
        </p:txBody>
      </p:sp>
      <p:sp>
        <p:nvSpPr>
          <p:cNvPr id="5" name="Text 3"/>
          <p:cNvSpPr txBox="1"/>
          <p:nvPr/>
        </p:nvSpPr>
        <p:spPr>
          <a:xfrm>
            <a:off x="731520" y="5943600"/>
            <a:ext cx="10515600" cy="457200"/>
          </a:xfrm>
          <a:prstGeom prst="rect">
            <a:avLst/>
          </a:prstGeom>
          <a:noFill/>
          <a:ln/>
        </p:spPr>
        <p:txBody>
          <a:bodyPr wrap="square" lIns="0" tIns="0" rIns="0" bIns="0" rtlCol="0" anchor="ctr"/>
          <a:lstStyle/>
          <a:p>
            <a:pPr indent="0" marL="0">
              <a:buNone/>
            </a:pPr>
            <a:r>
              <a:rPr lang="en-US" sz="1400" dirty="0">
                <a:solidFill>
                  <a:srgbClr val="9AA6C8"/>
                </a:solidFill>
              </a:rPr>
              <a:t>TAU Group - Sumanth Nalamalapu, Srikar Sankranti, Deepmoy Hazra  |  Advisor: Prof. Jian Tao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project at a glance</a:t>
            </a:r>
            <a:endParaRPr lang="en-US" sz="3000" dirty="0"/>
          </a:p>
        </p:txBody>
      </p:sp>
      <p:sp>
        <p:nvSpPr>
          <p:cNvPr id="3" name="Text 1"/>
          <p:cNvSpPr txBox="1"/>
          <p:nvPr/>
        </p:nvSpPr>
        <p:spPr>
          <a:xfrm>
            <a:off x="54864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283</a:t>
            </a:r>
            <a:endParaRPr lang="en-US" sz="4000" dirty="0"/>
          </a:p>
        </p:txBody>
      </p:sp>
      <p:sp>
        <p:nvSpPr>
          <p:cNvPr id="4" name="Text 2"/>
          <p:cNvSpPr txBox="1"/>
          <p:nvPr/>
        </p:nvSpPr>
        <p:spPr>
          <a:xfrm>
            <a:off x="54864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animal science papers, 42 topic groups</a:t>
            </a:r>
            <a:endParaRPr lang="en-US" sz="1150" dirty="0"/>
          </a:p>
        </p:txBody>
      </p:sp>
      <p:sp>
        <p:nvSpPr>
          <p:cNvPr id="5" name="Text 3"/>
          <p:cNvSpPr txBox="1"/>
          <p:nvPr/>
        </p:nvSpPr>
        <p:spPr>
          <a:xfrm>
            <a:off x="338328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2</a:t>
            </a:r>
            <a:endParaRPr lang="en-US" sz="4000" dirty="0"/>
          </a:p>
        </p:txBody>
      </p:sp>
      <p:sp>
        <p:nvSpPr>
          <p:cNvPr id="6" name="Text 4"/>
          <p:cNvSpPr txBox="1"/>
          <p:nvPr/>
        </p:nvSpPr>
        <p:spPr>
          <a:xfrm>
            <a:off x="338328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pipelines in one codebase: RAG + KG/GraphRAG</a:t>
            </a:r>
            <a:endParaRPr lang="en-US" sz="1150" dirty="0"/>
          </a:p>
        </p:txBody>
      </p:sp>
      <p:sp>
        <p:nvSpPr>
          <p:cNvPr id="7" name="Text 5"/>
          <p:cNvSpPr txBox="1"/>
          <p:nvPr/>
        </p:nvSpPr>
        <p:spPr>
          <a:xfrm>
            <a:off x="621792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83,554</a:t>
            </a:r>
            <a:endParaRPr lang="en-US" sz="4000" dirty="0"/>
          </a:p>
        </p:txBody>
      </p:sp>
      <p:sp>
        <p:nvSpPr>
          <p:cNvPr id="8" name="Text 6"/>
          <p:cNvSpPr txBox="1"/>
          <p:nvPr/>
        </p:nvSpPr>
        <p:spPr>
          <a:xfrm>
            <a:off x="621792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triples extracted into 39 graphs + 1 giant graph</a:t>
            </a:r>
            <a:endParaRPr lang="en-US" sz="1150" dirty="0"/>
          </a:p>
        </p:txBody>
      </p:sp>
      <p:sp>
        <p:nvSpPr>
          <p:cNvPr id="9" name="Text 7"/>
          <p:cNvSpPr txBox="1"/>
          <p:nvPr/>
        </p:nvSpPr>
        <p:spPr>
          <a:xfrm>
            <a:off x="9052560" y="1371600"/>
            <a:ext cx="2743200" cy="685800"/>
          </a:xfrm>
          <a:prstGeom prst="rect">
            <a:avLst/>
          </a:prstGeom>
          <a:noFill/>
          <a:ln/>
        </p:spPr>
        <p:txBody>
          <a:bodyPr wrap="square" lIns="0" tIns="0" rIns="0" bIns="0" rtlCol="0" anchor="ctr"/>
          <a:lstStyle/>
          <a:p>
            <a:pPr algn="ctr" indent="0" marL="0">
              <a:buNone/>
            </a:pPr>
            <a:r>
              <a:rPr lang="en-US" sz="4000" b="1" dirty="0">
                <a:solidFill>
                  <a:srgbClr val="3B4CC0"/>
                </a:solidFill>
              </a:rPr>
              <a:t>1,689</a:t>
            </a:r>
            <a:endParaRPr lang="en-US" sz="4000" dirty="0"/>
          </a:p>
        </p:txBody>
      </p:sp>
      <p:sp>
        <p:nvSpPr>
          <p:cNvPr id="10" name="Text 8"/>
          <p:cNvSpPr txBox="1"/>
          <p:nvPr/>
        </p:nvSpPr>
        <p:spPr>
          <a:xfrm>
            <a:off x="9052560" y="2029968"/>
            <a:ext cx="2743200" cy="502920"/>
          </a:xfrm>
          <a:prstGeom prst="rect">
            <a:avLst/>
          </a:prstGeom>
          <a:noFill/>
          <a:ln/>
        </p:spPr>
        <p:txBody>
          <a:bodyPr wrap="square" lIns="0" tIns="0" rIns="0" bIns="0" rtlCol="0" anchor="ctr"/>
          <a:lstStyle/>
          <a:p>
            <a:pPr algn="ctr" indent="0" marL="0">
              <a:buNone/>
            </a:pPr>
            <a:r>
              <a:rPr lang="en-US" sz="1150" dirty="0">
                <a:solidFill>
                  <a:srgbClr val="5E6B7A"/>
                </a:solidFill>
              </a:rPr>
              <a:t>answers judged head-to-head (739x2 + test set)</a:t>
            </a:r>
            <a:endParaRPr lang="en-US" sz="1150" dirty="0"/>
          </a:p>
        </p:txBody>
      </p:sp>
      <p:sp>
        <p:nvSpPr>
          <p:cNvPr id="11" name="Shape 9"/>
          <p:cNvSpPr/>
          <p:nvPr/>
        </p:nvSpPr>
        <p:spPr>
          <a:xfrm>
            <a:off x="548640" y="2926080"/>
            <a:ext cx="11064240" cy="1234440"/>
          </a:xfrm>
          <a:prstGeom prst="roundRect">
            <a:avLst>
              <a:gd name="adj" fmla="val 4444"/>
            </a:avLst>
          </a:prstGeom>
          <a:solidFill>
            <a:srgbClr val="EEF1F8"/>
          </a:solidFill>
          <a:ln/>
        </p:spPr>
      </p:sp>
      <p:sp>
        <p:nvSpPr>
          <p:cNvPr id="12" name="Text 10"/>
          <p:cNvSpPr txBox="1"/>
          <p:nvPr/>
        </p:nvSpPr>
        <p:spPr>
          <a:xfrm>
            <a:off x="777240" y="3063240"/>
            <a:ext cx="10607040" cy="960120"/>
          </a:xfrm>
          <a:prstGeom prst="rect">
            <a:avLst/>
          </a:prstGeom>
          <a:noFill/>
          <a:ln/>
        </p:spPr>
        <p:txBody>
          <a:bodyPr wrap="square" lIns="0" tIns="0" rIns="0" bIns="0" rtlCol="0" anchor="ctr"/>
          <a:lstStyle/>
          <a:p>
            <a:pPr indent="0" marL="0">
              <a:buNone/>
            </a:pPr>
            <a:r>
              <a:rPr lang="en-US" sz="1500" b="1" dirty="0">
                <a:solidFill>
                  <a:srgbClr val="3B4CC0"/>
                </a:solidFill>
              </a:rPr>
              <a:t>Goal: </a:t>
            </a:r>
            <a:pPr indent="0" marL="0">
              <a:buNone/>
            </a:pPr>
            <a:r>
              <a:rPr lang="en-US" sz="1500" dirty="0">
                <a:solidFill>
                  <a:srgbClr val="000000"/>
                </a:solidFill>
              </a:rPr>
              <a:t>a trustworthy, queryable knowledge graph of animal science - where GraphRAG answers beat plain RAG because the graph's facts are verified. Foundation: GraphJudge (EMNLP 2025) - generate triples for recall, judge them for precision.</a:t>
            </a:r>
            <a:endParaRPr lang="en-US" sz="1500" dirty="0"/>
          </a:p>
        </p:txBody>
      </p:sp>
      <p:sp>
        <p:nvSpPr>
          <p:cNvPr id="13" name="Text 11"/>
          <p:cNvSpPr txBox="1"/>
          <p:nvPr/>
        </p:nvSpPr>
        <p:spPr>
          <a:xfrm>
            <a:off x="594360" y="4434840"/>
            <a:ext cx="10972800" cy="1828800"/>
          </a:xfrm>
          <a:prstGeom prst="rect">
            <a:avLst/>
          </a:prstGeom>
          <a:noFill/>
          <a:ln/>
        </p:spPr>
        <p:txBody>
          <a:bodyPr wrap="square" rtlCol="0" anchor="t"/>
          <a:lstStyle/>
          <a:p>
            <a:pPr marL="342900" indent="-342900">
              <a:spcAft>
                <a:spcPts val="800"/>
              </a:spcAft>
              <a:buSzPct val="100000"/>
              <a:buChar char="•"/>
            </a:pPr>
            <a:r>
              <a:rPr lang="en-US" sz="1400" dirty="0">
                <a:solidFill>
                  <a:srgbClr val="1B2530"/>
                </a:solidFill>
              </a:rPr>
              <a:t>Semester so far: corpus organized into groups -&gt; both pipelines built -&gt; 46-hour groupwise RAG vs GraphRAG evaluation -&gt; giant all-papers graph built -&gt; full triplet-level quality evaluation -&gt; correction + re-verification loop started</a:t>
            </a:r>
            <a:endParaRPr lang="en-US" sz="1400" dirty="0"/>
          </a:p>
          <a:p>
            <a:pPr marL="342900" indent="-342900">
              <a:spcAft>
                <a:spcPts val="800"/>
              </a:spcAft>
              <a:buSzPct val="100000"/>
              <a:buChar char="•"/>
            </a:pPr>
            <a:r>
              <a:rPr lang="en-US" sz="1400" dirty="0">
                <a:solidFill>
                  <a:srgbClr val="5E6B7A"/>
                </a:solidFill>
              </a:rPr>
              <a:t>Everything reproducible: shared extraction cache, per-run manifests, evaluation scripts and all data in the team repos</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Why a knowledge graph: search misses the links</a:t>
            </a:r>
            <a:endParaRPr lang="en-US" sz="3000" dirty="0"/>
          </a:p>
        </p:txBody>
      </p:sp>
      <p:sp>
        <p:nvSpPr>
          <p:cNvPr id="3" name="Text 1"/>
          <p:cNvSpPr txBox="1"/>
          <p:nvPr/>
        </p:nvSpPr>
        <p:spPr>
          <a:xfrm>
            <a:off x="594360" y="1371600"/>
            <a:ext cx="5760720" cy="237744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One Health questions span veterinary, climate and public-health papers that rarely cite each other</a:t>
            </a:r>
            <a:endParaRPr lang="en-US" sz="1400" dirty="0"/>
          </a:p>
          <a:p>
            <a:pPr marL="342900" indent="-342900">
              <a:spcAft>
                <a:spcPts val="800"/>
              </a:spcAft>
              <a:buSzPct val="100000"/>
              <a:buChar char="•"/>
            </a:pPr>
            <a:r>
              <a:rPr lang="en-US" sz="1400" dirty="0">
                <a:solidFill>
                  <a:srgbClr val="1B2530"/>
                </a:solidFill>
              </a:rPr>
              <a:t>Keyword/vector search returns passages that SHARE WORDS - not the chain of findings that answers the question</a:t>
            </a:r>
            <a:endParaRPr lang="en-US" sz="1400" dirty="0"/>
          </a:p>
          <a:p>
            <a:pPr marL="342900" indent="-342900">
              <a:spcAft>
                <a:spcPts val="800"/>
              </a:spcAft>
              <a:buSzPct val="100000"/>
              <a:buChar char="•"/>
            </a:pPr>
            <a:r>
              <a:rPr lang="en-US" sz="1400" dirty="0">
                <a:solidFill>
                  <a:srgbClr val="1B2530"/>
                </a:solidFill>
              </a:rPr>
              <a:t>A knowledge graph can return the traceable path across papers, with each hop cited</a:t>
            </a:r>
            <a:endParaRPr lang="en-US" sz="1400" dirty="0"/>
          </a:p>
        </p:txBody>
      </p:sp>
      <p:sp>
        <p:nvSpPr>
          <p:cNvPr id="4" name="Shape 2"/>
          <p:cNvSpPr/>
          <p:nvPr/>
        </p:nvSpPr>
        <p:spPr>
          <a:xfrm>
            <a:off x="6949440" y="1371600"/>
            <a:ext cx="4480560" cy="685800"/>
          </a:xfrm>
          <a:prstGeom prst="roundRect">
            <a:avLst>
              <a:gd name="adj" fmla="val 8000"/>
            </a:avLst>
          </a:prstGeom>
          <a:solidFill>
            <a:srgbClr val="FDF3E0"/>
          </a:solidFill>
          <a:ln w="12700">
            <a:solidFill>
              <a:srgbClr val="E8A33D"/>
            </a:solidFill>
            <a:prstDash val="solid"/>
          </a:ln>
        </p:spPr>
      </p:sp>
      <p:sp>
        <p:nvSpPr>
          <p:cNvPr id="5" name="Text 3"/>
          <p:cNvSpPr txBox="1"/>
          <p:nvPr/>
        </p:nvSpPr>
        <p:spPr>
          <a:xfrm>
            <a:off x="7132320" y="1444752"/>
            <a:ext cx="4114800" cy="548640"/>
          </a:xfrm>
          <a:prstGeom prst="rect">
            <a:avLst/>
          </a:prstGeom>
          <a:noFill/>
          <a:ln/>
        </p:spPr>
        <p:txBody>
          <a:bodyPr wrap="square" lIns="0" tIns="0" rIns="0" bIns="0" rtlCol="0" anchor="ctr"/>
          <a:lstStyle/>
          <a:p>
            <a:pPr algn="ctr" indent="0" marL="0">
              <a:buNone/>
            </a:pPr>
            <a:r>
              <a:rPr lang="en-US" sz="1350" dirty="0">
                <a:solidFill>
                  <a:srgbClr val="1B2530"/>
                </a:solidFill>
              </a:rPr>
              <a:t>Climate stressor (e.g. heat stress)</a:t>
            </a:r>
            <a:endParaRPr lang="en-US" sz="1350" dirty="0"/>
          </a:p>
        </p:txBody>
      </p:sp>
      <p:sp>
        <p:nvSpPr>
          <p:cNvPr id="6" name="Text 4"/>
          <p:cNvSpPr txBox="1"/>
          <p:nvPr/>
        </p:nvSpPr>
        <p:spPr>
          <a:xfrm>
            <a:off x="9052560" y="2084832"/>
            <a:ext cx="365760" cy="365760"/>
          </a:xfrm>
          <a:prstGeom prst="rect">
            <a:avLst/>
          </a:prstGeom>
          <a:noFill/>
          <a:ln/>
        </p:spPr>
        <p:txBody>
          <a:bodyPr wrap="square" lIns="0" tIns="0" rIns="0" bIns="0" rtlCol="0" anchor="ctr"/>
          <a:lstStyle/>
          <a:p>
            <a:pPr algn="ctr" indent="0" marL="0">
              <a:buNone/>
            </a:pPr>
            <a:r>
              <a:rPr lang="en-US" sz="1400" b="1" dirty="0">
                <a:solidFill>
                  <a:srgbClr val="5E6B7A"/>
                </a:solidFill>
              </a:rPr>
              <a:t>v</a:t>
            </a:r>
            <a:endParaRPr lang="en-US" sz="1400" dirty="0"/>
          </a:p>
        </p:txBody>
      </p:sp>
      <p:sp>
        <p:nvSpPr>
          <p:cNvPr id="7" name="Shape 5"/>
          <p:cNvSpPr/>
          <p:nvPr/>
        </p:nvSpPr>
        <p:spPr>
          <a:xfrm>
            <a:off x="6949440" y="2514600"/>
            <a:ext cx="4480560" cy="685800"/>
          </a:xfrm>
          <a:prstGeom prst="roundRect">
            <a:avLst>
              <a:gd name="adj" fmla="val 8000"/>
            </a:avLst>
          </a:prstGeom>
          <a:solidFill>
            <a:srgbClr val="EEF1F8"/>
          </a:solidFill>
          <a:ln w="12700">
            <a:solidFill>
              <a:srgbClr val="D8DEE7"/>
            </a:solidFill>
            <a:prstDash val="solid"/>
          </a:ln>
        </p:spPr>
      </p:sp>
      <p:sp>
        <p:nvSpPr>
          <p:cNvPr id="8" name="Text 6"/>
          <p:cNvSpPr txBox="1"/>
          <p:nvPr/>
        </p:nvSpPr>
        <p:spPr>
          <a:xfrm>
            <a:off x="7132320" y="2587752"/>
            <a:ext cx="4114800" cy="548640"/>
          </a:xfrm>
          <a:prstGeom prst="rect">
            <a:avLst/>
          </a:prstGeom>
          <a:noFill/>
          <a:ln/>
        </p:spPr>
        <p:txBody>
          <a:bodyPr wrap="square" lIns="0" tIns="0" rIns="0" bIns="0" rtlCol="0" anchor="ctr"/>
          <a:lstStyle/>
          <a:p>
            <a:pPr algn="ctr" indent="0" marL="0">
              <a:buNone/>
            </a:pPr>
            <a:r>
              <a:rPr lang="en-US" sz="1350" dirty="0">
                <a:solidFill>
                  <a:srgbClr val="1B2530"/>
                </a:solidFill>
              </a:rPr>
              <a:t>Effect on animal physiology</a:t>
            </a:r>
            <a:endParaRPr lang="en-US" sz="1350" dirty="0"/>
          </a:p>
        </p:txBody>
      </p:sp>
      <p:sp>
        <p:nvSpPr>
          <p:cNvPr id="9" name="Text 7"/>
          <p:cNvSpPr txBox="1"/>
          <p:nvPr/>
        </p:nvSpPr>
        <p:spPr>
          <a:xfrm>
            <a:off x="9052560" y="3227832"/>
            <a:ext cx="365760" cy="365760"/>
          </a:xfrm>
          <a:prstGeom prst="rect">
            <a:avLst/>
          </a:prstGeom>
          <a:noFill/>
          <a:ln/>
        </p:spPr>
        <p:txBody>
          <a:bodyPr wrap="square" lIns="0" tIns="0" rIns="0" bIns="0" rtlCol="0" anchor="ctr"/>
          <a:lstStyle/>
          <a:p>
            <a:pPr algn="ctr" indent="0" marL="0">
              <a:buNone/>
            </a:pPr>
            <a:r>
              <a:rPr lang="en-US" sz="1400" b="1" dirty="0">
                <a:solidFill>
                  <a:srgbClr val="5E6B7A"/>
                </a:solidFill>
              </a:rPr>
              <a:t>v</a:t>
            </a:r>
            <a:endParaRPr lang="en-US" sz="1400" dirty="0"/>
          </a:p>
        </p:txBody>
      </p:sp>
      <p:sp>
        <p:nvSpPr>
          <p:cNvPr id="10" name="Shape 8"/>
          <p:cNvSpPr/>
          <p:nvPr/>
        </p:nvSpPr>
        <p:spPr>
          <a:xfrm>
            <a:off x="6949440" y="3657600"/>
            <a:ext cx="4480560" cy="685800"/>
          </a:xfrm>
          <a:prstGeom prst="roundRect">
            <a:avLst>
              <a:gd name="adj" fmla="val 8000"/>
            </a:avLst>
          </a:prstGeom>
          <a:solidFill>
            <a:srgbClr val="EEF1F8"/>
          </a:solidFill>
          <a:ln w="12700">
            <a:solidFill>
              <a:srgbClr val="D8DEE7"/>
            </a:solidFill>
            <a:prstDash val="solid"/>
          </a:ln>
        </p:spPr>
      </p:sp>
      <p:sp>
        <p:nvSpPr>
          <p:cNvPr id="11" name="Text 9"/>
          <p:cNvSpPr txBox="1"/>
          <p:nvPr/>
        </p:nvSpPr>
        <p:spPr>
          <a:xfrm>
            <a:off x="7132320" y="3730752"/>
            <a:ext cx="4114800" cy="548640"/>
          </a:xfrm>
          <a:prstGeom prst="rect">
            <a:avLst/>
          </a:prstGeom>
          <a:noFill/>
          <a:ln/>
        </p:spPr>
        <p:txBody>
          <a:bodyPr wrap="square" lIns="0" tIns="0" rIns="0" bIns="0" rtlCol="0" anchor="ctr"/>
          <a:lstStyle/>
          <a:p>
            <a:pPr algn="ctr" indent="0" marL="0">
              <a:buNone/>
            </a:pPr>
            <a:r>
              <a:rPr lang="en-US" sz="1350" dirty="0">
                <a:solidFill>
                  <a:srgbClr val="1B2530"/>
                </a:solidFill>
              </a:rPr>
              <a:t>Disease susceptibility</a:t>
            </a:r>
            <a:endParaRPr lang="en-US" sz="1350" dirty="0"/>
          </a:p>
        </p:txBody>
      </p:sp>
      <p:sp>
        <p:nvSpPr>
          <p:cNvPr id="12" name="Text 10"/>
          <p:cNvSpPr txBox="1"/>
          <p:nvPr/>
        </p:nvSpPr>
        <p:spPr>
          <a:xfrm>
            <a:off x="9052560" y="4370832"/>
            <a:ext cx="365760" cy="365760"/>
          </a:xfrm>
          <a:prstGeom prst="rect">
            <a:avLst/>
          </a:prstGeom>
          <a:noFill/>
          <a:ln/>
        </p:spPr>
        <p:txBody>
          <a:bodyPr wrap="square" lIns="0" tIns="0" rIns="0" bIns="0" rtlCol="0" anchor="ctr"/>
          <a:lstStyle/>
          <a:p>
            <a:pPr algn="ctr" indent="0" marL="0">
              <a:buNone/>
            </a:pPr>
            <a:r>
              <a:rPr lang="en-US" sz="1400" b="1" dirty="0">
                <a:solidFill>
                  <a:srgbClr val="5E6B7A"/>
                </a:solidFill>
              </a:rPr>
              <a:t>v</a:t>
            </a:r>
            <a:endParaRPr lang="en-US" sz="1400" dirty="0"/>
          </a:p>
        </p:txBody>
      </p:sp>
      <p:sp>
        <p:nvSpPr>
          <p:cNvPr id="13" name="Shape 11"/>
          <p:cNvSpPr/>
          <p:nvPr/>
        </p:nvSpPr>
        <p:spPr>
          <a:xfrm>
            <a:off x="6949440" y="4800600"/>
            <a:ext cx="4480560" cy="685800"/>
          </a:xfrm>
          <a:prstGeom prst="roundRect">
            <a:avLst>
              <a:gd name="adj" fmla="val 8000"/>
            </a:avLst>
          </a:prstGeom>
          <a:solidFill>
            <a:srgbClr val="EEF1F8"/>
          </a:solidFill>
          <a:ln w="12700">
            <a:solidFill>
              <a:srgbClr val="D8DEE7"/>
            </a:solidFill>
            <a:prstDash val="solid"/>
          </a:ln>
        </p:spPr>
      </p:sp>
      <p:sp>
        <p:nvSpPr>
          <p:cNvPr id="14" name="Text 12"/>
          <p:cNvSpPr txBox="1"/>
          <p:nvPr/>
        </p:nvSpPr>
        <p:spPr>
          <a:xfrm>
            <a:off x="7132320" y="4873752"/>
            <a:ext cx="4114800" cy="548640"/>
          </a:xfrm>
          <a:prstGeom prst="rect">
            <a:avLst/>
          </a:prstGeom>
          <a:noFill/>
          <a:ln/>
        </p:spPr>
        <p:txBody>
          <a:bodyPr wrap="square" lIns="0" tIns="0" rIns="0" bIns="0" rtlCol="0" anchor="ctr"/>
          <a:lstStyle/>
          <a:p>
            <a:pPr algn="ctr" indent="0" marL="0">
              <a:buNone/>
            </a:pPr>
            <a:r>
              <a:rPr lang="en-US" sz="1350" dirty="0">
                <a:solidFill>
                  <a:srgbClr val="1B2530"/>
                </a:solidFill>
              </a:rPr>
              <a:t>Human exposure pathway</a:t>
            </a:r>
            <a:endParaRPr lang="en-US" sz="1350" dirty="0"/>
          </a:p>
        </p:txBody>
      </p:sp>
      <p:sp>
        <p:nvSpPr>
          <p:cNvPr id="15" name="Text 13"/>
          <p:cNvSpPr txBox="1"/>
          <p:nvPr/>
        </p:nvSpPr>
        <p:spPr>
          <a:xfrm>
            <a:off x="6949440" y="5989320"/>
            <a:ext cx="4480560" cy="320040"/>
          </a:xfrm>
          <a:prstGeom prst="rect">
            <a:avLst/>
          </a:prstGeom>
          <a:noFill/>
          <a:ln/>
        </p:spPr>
        <p:txBody>
          <a:bodyPr wrap="square" lIns="0" tIns="0" rIns="0" bIns="0" rtlCol="0" anchor="ctr"/>
          <a:lstStyle/>
          <a:p>
            <a:pPr algn="ctr" indent="0" marL="0">
              <a:buNone/>
            </a:pPr>
            <a:r>
              <a:rPr lang="en-US" sz="1100" dirty="0">
                <a:solidFill>
                  <a:srgbClr val="5E6B7A"/>
                </a:solidFill>
              </a:rPr>
              <a:t>the traceable path KGCompass should find</a:t>
            </a:r>
            <a:endParaRPr lang="en-US" sz="11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One codebase, two pipelines</a:t>
            </a:r>
            <a:endParaRPr lang="en-US" sz="3000" dirty="0"/>
          </a:p>
        </p:txBody>
      </p:sp>
      <p:sp>
        <p:nvSpPr>
          <p:cNvPr id="3" name="Shape 1"/>
          <p:cNvSpPr/>
          <p:nvPr/>
        </p:nvSpPr>
        <p:spPr>
          <a:xfrm>
            <a:off x="548640" y="1188720"/>
            <a:ext cx="5394960" cy="3749040"/>
          </a:xfrm>
          <a:prstGeom prst="roundRect">
            <a:avLst>
              <a:gd name="adj" fmla="val 1463"/>
            </a:avLst>
          </a:prstGeom>
          <a:solidFill>
            <a:srgbClr val="EEF1F8"/>
          </a:solidFill>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700" b="1" dirty="0">
                <a:solidFill>
                  <a:srgbClr val="3B4CC0"/>
                </a:solidFill>
              </a:rPr>
              <a:t>RAG (baseline - backend/)</a:t>
            </a:r>
            <a:endParaRPr lang="en-US" sz="1700" dirty="0"/>
          </a:p>
        </p:txBody>
      </p:sp>
      <p:sp>
        <p:nvSpPr>
          <p:cNvPr id="5" name="Text 3"/>
          <p:cNvSpPr txBox="1"/>
          <p:nvPr/>
        </p:nvSpPr>
        <p:spPr>
          <a:xfrm>
            <a:off x="777240" y="1828800"/>
            <a:ext cx="4983480" cy="3063240"/>
          </a:xfrm>
          <a:prstGeom prst="rect">
            <a:avLst/>
          </a:prstGeom>
          <a:noFill/>
          <a:ln/>
        </p:spPr>
        <p:txBody>
          <a:bodyPr wrap="square" rtlCol="0" anchor="t"/>
          <a:lstStyle/>
          <a:p>
            <a:pPr marL="342900" indent="-342900">
              <a:spcAft>
                <a:spcPts val="600"/>
              </a:spcAft>
              <a:buSzPct val="100000"/>
              <a:buChar char="•"/>
            </a:pPr>
            <a:r>
              <a:rPr lang="en-US" sz="1250" dirty="0">
                <a:solidFill>
                  <a:srgbClr val="1B2530"/>
                </a:solidFill>
              </a:rPr>
              <a:t>Query rewriting: LLM expands the question into ~25 search queries</a:t>
            </a:r>
            <a:endParaRPr lang="en-US" sz="1250" dirty="0"/>
          </a:p>
          <a:p>
            <a:pPr marL="342900" indent="-342900">
              <a:spcAft>
                <a:spcPts val="600"/>
              </a:spcAft>
              <a:buSzPct val="100000"/>
              <a:buChar char="•"/>
            </a:pPr>
            <a:r>
              <a:rPr lang="en-US" sz="1250" dirty="0">
                <a:solidFill>
                  <a:srgbClr val="1B2530"/>
                </a:solidFill>
              </a:rPr>
              <a:t>Hybrid retrieval: dense vectors (nomic-embed-text, ChromaDB) + BM25, fused by reciprocal rank</a:t>
            </a:r>
            <a:endParaRPr lang="en-US" sz="1250" dirty="0"/>
          </a:p>
          <a:p>
            <a:pPr marL="342900" indent="-342900">
              <a:spcAft>
                <a:spcPts val="600"/>
              </a:spcAft>
              <a:buSzPct val="100000"/>
              <a:buChar char="•"/>
            </a:pPr>
            <a:r>
              <a:rPr lang="en-US" sz="1250" b="1" dirty="0">
                <a:solidFill>
                  <a:srgbClr val="1B2530"/>
                </a:solidFill>
              </a:rPr>
              <a:t>Reranking: cross-encoder ms-marco-MiniLM-L6-v2 scores every chunk</a:t>
            </a:r>
            <a:endParaRPr lang="en-US" sz="1250" dirty="0"/>
          </a:p>
          <a:p>
            <a:pPr marL="342900" indent="-342900">
              <a:spcAft>
                <a:spcPts val="600"/>
              </a:spcAft>
              <a:buSzPct val="100000"/>
              <a:buChar char="•"/>
            </a:pPr>
            <a:r>
              <a:rPr lang="en-US" sz="1250" dirty="0">
                <a:solidFill>
                  <a:srgbClr val="1B2530"/>
                </a:solidFill>
              </a:rPr>
              <a:t>Selection: chunks scoring &gt;= 0.05 (or top 10)</a:t>
            </a:r>
            <a:endParaRPr lang="en-US" sz="1250" dirty="0"/>
          </a:p>
          <a:p>
            <a:pPr marL="342900" indent="-342900">
              <a:spcAft>
                <a:spcPts val="600"/>
              </a:spcAft>
              <a:buSzPct val="100000"/>
              <a:buChar char="•"/>
            </a:pPr>
            <a:r>
              <a:rPr lang="en-US" sz="1250" dirty="0">
                <a:solidFill>
                  <a:srgbClr val="1B2530"/>
                </a:solidFill>
              </a:rPr>
              <a:t>Answer with per-claim citations; self-check by a second LLM (llama3.1 8B)</a:t>
            </a:r>
            <a:endParaRPr lang="en-US" sz="1250" dirty="0"/>
          </a:p>
        </p:txBody>
      </p:sp>
      <p:sp>
        <p:nvSpPr>
          <p:cNvPr id="6" name="Shape 4"/>
          <p:cNvSpPr/>
          <p:nvPr/>
        </p:nvSpPr>
        <p:spPr>
          <a:xfrm>
            <a:off x="6217920" y="1188720"/>
            <a:ext cx="5394960" cy="3749040"/>
          </a:xfrm>
          <a:prstGeom prst="roundRect">
            <a:avLst>
              <a:gd name="adj" fmla="val 1463"/>
            </a:avLst>
          </a:prstGeom>
          <a:solidFill>
            <a:srgbClr val="E7F2EC"/>
          </a:solidFill>
          <a:ln/>
        </p:spPr>
      </p:sp>
      <p:sp>
        <p:nvSpPr>
          <p:cNvPr id="7" name="Text 5"/>
          <p:cNvSpPr txBox="1"/>
          <p:nvPr/>
        </p:nvSpPr>
        <p:spPr>
          <a:xfrm>
            <a:off x="6446520" y="1417320"/>
            <a:ext cx="4937760" cy="365760"/>
          </a:xfrm>
          <a:prstGeom prst="rect">
            <a:avLst/>
          </a:prstGeom>
          <a:noFill/>
          <a:ln/>
        </p:spPr>
        <p:txBody>
          <a:bodyPr wrap="square" lIns="0" tIns="0" rIns="0" bIns="0" rtlCol="0" anchor="ctr"/>
          <a:lstStyle/>
          <a:p>
            <a:pPr indent="0" marL="0">
              <a:buNone/>
            </a:pPr>
            <a:r>
              <a:rPr lang="en-US" sz="1700" b="1" dirty="0">
                <a:solidFill>
                  <a:srgbClr val="0E7C5B"/>
                </a:solidFill>
              </a:rPr>
              <a:t>GraphRAG (new - knowledge_graph/)</a:t>
            </a:r>
            <a:endParaRPr lang="en-US" sz="1700" dirty="0"/>
          </a:p>
        </p:txBody>
      </p:sp>
      <p:sp>
        <p:nvSpPr>
          <p:cNvPr id="8" name="Text 6"/>
          <p:cNvSpPr txBox="1"/>
          <p:nvPr/>
        </p:nvSpPr>
        <p:spPr>
          <a:xfrm>
            <a:off x="6446520" y="1828800"/>
            <a:ext cx="4983480" cy="3063240"/>
          </a:xfrm>
          <a:prstGeom prst="rect">
            <a:avLst/>
          </a:prstGeom>
          <a:noFill/>
          <a:ln/>
        </p:spPr>
        <p:txBody>
          <a:bodyPr wrap="square" rtlCol="0" anchor="t"/>
          <a:lstStyle/>
          <a:p>
            <a:pPr marL="342900" indent="-342900">
              <a:spcAft>
                <a:spcPts val="600"/>
              </a:spcAft>
              <a:buSzPct val="100000"/>
              <a:buChar char="•"/>
            </a:pPr>
            <a:r>
              <a:rPr lang="en-US" sz="1250" dirty="0">
                <a:solidFill>
                  <a:srgbClr val="1B2530"/>
                </a:solidFill>
              </a:rPr>
              <a:t>Build once per corpus: same chunks (1,024 chars / 120 overlap) -&gt; LLM extracts entities (14 domain types) + relations with effect direction</a:t>
            </a:r>
            <a:endParaRPr lang="en-US" sz="1250" dirty="0"/>
          </a:p>
          <a:p>
            <a:pPr marL="342900" indent="-342900">
              <a:spcAft>
                <a:spcPts val="600"/>
              </a:spcAft>
              <a:buSzPct val="100000"/>
              <a:buChar char="•"/>
            </a:pPr>
            <a:r>
              <a:rPr lang="en-US" sz="1250" dirty="0">
                <a:solidFill>
                  <a:srgbClr val="1B2530"/>
                </a:solidFill>
              </a:rPr>
              <a:t>Merge entities across chunks and papers; Louvain communities + LLM summaries; stored in FalkorDB with vector indexes</a:t>
            </a:r>
            <a:endParaRPr lang="en-US" sz="1250" dirty="0"/>
          </a:p>
          <a:p>
            <a:pPr marL="342900" indent="-342900">
              <a:spcAft>
                <a:spcPts val="600"/>
              </a:spcAft>
              <a:buSzPct val="100000"/>
              <a:buChar char="•"/>
            </a:pPr>
            <a:r>
              <a:rPr lang="en-US" sz="1250" b="1" dirty="0">
                <a:solidFill>
                  <a:srgbClr val="1B2530"/>
                </a:solidFill>
              </a:rPr>
              <a:t>Answer: seed entities -&gt; 1-hop expansion (&lt;=40 entities) -&gt; strongest &lt;=60 relations -&gt; 8 source chunks -&gt; &lt;=3 community summaries -&gt; cited answer</a:t>
            </a:r>
            <a:endParaRPr lang="en-US" sz="1250" dirty="0"/>
          </a:p>
          <a:p>
            <a:pPr marL="342900" indent="-342900">
              <a:spcAft>
                <a:spcPts val="600"/>
              </a:spcAft>
              <a:buSzPct val="100000"/>
              <a:buChar char="•"/>
            </a:pPr>
            <a:r>
              <a:rPr lang="en-US" sz="1250" dirty="0">
                <a:solidFill>
                  <a:srgbClr val="A82F23"/>
                </a:solidFill>
              </a:rPr>
              <a:t>No reranker on this path (relevant later)</a:t>
            </a:r>
            <a:endParaRPr lang="en-US" sz="1250" dirty="0"/>
          </a:p>
        </p:txBody>
      </p:sp>
      <p:sp>
        <p:nvSpPr>
          <p:cNvPr id="9" name="Shape 7"/>
          <p:cNvSpPr/>
          <p:nvPr/>
        </p:nvSpPr>
        <p:spPr>
          <a:xfrm>
            <a:off x="548640" y="5120640"/>
            <a:ext cx="11064240" cy="1234440"/>
          </a:xfrm>
          <a:prstGeom prst="roundRect">
            <a:avLst>
              <a:gd name="adj" fmla="val 4444"/>
            </a:avLst>
          </a:prstGeom>
          <a:solidFill>
            <a:srgbClr val="10162B"/>
          </a:solidFill>
          <a:ln/>
        </p:spPr>
      </p:sp>
      <p:sp>
        <p:nvSpPr>
          <p:cNvPr id="10" name="Text 8"/>
          <p:cNvSpPr txBox="1"/>
          <p:nvPr/>
        </p:nvSpPr>
        <p:spPr>
          <a:xfrm>
            <a:off x="685800" y="5193792"/>
            <a:ext cx="10789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one command compares both pipelines</a:t>
            </a:r>
            <a:endParaRPr lang="en-US" sz="1000" dirty="0"/>
          </a:p>
        </p:txBody>
      </p:sp>
      <p:sp>
        <p:nvSpPr>
          <p:cNvPr id="11" name="Text 9"/>
          <p:cNvSpPr txBox="1"/>
          <p:nvPr/>
        </p:nvSpPr>
        <p:spPr>
          <a:xfrm>
            <a:off x="685800" y="5468112"/>
            <a:ext cx="10789920" cy="77724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shared run settings (per-run manifest): LLM gemma4:12b (answers + extraction + judge) - embeddings nomic-embed-text - chunks 1024/120</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evaluate --group 21 --rag rerun    # live RAG vs GraphRAG on the same corpus, judged both orders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evaluate --group 21 --all          # group questions answered from the GIANT graph</a:t>
            </a:r>
            <a:endParaRPr lang="en-US" sz="10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System workflow</a:t>
            </a:r>
            <a:endParaRPr lang="en-US" sz="3000" dirty="0"/>
          </a:p>
        </p:txBody>
      </p:sp>
      <p:pic>
        <p:nvPicPr>
          <p:cNvPr id="3" name="Image 0" descr="/Users/srikarsankranti/Desktop/Directed Studies/experiments/sumanth-kg-eval/all-groups/viz_workflow_system.png">    </p:cNvPr>
          <p:cNvPicPr>
            <a:picLocks noChangeAspect="1"/>
          </p:cNvPicPr>
          <p:nvPr/>
        </p:nvPicPr>
        <p:blipFill>
          <a:blip r:embed="rId1"/>
          <a:stretch>
            <a:fillRect/>
          </a:stretch>
        </p:blipFill>
        <p:spPr>
          <a:xfrm>
            <a:off x="411480" y="1325880"/>
            <a:ext cx="11384280" cy="4242816"/>
          </a:xfrm>
          <a:prstGeom prst="rect">
            <a:avLst/>
          </a:prstGeom>
        </p:spPr>
      </p:pic>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Inside the RAG store - chunks and embeddings</a:t>
            </a:r>
            <a:endParaRPr lang="en-US" sz="3000" dirty="0"/>
          </a:p>
        </p:txBody>
      </p:sp>
      <p:pic>
        <p:nvPicPr>
          <p:cNvPr id="3" name="Image 0" descr="/Users/srikarsankranti/Desktop/Directed Studies/experiments/sumanth-kg-eval/all-groups/viz_rag_store.png">    </p:cNvPr>
          <p:cNvPicPr>
            <a:picLocks noChangeAspect="1"/>
          </p:cNvPicPr>
          <p:nvPr/>
        </p:nvPicPr>
        <p:blipFill>
          <a:blip r:embed="rId1"/>
          <a:stretch>
            <a:fillRect/>
          </a:stretch>
        </p:blipFill>
        <p:spPr>
          <a:xfrm>
            <a:off x="548640" y="1417320"/>
            <a:ext cx="11064240" cy="4133088"/>
          </a:xfrm>
          <a:prstGeom prst="rect">
            <a:avLst/>
          </a:prstGeom>
        </p:spPr>
      </p:pic>
      <p:sp>
        <p:nvSpPr>
          <p:cNvPr id="4" name="Text 1"/>
          <p:cNvSpPr txBox="1"/>
          <p:nvPr/>
        </p:nvSpPr>
        <p:spPr>
          <a:xfrm>
            <a:off x="548640" y="6035040"/>
            <a:ext cx="10972800" cy="320040"/>
          </a:xfrm>
          <a:prstGeom prst="rect">
            <a:avLst/>
          </a:prstGeom>
          <a:noFill/>
          <a:ln/>
        </p:spPr>
        <p:txBody>
          <a:bodyPr wrap="square" lIns="0" tIns="0" rIns="0" bIns="0" rtlCol="0" anchor="ctr"/>
          <a:lstStyle/>
          <a:p>
            <a:pPr indent="0" marL="0">
              <a:buNone/>
            </a:pPr>
            <a:r>
              <a:rPr lang="en-US" sz="1050" dirty="0">
                <a:solidFill>
                  <a:srgbClr val="5E6B7A"/>
                </a:solidFill>
              </a:rPr>
              <a:t>Real chunk texts from the corpus; vectors illustrative (nomic-embed-text, 768-d)</a:t>
            </a:r>
            <a:endParaRPr lang="en-US" sz="10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KG build pipeline - from the codebase</a:t>
            </a:r>
            <a:endParaRPr lang="en-US" sz="3000" dirty="0"/>
          </a:p>
        </p:txBody>
      </p:sp>
      <p:sp>
        <p:nvSpPr>
          <p:cNvPr id="3" name="Shape 1"/>
          <p:cNvSpPr/>
          <p:nvPr/>
        </p:nvSpPr>
        <p:spPr>
          <a:xfrm>
            <a:off x="548640" y="1188720"/>
            <a:ext cx="6492240" cy="3657600"/>
          </a:xfrm>
          <a:prstGeom prst="roundRect">
            <a:avLst>
              <a:gd name="adj" fmla="val 1500"/>
            </a:avLst>
          </a:prstGeom>
          <a:solidFill>
            <a:srgbClr val="10162B"/>
          </a:solidFill>
          <a:ln/>
        </p:spPr>
      </p:sp>
      <p:sp>
        <p:nvSpPr>
          <p:cNvPr id="4" name="Text 2"/>
          <p:cNvSpPr txBox="1"/>
          <p:nvPr/>
        </p:nvSpPr>
        <p:spPr>
          <a:xfrm>
            <a:off x="685800" y="1261872"/>
            <a:ext cx="6217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knowledge_graph/cli.py</a:t>
            </a:r>
            <a:endParaRPr lang="en-US" sz="1000" dirty="0"/>
          </a:p>
        </p:txBody>
      </p:sp>
      <p:sp>
        <p:nvSpPr>
          <p:cNvPr id="5" name="Text 3"/>
          <p:cNvSpPr txBox="1"/>
          <p:nvPr/>
        </p:nvSpPr>
        <p:spPr>
          <a:xfrm>
            <a:off x="685800" y="1536192"/>
            <a:ext cx="6217920" cy="320040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knowledge_graph/cli.py - cmd_build (actual pipeline)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chunks = prepare_corpus(name, pdf_paths=pdfs)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extractions = run_extraction(chunks, model=args.model,</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workers=args.workers)   # cached per chunk</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graph = build_graph(extractions)        # merge entities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communities = detect_communities(graph) # Louvain</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reports = summarize_communities(graph, communities, name)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texts, vectors = entity_embeddings(graph, name)</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falkor_store.write_graph(name, graph, reports, chunks,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chunk_vectors, texts, vectors)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export_graphml(graph, name); export_tables(graph, ...)</a:t>
            </a:r>
            <a:endParaRPr lang="en-US" sz="1050" dirty="0"/>
          </a:p>
        </p:txBody>
      </p:sp>
      <p:sp>
        <p:nvSpPr>
          <p:cNvPr id="6" name="Shape 4"/>
          <p:cNvSpPr/>
          <p:nvPr/>
        </p:nvSpPr>
        <p:spPr>
          <a:xfrm>
            <a:off x="548640" y="4983480"/>
            <a:ext cx="6492240" cy="1325880"/>
          </a:xfrm>
          <a:prstGeom prst="roundRect">
            <a:avLst>
              <a:gd name="adj" fmla="val 4138"/>
            </a:avLst>
          </a:prstGeom>
          <a:solidFill>
            <a:srgbClr val="10162B"/>
          </a:solidFill>
          <a:ln/>
        </p:spPr>
      </p:sp>
      <p:sp>
        <p:nvSpPr>
          <p:cNvPr id="7" name="Text 5"/>
          <p:cNvSpPr txBox="1"/>
          <p:nvPr/>
        </p:nvSpPr>
        <p:spPr>
          <a:xfrm>
            <a:off x="685800" y="5056632"/>
            <a:ext cx="6217920" cy="274320"/>
          </a:xfrm>
          <a:prstGeom prst="rect">
            <a:avLst/>
          </a:prstGeom>
          <a:noFill/>
          <a:ln/>
        </p:spPr>
        <p:txBody>
          <a:bodyPr wrap="square" lIns="0" tIns="0" rIns="0" bIns="0" rtlCol="0" anchor="ctr"/>
          <a:lstStyle/>
          <a:p>
            <a:pPr indent="0" marL="0">
              <a:buNone/>
            </a:pPr>
            <a:r>
              <a:rPr lang="en-US" sz="1000" b="1" dirty="0">
                <a:solidFill>
                  <a:srgbClr val="8A97E8"/>
                </a:solidFill>
                <a:latin typeface="Courier New" pitchFamily="34" charset="0"/>
                <a:ea typeface="Courier New" pitchFamily="34" charset="-122"/>
                <a:cs typeface="Courier New" pitchFamily="34" charset="-120"/>
              </a:rPr>
              <a:t>usage</a:t>
            </a:r>
            <a:endParaRPr lang="en-US" sz="1000" dirty="0"/>
          </a:p>
        </p:txBody>
      </p:sp>
      <p:sp>
        <p:nvSpPr>
          <p:cNvPr id="8" name="Text 6"/>
          <p:cNvSpPr txBox="1"/>
          <p:nvPr/>
        </p:nvSpPr>
        <p:spPr>
          <a:xfrm>
            <a:off x="685800" y="5330952"/>
            <a:ext cx="6217920" cy="868680"/>
          </a:xfrm>
          <a:prstGeom prst="rect">
            <a:avLst/>
          </a:prstGeom>
          <a:noFill/>
          <a:ln/>
        </p:spPr>
        <p:txBody>
          <a:bodyPr wrap="square" lIns="0" tIns="0" rIns="0" bIns="0" rtlCol="0" anchor="t"/>
          <a:lstStyle/>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build --group 21</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ask --group 21 "How do mycotoxins induce ferroptosis?"</a:t>
            </a:r>
            <a:endParaRPr lang="en-US" sz="1050" dirty="0"/>
          </a:p>
          <a:p>
            <a:pPr indent="0" marL="0">
              <a:buNone/>
            </a:pPr>
            <a:r>
              <a:rPr lang="en-US" sz="1050" dirty="0">
                <a:solidFill>
                  <a:srgbClr val="D7DEF0"/>
                </a:solidFill>
                <a:latin typeface="Courier New" pitchFamily="34" charset="0"/>
                <a:ea typeface="Courier New" pitchFamily="34" charset="-122"/>
                <a:cs typeface="Courier New" pitchFamily="34" charset="-120"/>
              </a:rPr>
              <a:t>$ python knowledge_graph/cli.py build --all   # one graph, all 283 papers</a:t>
            </a:r>
            <a:endParaRPr lang="en-US" sz="1050" dirty="0"/>
          </a:p>
        </p:txBody>
      </p:sp>
      <p:sp>
        <p:nvSpPr>
          <p:cNvPr id="9" name="Text 7"/>
          <p:cNvSpPr txBox="1"/>
          <p:nvPr/>
        </p:nvSpPr>
        <p:spPr>
          <a:xfrm>
            <a:off x="7315200" y="141732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20,554</a:t>
            </a:r>
            <a:endParaRPr lang="en-US" sz="4000" dirty="0"/>
          </a:p>
        </p:txBody>
      </p:sp>
      <p:sp>
        <p:nvSpPr>
          <p:cNvPr id="10" name="Text 8"/>
          <p:cNvSpPr txBox="1"/>
          <p:nvPr/>
        </p:nvSpPr>
        <p:spPr>
          <a:xfrm>
            <a:off x="7315200" y="207568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chunks processed (cached, never twice)</a:t>
            </a:r>
            <a:endParaRPr lang="en-US" sz="1150" dirty="0"/>
          </a:p>
        </p:txBody>
      </p:sp>
      <p:sp>
        <p:nvSpPr>
          <p:cNvPr id="11" name="Text 9"/>
          <p:cNvSpPr txBox="1"/>
          <p:nvPr/>
        </p:nvSpPr>
        <p:spPr>
          <a:xfrm>
            <a:off x="9555480" y="141732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55,008</a:t>
            </a:r>
            <a:endParaRPr lang="en-US" sz="4000" dirty="0"/>
          </a:p>
        </p:txBody>
      </p:sp>
      <p:sp>
        <p:nvSpPr>
          <p:cNvPr id="12" name="Text 10"/>
          <p:cNvSpPr txBox="1"/>
          <p:nvPr/>
        </p:nvSpPr>
        <p:spPr>
          <a:xfrm>
            <a:off x="9555480" y="207568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entities across 38 group graphs</a:t>
            </a:r>
            <a:endParaRPr lang="en-US" sz="1150" dirty="0"/>
          </a:p>
        </p:txBody>
      </p:sp>
      <p:sp>
        <p:nvSpPr>
          <p:cNvPr id="13" name="Text 11"/>
          <p:cNvSpPr txBox="1"/>
          <p:nvPr/>
        </p:nvSpPr>
        <p:spPr>
          <a:xfrm>
            <a:off x="7315200" y="297180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80,057</a:t>
            </a:r>
            <a:endParaRPr lang="en-US" sz="4000" dirty="0"/>
          </a:p>
        </p:txBody>
      </p:sp>
      <p:sp>
        <p:nvSpPr>
          <p:cNvPr id="14" name="Text 12"/>
          <p:cNvSpPr txBox="1"/>
          <p:nvPr/>
        </p:nvSpPr>
        <p:spPr>
          <a:xfrm>
            <a:off x="7315200" y="363016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relationships with effect direction</a:t>
            </a:r>
            <a:endParaRPr lang="en-US" sz="1150" dirty="0"/>
          </a:p>
        </p:txBody>
      </p:sp>
      <p:sp>
        <p:nvSpPr>
          <p:cNvPr id="15" name="Text 13"/>
          <p:cNvSpPr txBox="1"/>
          <p:nvPr/>
        </p:nvSpPr>
        <p:spPr>
          <a:xfrm>
            <a:off x="9555480" y="2971800"/>
            <a:ext cx="2194560" cy="685800"/>
          </a:xfrm>
          <a:prstGeom prst="rect">
            <a:avLst/>
          </a:prstGeom>
          <a:noFill/>
          <a:ln/>
        </p:spPr>
        <p:txBody>
          <a:bodyPr wrap="square" lIns="0" tIns="0" rIns="0" bIns="0" rtlCol="0" anchor="ctr"/>
          <a:lstStyle/>
          <a:p>
            <a:pPr algn="ctr" indent="0" marL="0">
              <a:buNone/>
            </a:pPr>
            <a:r>
              <a:rPr lang="en-US" sz="4000" b="1" dirty="0">
                <a:solidFill>
                  <a:srgbClr val="0E7C5B"/>
                </a:solidFill>
              </a:rPr>
              <a:t>30,515</a:t>
            </a:r>
            <a:endParaRPr lang="en-US" sz="4000" dirty="0"/>
          </a:p>
        </p:txBody>
      </p:sp>
      <p:sp>
        <p:nvSpPr>
          <p:cNvPr id="16" name="Text 14"/>
          <p:cNvSpPr txBox="1"/>
          <p:nvPr/>
        </p:nvSpPr>
        <p:spPr>
          <a:xfrm>
            <a:off x="9555480" y="3630168"/>
            <a:ext cx="2194560" cy="502920"/>
          </a:xfrm>
          <a:prstGeom prst="rect">
            <a:avLst/>
          </a:prstGeom>
          <a:noFill/>
          <a:ln/>
        </p:spPr>
        <p:txBody>
          <a:bodyPr wrap="square" lIns="0" tIns="0" rIns="0" bIns="0" rtlCol="0" anchor="ctr"/>
          <a:lstStyle/>
          <a:p>
            <a:pPr algn="ctr" indent="0" marL="0">
              <a:buNone/>
            </a:pPr>
            <a:r>
              <a:rPr lang="en-US" sz="1150" dirty="0">
                <a:solidFill>
                  <a:srgbClr val="5E6B7A"/>
                </a:solidFill>
              </a:rPr>
              <a:t>entities in the giant graph (-45% by merging)</a:t>
            </a:r>
            <a:endParaRPr lang="en-US" sz="1150" dirty="0"/>
          </a:p>
        </p:txBody>
      </p:sp>
      <p:sp>
        <p:nvSpPr>
          <p:cNvPr id="17" name="Text 15"/>
          <p:cNvSpPr txBox="1"/>
          <p:nvPr/>
        </p:nvSpPr>
        <p:spPr>
          <a:xfrm>
            <a:off x="7315200" y="4572000"/>
            <a:ext cx="4480560" cy="1188720"/>
          </a:xfrm>
          <a:prstGeom prst="rect">
            <a:avLst/>
          </a:prstGeom>
          <a:noFill/>
          <a:ln/>
        </p:spPr>
        <p:txBody>
          <a:bodyPr wrap="square" lIns="0" tIns="0" rIns="0" bIns="0" rtlCol="0" anchor="ctr"/>
          <a:lstStyle/>
          <a:p>
            <a:pPr indent="0" marL="0">
              <a:buNone/>
            </a:pPr>
            <a:r>
              <a:rPr lang="en-US" sz="1250" dirty="0">
                <a:solidFill>
                  <a:srgbClr val="5E6B7A"/>
                </a:solidFill>
              </a:rPr>
              <a:t>Giant graph: 79,855 relations, 6,319 communities - entity merging halves the nodes but keeps 95.6% of the edges</a:t>
            </a:r>
            <a:endParaRPr lang="en-US" sz="12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graphs themselves - real samples</a:t>
            </a:r>
            <a:endParaRPr lang="en-US" sz="3000" dirty="0"/>
          </a:p>
        </p:txBody>
      </p:sp>
      <p:pic>
        <p:nvPicPr>
          <p:cNvPr id="3" name="Image 0" descr="/Users/srikarsankranti/Desktop/Directed Studies/experiments/sumanth-kg-eval/all-groups/viz_kg_samples.png">    </p:cNvPr>
          <p:cNvPicPr>
            <a:picLocks noChangeAspect="1"/>
          </p:cNvPicPr>
          <p:nvPr/>
        </p:nvPicPr>
        <p:blipFill>
          <a:blip r:embed="rId1"/>
          <a:stretch>
            <a:fillRect/>
          </a:stretch>
        </p:blipFill>
        <p:spPr>
          <a:xfrm>
            <a:off x="411480" y="1234440"/>
            <a:ext cx="11384280" cy="5138928"/>
          </a:xfrm>
          <a:prstGeom prst="rect">
            <a:avLst/>
          </a:prstGeom>
        </p:spPr>
      </p:pic>
      <p:sp>
        <p:nvSpPr>
          <p:cNvPr id="4" name="Text 1"/>
          <p:cNvSpPr txBox="1"/>
          <p:nvPr/>
        </p:nvSpPr>
        <p:spPr>
          <a:xfrm>
            <a:off x="548640" y="6400800"/>
            <a:ext cx="10972800" cy="320040"/>
          </a:xfrm>
          <a:prstGeom prst="rect">
            <a:avLst/>
          </a:prstGeom>
          <a:noFill/>
          <a:ln/>
        </p:spPr>
        <p:txBody>
          <a:bodyPr wrap="square" lIns="0" tIns="0" rIns="0" bIns="0" rtlCol="0" anchor="ctr"/>
          <a:lstStyle/>
          <a:p>
            <a:pPr indent="0" marL="0">
              <a:buNone/>
            </a:pPr>
            <a:r>
              <a:rPr lang="en-US" sz="1050" dirty="0">
                <a:solidFill>
                  <a:srgbClr val="5E6B7A"/>
                </a:solidFill>
              </a:rPr>
              <a:t>Every node and edge drawn from the exported triples.csv of the FalkorDB stores</a:t>
            </a:r>
            <a:endParaRPr lang="en-US" sz="10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Groupwise: GraphRAG wins the head-to-head</a:t>
            </a:r>
            <a:endParaRPr lang="en-US" sz="3000" dirty="0"/>
          </a:p>
        </p:txBody>
      </p:sp>
      <p:graphicFrame>
        <p:nvGraphicFramePr>
          <p:cNvPr id="3" name="Chart 0" descr=""/>
          <p:cNvGraphicFramePr/>
          <p:nvPr/>
        </p:nvGraphicFramePr>
        <p:xfrm>
          <a:off x="548640" y="1371600"/>
          <a:ext cx="566928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92240" y="1463040"/>
            <a:ext cx="5120640" cy="475488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Groups won: GraphRAG 35, RAG 1, tied 2 (p = 1e-9); sign test on verdicts p = 6e-27</a:t>
            </a:r>
            <a:endParaRPr lang="en-US" sz="1400" dirty="0"/>
          </a:p>
          <a:p>
            <a:pPr marL="342900" indent="-342900">
              <a:spcAft>
                <a:spcPts val="800"/>
              </a:spcAft>
              <a:buSzPct val="100000"/>
              <a:buChar char="•"/>
            </a:pPr>
            <a:r>
              <a:rPr lang="en-US" sz="1400" dirty="0">
                <a:solidFill>
                  <a:srgbClr val="1B2530"/>
                </a:solidFill>
              </a:rPr>
              <a:t>Test set vs expert answers: correctness tied at the ceiling (9.4-9.5/10); completeness 6.28 vs 5.80; paper recall 0.53 vs 0.42 - GraphRAG finds more of the right papers</a:t>
            </a:r>
            <a:endParaRPr lang="en-US" sz="1400" dirty="0"/>
          </a:p>
          <a:p>
            <a:pPr marL="342900" indent="-342900">
              <a:spcAft>
                <a:spcPts val="800"/>
              </a:spcAft>
              <a:buSzPct val="100000"/>
              <a:buChar char="•"/>
            </a:pPr>
            <a:r>
              <a:rPr lang="en-US" sz="1400" dirty="0">
                <a:solidFill>
                  <a:srgbClr val="1B2530"/>
                </a:solidFill>
              </a:rPr>
              <a:t>GraphRAG also faster: 17.7s vs 22.8s per answer (RAG spends calls on rewrite + self-check)</a:t>
            </a:r>
            <a:endParaRPr lang="en-US" sz="1400" dirty="0"/>
          </a:p>
          <a:p>
            <a:pPr marL="342900" indent="-342900">
              <a:spcAft>
                <a:spcPts val="800"/>
              </a:spcAft>
              <a:buSzPct val="100000"/>
              <a:buChar char="•"/>
            </a:pPr>
            <a:r>
              <a:rPr lang="en-US" sz="1400" b="1" dirty="0">
                <a:solidFill>
                  <a:srgbClr val="A82F23"/>
                </a:solidFill>
              </a:rPr>
              <a:t>Honest caveat: the judge tracks answer LENGTH - at equal length the systems tie (p = 0.4). Win counts alone do not prove better answers</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Giant graph (283 papers): RAG wins - and we know why</a:t>
            </a:r>
            <a:endParaRPr lang="en-US" sz="3000" dirty="0"/>
          </a:p>
        </p:txBody>
      </p:sp>
      <p:sp>
        <p:nvSpPr>
          <p:cNvPr id="3" name="Shape 1"/>
          <p:cNvSpPr/>
          <p:nvPr/>
        </p:nvSpPr>
        <p:spPr>
          <a:xfrm>
            <a:off x="548640" y="1188720"/>
            <a:ext cx="11064240" cy="1143000"/>
          </a:xfrm>
          <a:prstGeom prst="roundRect">
            <a:avLst>
              <a:gd name="adj" fmla="val 4800"/>
            </a:avLst>
          </a:prstGeom>
          <a:solidFill>
            <a:srgbClr val="F8E5E2"/>
          </a:solidFill>
          <a:ln/>
        </p:spPr>
      </p:sp>
      <p:sp>
        <p:nvSpPr>
          <p:cNvPr id="4" name="Text 2"/>
          <p:cNvSpPr txBox="1"/>
          <p:nvPr/>
        </p:nvSpPr>
        <p:spPr>
          <a:xfrm>
            <a:off x="777240" y="1298448"/>
            <a:ext cx="10607040" cy="914400"/>
          </a:xfrm>
          <a:prstGeom prst="rect">
            <a:avLst/>
          </a:prstGeom>
          <a:noFill/>
          <a:ln/>
        </p:spPr>
        <p:txBody>
          <a:bodyPr wrap="square" lIns="0" tIns="0" rIns="0" bIns="0" rtlCol="0" anchor="ctr"/>
          <a:lstStyle/>
          <a:p>
            <a:pPr indent="0" marL="0">
              <a:buNone/>
            </a:pPr>
            <a:r>
              <a:rPr lang="en-US" sz="1350" b="1" dirty="0">
                <a:solidFill>
                  <a:srgbClr val="A82F23"/>
                </a:solidFill>
              </a:rPr>
              <a:t>Setting B (one graph, 283 papers): RAG 431 - GraphRAG 221 - ties 87; RAG takes 33 of 38 groups; paper recall collapses 0.29 vs 0.15.  </a:t>
            </a:r>
            <a:pPr indent="0" marL="0">
              <a:buNone/>
            </a:pPr>
            <a:r>
              <a:rPr lang="en-US" sz="1350" dirty="0">
                <a:solidFill>
                  <a:srgbClr val="1B2530"/>
                </a:solidFill>
              </a:rPr>
              <a:t>Not a length effect: RAG also wins at equal length (116 vs 33) and on expert-scored correctness (9.56 vs 8.68).</a:t>
            </a:r>
            <a:endParaRPr lang="en-US" sz="1350" dirty="0"/>
          </a:p>
        </p:txBody>
      </p:sp>
      <p:sp>
        <p:nvSpPr>
          <p:cNvPr id="5" name="Shape 3"/>
          <p:cNvSpPr/>
          <p:nvPr/>
        </p:nvSpPr>
        <p:spPr>
          <a:xfrm>
            <a:off x="548640" y="6199632"/>
            <a:ext cx="11064240" cy="475488"/>
          </a:xfrm>
          <a:prstGeom prst="roundRect">
            <a:avLst>
              <a:gd name="adj" fmla="val 9615"/>
            </a:avLst>
          </a:prstGeom>
          <a:solidFill>
            <a:srgbClr val="151B33"/>
          </a:solidFill>
          <a:ln/>
        </p:spPr>
      </p:sp>
      <p:sp>
        <p:nvSpPr>
          <p:cNvPr id="6" name="Text 4"/>
          <p:cNvSpPr txBox="1"/>
          <p:nvPr/>
        </p:nvSpPr>
        <p:spPr>
          <a:xfrm>
            <a:off x="777240" y="6254496"/>
            <a:ext cx="10607040" cy="365760"/>
          </a:xfrm>
          <a:prstGeom prst="rect">
            <a:avLst/>
          </a:prstGeom>
          <a:noFill/>
          <a:ln/>
        </p:spPr>
        <p:txBody>
          <a:bodyPr wrap="square" lIns="0" tIns="0" rIns="0" bIns="0" rtlCol="0" anchor="ctr"/>
          <a:lstStyle/>
          <a:p>
            <a:pPr indent="0" marL="0">
              <a:buNone/>
            </a:pPr>
            <a:r>
              <a:rPr lang="en-US" sz="1250" b="1" dirty="0">
                <a:solidFill>
                  <a:srgbClr val="8A97E8"/>
                </a:solidFill>
              </a:rPr>
              <a:t>Measured root cause: </a:t>
            </a:r>
            <a:pPr indent="0" marL="0">
              <a:buNone/>
            </a:pPr>
            <a:r>
              <a:rPr lang="en-US" sz="1250" dirty="0">
                <a:solidFill>
                  <a:srgbClr val="FFFFFF"/>
                </a:solidFill>
              </a:rPr>
              <a:t>only 27% of GraphRAG's seed entities come from the question's own papers - so just 26% of its passages are on-topic, vs 51% for RAG.</a:t>
            </a:r>
            <a:endParaRPr lang="en-US" sz="1250" dirty="0"/>
          </a:p>
        </p:txBody>
      </p:sp>
      <p:sp>
        <p:nvSpPr>
          <p:cNvPr id="7" name="Shape 5"/>
          <p:cNvSpPr/>
          <p:nvPr/>
        </p:nvSpPr>
        <p:spPr>
          <a:xfrm>
            <a:off x="548640" y="2487168"/>
            <a:ext cx="5394960" cy="1664208"/>
          </a:xfrm>
          <a:prstGeom prst="roundRect">
            <a:avLst>
              <a:gd name="adj" fmla="val 3297"/>
            </a:avLst>
          </a:prstGeom>
          <a:solidFill>
            <a:srgbClr val="EEF1F8"/>
          </a:solidFill>
          <a:ln/>
        </p:spPr>
      </p:sp>
      <p:sp>
        <p:nvSpPr>
          <p:cNvPr id="8" name="Text 6"/>
          <p:cNvSpPr txBox="1"/>
          <p:nvPr/>
        </p:nvSpPr>
        <p:spPr>
          <a:xfrm>
            <a:off x="713232" y="2651760"/>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1</a:t>
            </a:r>
            <a:endParaRPr lang="en-US" sz="2200" dirty="0"/>
          </a:p>
        </p:txBody>
      </p:sp>
      <p:sp>
        <p:nvSpPr>
          <p:cNvPr id="9" name="Text 7"/>
          <p:cNvSpPr txBox="1"/>
          <p:nvPr/>
        </p:nvSpPr>
        <p:spPr>
          <a:xfrm>
            <a:off x="1188720" y="2642616"/>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1-hop retrieval only</a:t>
            </a:r>
            <a:endParaRPr lang="en-US" sz="1450" dirty="0"/>
          </a:p>
        </p:txBody>
      </p:sp>
      <p:sp>
        <p:nvSpPr>
          <p:cNvPr id="10" name="Text 8"/>
          <p:cNvSpPr txBox="1"/>
          <p:nvPr/>
        </p:nvSpPr>
        <p:spPr>
          <a:xfrm>
            <a:off x="1188720" y="2999232"/>
            <a:ext cx="4572000" cy="1097280"/>
          </a:xfrm>
          <a:prstGeom prst="rect">
            <a:avLst/>
          </a:prstGeom>
          <a:noFill/>
          <a:ln/>
        </p:spPr>
        <p:txBody>
          <a:bodyPr wrap="square" lIns="0" tIns="0" rIns="0" bIns="0" rtlCol="0" anchor="ctr"/>
          <a:lstStyle/>
          <a:p>
            <a:pPr indent="0" marL="0">
              <a:buNone/>
            </a:pPr>
            <a:r>
              <a:rPr lang="en-US" sz="1100" dirty="0">
                <a:solidFill>
                  <a:srgbClr val="5E6B7A"/>
                </a:solidFill>
              </a:rPr>
              <a:t>Multi-concept questions need 2+ hops; one hop in a 30,515-entity graph surfaces the mega-hubs ('bovine milk': 1,576 edges), not the specific path.</a:t>
            </a:r>
            <a:endParaRPr lang="en-US" sz="1100" dirty="0"/>
          </a:p>
        </p:txBody>
      </p:sp>
      <p:sp>
        <p:nvSpPr>
          <p:cNvPr id="11" name="Shape 9"/>
          <p:cNvSpPr/>
          <p:nvPr/>
        </p:nvSpPr>
        <p:spPr>
          <a:xfrm>
            <a:off x="6217920" y="2487168"/>
            <a:ext cx="5394960" cy="1664208"/>
          </a:xfrm>
          <a:prstGeom prst="roundRect">
            <a:avLst>
              <a:gd name="adj" fmla="val 3297"/>
            </a:avLst>
          </a:prstGeom>
          <a:solidFill>
            <a:srgbClr val="EEF1F8"/>
          </a:solidFill>
          <a:ln/>
        </p:spPr>
      </p:sp>
      <p:sp>
        <p:nvSpPr>
          <p:cNvPr id="12" name="Text 10"/>
          <p:cNvSpPr txBox="1"/>
          <p:nvPr/>
        </p:nvSpPr>
        <p:spPr>
          <a:xfrm>
            <a:off x="6382512" y="2651760"/>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2</a:t>
            </a:r>
            <a:endParaRPr lang="en-US" sz="2200" dirty="0"/>
          </a:p>
        </p:txBody>
      </p:sp>
      <p:sp>
        <p:nvSpPr>
          <p:cNvPr id="13" name="Text 11"/>
          <p:cNvSpPr txBox="1"/>
          <p:nvPr/>
        </p:nvSpPr>
        <p:spPr>
          <a:xfrm>
            <a:off x="6858000" y="2642616"/>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Fixed caps lose the relevant chunk</a:t>
            </a:r>
            <a:endParaRPr lang="en-US" sz="1450" dirty="0"/>
          </a:p>
        </p:txBody>
      </p:sp>
      <p:sp>
        <p:nvSpPr>
          <p:cNvPr id="14" name="Text 12"/>
          <p:cNvSpPr txBox="1"/>
          <p:nvPr/>
        </p:nvSpPr>
        <p:spPr>
          <a:xfrm>
            <a:off x="6858000" y="2999232"/>
            <a:ext cx="4572000" cy="1097280"/>
          </a:xfrm>
          <a:prstGeom prst="rect">
            <a:avLst/>
          </a:prstGeom>
          <a:noFill/>
          <a:ln/>
        </p:spPr>
        <p:txBody>
          <a:bodyPr wrap="square" lIns="0" tIns="0" rIns="0" bIns="0" rtlCol="0" anchor="ctr"/>
          <a:lstStyle/>
          <a:p>
            <a:pPr indent="0" marL="0">
              <a:buNone/>
            </a:pPr>
            <a:r>
              <a:rPr lang="en-US" sz="1100" dirty="0">
                <a:solidFill>
                  <a:srgbClr val="5E6B7A"/>
                </a:solidFill>
              </a:rPr>
              <a:t>&lt;=40 entities, &lt;=60 relations, 8 chunks were tuned for ~2,000-entity graphs. In the giant graph the budget fills with hub neighbours and the chunk that answers the question falls outside the cap.</a:t>
            </a:r>
            <a:endParaRPr lang="en-US" sz="1100" dirty="0"/>
          </a:p>
        </p:txBody>
      </p:sp>
      <p:sp>
        <p:nvSpPr>
          <p:cNvPr id="15" name="Shape 13"/>
          <p:cNvSpPr/>
          <p:nvPr/>
        </p:nvSpPr>
        <p:spPr>
          <a:xfrm>
            <a:off x="548640" y="4297680"/>
            <a:ext cx="5394960" cy="1664208"/>
          </a:xfrm>
          <a:prstGeom prst="roundRect">
            <a:avLst>
              <a:gd name="adj" fmla="val 3297"/>
            </a:avLst>
          </a:prstGeom>
          <a:solidFill>
            <a:srgbClr val="EEF1F8"/>
          </a:solidFill>
          <a:ln/>
        </p:spPr>
      </p:sp>
      <p:sp>
        <p:nvSpPr>
          <p:cNvPr id="16" name="Text 14"/>
          <p:cNvSpPr txBox="1"/>
          <p:nvPr/>
        </p:nvSpPr>
        <p:spPr>
          <a:xfrm>
            <a:off x="713232" y="446227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3</a:t>
            </a:r>
            <a:endParaRPr lang="en-US" sz="2200" dirty="0"/>
          </a:p>
        </p:txBody>
      </p:sp>
      <p:sp>
        <p:nvSpPr>
          <p:cNvPr id="17" name="Text 15"/>
          <p:cNvSpPr txBox="1"/>
          <p:nvPr/>
        </p:nvSpPr>
        <p:spPr>
          <a:xfrm>
            <a:off x="1188720" y="445312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No reranking on the graph path</a:t>
            </a:r>
            <a:endParaRPr lang="en-US" sz="1450" dirty="0"/>
          </a:p>
        </p:txBody>
      </p:sp>
      <p:sp>
        <p:nvSpPr>
          <p:cNvPr id="18" name="Text 16"/>
          <p:cNvSpPr txBox="1"/>
          <p:nvPr/>
        </p:nvSpPr>
        <p:spPr>
          <a:xfrm>
            <a:off x="1188720" y="4809744"/>
            <a:ext cx="4572000" cy="1097280"/>
          </a:xfrm>
          <a:prstGeom prst="rect">
            <a:avLst/>
          </a:prstGeom>
          <a:noFill/>
          <a:ln/>
        </p:spPr>
        <p:txBody>
          <a:bodyPr wrap="square" lIns="0" tIns="0" rIns="0" bIns="0" rtlCol="0" anchor="ctr"/>
          <a:lstStyle/>
          <a:p>
            <a:pPr indent="0" marL="0">
              <a:buNone/>
            </a:pPr>
            <a:r>
              <a:rPr lang="en-US" sz="1100" dirty="0">
                <a:solidFill>
                  <a:srgbClr val="5E6B7A"/>
                </a:solidFill>
              </a:rPr>
              <a:t>RAG reranks every candidate with a cross-encoder; GraphRAG selects chunks by graph weight + similarity only - exactly the step that saves RAG at scale is missing.</a:t>
            </a:r>
            <a:endParaRPr lang="en-US" sz="1100" dirty="0"/>
          </a:p>
        </p:txBody>
      </p:sp>
      <p:sp>
        <p:nvSpPr>
          <p:cNvPr id="19" name="Shape 17"/>
          <p:cNvSpPr/>
          <p:nvPr/>
        </p:nvSpPr>
        <p:spPr>
          <a:xfrm>
            <a:off x="6217920" y="4297680"/>
            <a:ext cx="5394960" cy="1664208"/>
          </a:xfrm>
          <a:prstGeom prst="roundRect">
            <a:avLst>
              <a:gd name="adj" fmla="val 3297"/>
            </a:avLst>
          </a:prstGeom>
          <a:solidFill>
            <a:srgbClr val="EEF1F8"/>
          </a:solidFill>
          <a:ln/>
        </p:spPr>
      </p:sp>
      <p:sp>
        <p:nvSpPr>
          <p:cNvPr id="20" name="Text 18"/>
          <p:cNvSpPr txBox="1"/>
          <p:nvPr/>
        </p:nvSpPr>
        <p:spPr>
          <a:xfrm>
            <a:off x="6382512" y="4462272"/>
            <a:ext cx="457200" cy="457200"/>
          </a:xfrm>
          <a:prstGeom prst="rect">
            <a:avLst/>
          </a:prstGeom>
          <a:noFill/>
          <a:ln/>
        </p:spPr>
        <p:txBody>
          <a:bodyPr wrap="square" lIns="0" tIns="0" rIns="0" bIns="0" rtlCol="0" anchor="ctr"/>
          <a:lstStyle/>
          <a:p>
            <a:pPr indent="0" marL="0">
              <a:buNone/>
            </a:pPr>
            <a:r>
              <a:rPr lang="en-US" sz="2200" b="1" dirty="0">
                <a:solidFill>
                  <a:srgbClr val="3B4CC0"/>
                </a:solidFill>
              </a:rPr>
              <a:t>4</a:t>
            </a:r>
            <a:endParaRPr lang="en-US" sz="2200" dirty="0"/>
          </a:p>
        </p:txBody>
      </p:sp>
      <p:sp>
        <p:nvSpPr>
          <p:cNvPr id="21" name="Text 19"/>
          <p:cNvSpPr txBox="1"/>
          <p:nvPr/>
        </p:nvSpPr>
        <p:spPr>
          <a:xfrm>
            <a:off x="6858000" y="4453128"/>
            <a:ext cx="4572000" cy="365760"/>
          </a:xfrm>
          <a:prstGeom prst="rect">
            <a:avLst/>
          </a:prstGeom>
          <a:noFill/>
          <a:ln/>
        </p:spPr>
        <p:txBody>
          <a:bodyPr wrap="square" lIns="0" tIns="0" rIns="0" bIns="0" rtlCol="0" anchor="ctr"/>
          <a:lstStyle/>
          <a:p>
            <a:pPr indent="0" marL="0">
              <a:buNone/>
            </a:pPr>
            <a:r>
              <a:rPr lang="en-US" sz="1450" b="1" dirty="0">
                <a:solidFill>
                  <a:srgbClr val="1B2530"/>
                </a:solidFill>
              </a:rPr>
              <a:t>Merging concentrates the graph</a:t>
            </a:r>
            <a:endParaRPr lang="en-US" sz="1450" dirty="0"/>
          </a:p>
        </p:txBody>
      </p:sp>
      <p:sp>
        <p:nvSpPr>
          <p:cNvPr id="22" name="Text 20"/>
          <p:cNvSpPr txBox="1"/>
          <p:nvPr/>
        </p:nvSpPr>
        <p:spPr>
          <a:xfrm>
            <a:off x="6858000" y="4809744"/>
            <a:ext cx="4572000" cy="1097280"/>
          </a:xfrm>
          <a:prstGeom prst="rect">
            <a:avLst/>
          </a:prstGeom>
          <a:noFill/>
          <a:ln/>
        </p:spPr>
        <p:txBody>
          <a:bodyPr wrap="square" lIns="0" tIns="0" rIns="0" bIns="0" rtlCol="0" anchor="ctr"/>
          <a:lstStyle/>
          <a:p>
            <a:pPr indent="0" marL="0">
              <a:buNone/>
            </a:pPr>
            <a:r>
              <a:rPr lang="en-US" sz="1100" dirty="0">
                <a:solidFill>
                  <a:srgbClr val="5E6B7A"/>
                </a:solidFill>
              </a:rPr>
              <a:t>Entities -45%, edges -4%: double the edges per node pair, so hub expansion gets noisier while cap budgets stay fixed.</a:t>
            </a:r>
            <a:endParaRPr lang="en-US" sz="11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Going deeper: evaluating the triplets themselves</a:t>
            </a:r>
            <a:endParaRPr lang="en-US" sz="3000" dirty="0"/>
          </a:p>
        </p:txBody>
      </p:sp>
      <p:sp>
        <p:nvSpPr>
          <p:cNvPr id="3" name="Text 1"/>
          <p:cNvSpPr txBox="1"/>
          <p:nvPr/>
        </p:nvSpPr>
        <p:spPr>
          <a:xfrm>
            <a:off x="594360" y="1280160"/>
            <a:ext cx="5943600" cy="493776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Why: answer-level judging is blind to KG errors - faithfulness tied 83% of the time while wrong facts sat in the graph. Prof. Tao's directive: verify triplet accuracy directly.</a:t>
            </a:r>
            <a:endParaRPr lang="en-US" sz="1400" dirty="0"/>
          </a:p>
          <a:p>
            <a:pPr marL="342900" indent="-342900">
              <a:spcAft>
                <a:spcPts val="800"/>
              </a:spcAft>
              <a:buSzPct val="100000"/>
              <a:buChar char="•"/>
            </a:pPr>
            <a:r>
              <a:rPr lang="en-US" sz="1400" dirty="0">
                <a:solidFill>
                  <a:srgbClr val="1B2530"/>
                </a:solidFill>
              </a:rPr>
              <a:t>Full-coverage scan (code): all 83,554 triples - relation vocabulary, trivial triples, vague entities, contradictions</a:t>
            </a:r>
            <a:endParaRPr lang="en-US" sz="1400" dirty="0"/>
          </a:p>
          <a:p>
            <a:pPr marL="342900" indent="-342900">
              <a:spcAft>
                <a:spcPts val="800"/>
              </a:spcAft>
              <a:buSzPct val="100000"/>
              <a:buChar char="•"/>
            </a:pPr>
            <a:r>
              <a:rPr lang="en-US" sz="1400" dirty="0">
                <a:solidFill>
                  <a:srgbClr val="1B2530"/>
                </a:solidFill>
              </a:rPr>
              <a:t>LLM-judged sample (reasoning): 950 triples (25 per group) verified against the FULL TEXT of their source papers; every verdict carries quoted evidence</a:t>
            </a:r>
            <a:endParaRPr lang="en-US" sz="1400" dirty="0"/>
          </a:p>
          <a:p>
            <a:pPr marL="342900" indent="-342900">
              <a:spcAft>
                <a:spcPts val="800"/>
              </a:spcAft>
              <a:buSzPct val="100000"/>
              <a:buChar char="•"/>
            </a:pPr>
            <a:r>
              <a:rPr lang="en-US" sz="1400" dirty="0">
                <a:solidFill>
                  <a:srgbClr val="1B2530"/>
                </a:solidFill>
              </a:rPr>
              <a:t>Calibration: 50-triple deep dive judged independently by two models - 84% exact / 94% binary agreement, zero correct-wrong flips</a:t>
            </a:r>
            <a:endParaRPr lang="en-US" sz="1400" dirty="0"/>
          </a:p>
        </p:txBody>
      </p:sp>
      <p:graphicFrame>
        <p:nvGraphicFramePr>
          <p:cNvPr id="4" name="Chart 0" descr=""/>
          <p:cNvGraphicFramePr/>
          <p:nvPr/>
        </p:nvGraphicFramePr>
        <p:xfrm>
          <a:off x="6675120" y="1371600"/>
          <a:ext cx="493776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675120" y="5257800"/>
            <a:ext cx="4937760" cy="548640"/>
          </a:xfrm>
          <a:prstGeom prst="rect">
            <a:avLst/>
          </a:prstGeom>
          <a:noFill/>
          <a:ln/>
        </p:spPr>
        <p:txBody>
          <a:bodyPr wrap="square" lIns="0" tIns="0" rIns="0" bIns="0" rtlCol="0" anchor="ctr"/>
          <a:lstStyle/>
          <a:p>
            <a:pPr indent="0" marL="0">
              <a:buNone/>
            </a:pPr>
            <a:r>
              <a:rPr lang="en-US" sz="1250" dirty="0">
                <a:solidFill>
                  <a:srgbClr val="5E6B7A"/>
                </a:solidFill>
              </a:rPr>
              <a:t>Per-group correct: 48% - 88% (median 72%). Every group has flawed triples.</a:t>
            </a:r>
            <a:endParaRPr lang="en-US" sz="12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Why triplets fail: the five reasons</a:t>
            </a:r>
            <a:endParaRPr lang="en-US" sz="3000" dirty="0"/>
          </a:p>
        </p:txBody>
      </p:sp>
      <p:sp>
        <p:nvSpPr>
          <p:cNvPr id="3" name="Shape 1"/>
          <p:cNvSpPr/>
          <p:nvPr/>
        </p:nvSpPr>
        <p:spPr>
          <a:xfrm>
            <a:off x="548640" y="1188720"/>
            <a:ext cx="11064240" cy="914400"/>
          </a:xfrm>
          <a:prstGeom prst="roundRect">
            <a:avLst>
              <a:gd name="adj" fmla="val 5000"/>
            </a:avLst>
          </a:prstGeom>
          <a:solidFill>
            <a:srgbClr val="EEF1F8"/>
          </a:solidFill>
          <a:ln w="9525">
            <a:solidFill>
              <a:srgbClr val="D8DEE7"/>
            </a:solidFill>
            <a:prstDash val="solid"/>
          </a:ln>
        </p:spPr>
      </p:sp>
      <p:sp>
        <p:nvSpPr>
          <p:cNvPr id="4" name="Text 2"/>
          <p:cNvSpPr txBox="1"/>
          <p:nvPr/>
        </p:nvSpPr>
        <p:spPr>
          <a:xfrm>
            <a:off x="731520" y="1261872"/>
            <a:ext cx="1737360" cy="365760"/>
          </a:xfrm>
          <a:prstGeom prst="rect">
            <a:avLst/>
          </a:prstGeom>
          <a:noFill/>
          <a:ln/>
        </p:spPr>
        <p:txBody>
          <a:bodyPr wrap="square" lIns="0" tIns="0" rIns="0" bIns="0" rtlCol="0" anchor="ctr"/>
          <a:lstStyle/>
          <a:p>
            <a:pPr indent="0" marL="0">
              <a:buNone/>
            </a:pPr>
            <a:r>
              <a:rPr lang="en-US" sz="1450" b="1" dirty="0">
                <a:solidFill>
                  <a:srgbClr val="A82F23"/>
                </a:solidFill>
              </a:rPr>
              <a:t>1 - Factual</a:t>
            </a:r>
            <a:endParaRPr lang="en-US" sz="1450" dirty="0"/>
          </a:p>
        </p:txBody>
      </p:sp>
      <p:sp>
        <p:nvSpPr>
          <p:cNvPr id="5" name="Text 3"/>
          <p:cNvSpPr txBox="1"/>
          <p:nvPr/>
        </p:nvSpPr>
        <p:spPr>
          <a:xfrm>
            <a:off x="731520" y="1645920"/>
            <a:ext cx="1783080" cy="365760"/>
          </a:xfrm>
          <a:prstGeom prst="rect">
            <a:avLst/>
          </a:prstGeom>
          <a:noFill/>
          <a:ln/>
        </p:spPr>
        <p:txBody>
          <a:bodyPr wrap="square" lIns="0" tIns="0" rIns="0" bIns="0" rtlCol="0" anchor="ctr"/>
          <a:lstStyle/>
          <a:p>
            <a:pPr indent="0" marL="0">
              <a:buNone/>
            </a:pPr>
            <a:r>
              <a:rPr lang="en-US" sz="1050" dirty="0">
                <a:solidFill>
                  <a:srgbClr val="5E6B7A"/>
                </a:solidFill>
              </a:rPr>
              <a:t>Inverted or false as stated</a:t>
            </a:r>
            <a:endParaRPr lang="en-US" sz="1050" dirty="0"/>
          </a:p>
        </p:txBody>
      </p:sp>
      <p:sp>
        <p:nvSpPr>
          <p:cNvPr id="6" name="Text 4"/>
          <p:cNvSpPr txBox="1"/>
          <p:nvPr/>
        </p:nvSpPr>
        <p:spPr>
          <a:xfrm>
            <a:off x="2606040" y="1280160"/>
            <a:ext cx="8869680" cy="777240"/>
          </a:xfrm>
          <a:prstGeom prst="rect">
            <a:avLst/>
          </a:prstGeom>
          <a:noFill/>
          <a:ln/>
        </p:spPr>
        <p:txBody>
          <a:bodyPr wrap="square" lIns="0" tIns="0" rIns="0" bIns="0" rtlCol="0" anchor="ctr"/>
          <a:lstStyle/>
          <a:p>
            <a:pPr indent="0" marL="0">
              <a:buNone/>
            </a:pPr>
            <a:r>
              <a:rPr lang="en-US" sz="1200" dirty="0">
                <a:solidFill>
                  <a:srgbClr val="1B2530"/>
                </a:solidFill>
              </a:rPr>
              <a:t>'alfalfa silage increases milk yield' - the paper shows LOWER yield (P=0.011); negative results stored as positive; GEM expanded to the wrong drug</a:t>
            </a:r>
            <a:endParaRPr lang="en-US" sz="1200" dirty="0"/>
          </a:p>
        </p:txBody>
      </p:sp>
      <p:sp>
        <p:nvSpPr>
          <p:cNvPr id="7" name="Shape 5"/>
          <p:cNvSpPr/>
          <p:nvPr/>
        </p:nvSpPr>
        <p:spPr>
          <a:xfrm>
            <a:off x="548640" y="2231136"/>
            <a:ext cx="11064240" cy="914400"/>
          </a:xfrm>
          <a:prstGeom prst="roundRect">
            <a:avLst>
              <a:gd name="adj" fmla="val 5000"/>
            </a:avLst>
          </a:prstGeom>
          <a:solidFill>
            <a:srgbClr val="FFFFFF"/>
          </a:solidFill>
          <a:ln w="9525">
            <a:solidFill>
              <a:srgbClr val="D8DEE7"/>
            </a:solidFill>
            <a:prstDash val="solid"/>
          </a:ln>
        </p:spPr>
      </p:sp>
      <p:sp>
        <p:nvSpPr>
          <p:cNvPr id="8" name="Text 6"/>
          <p:cNvSpPr txBox="1"/>
          <p:nvPr/>
        </p:nvSpPr>
        <p:spPr>
          <a:xfrm>
            <a:off x="731520" y="2304288"/>
            <a:ext cx="1737360" cy="365760"/>
          </a:xfrm>
          <a:prstGeom prst="rect">
            <a:avLst/>
          </a:prstGeom>
          <a:noFill/>
          <a:ln/>
        </p:spPr>
        <p:txBody>
          <a:bodyPr wrap="square" lIns="0" tIns="0" rIns="0" bIns="0" rtlCol="0" anchor="ctr"/>
          <a:lstStyle/>
          <a:p>
            <a:pPr indent="0" marL="0">
              <a:buNone/>
            </a:pPr>
            <a:r>
              <a:rPr lang="en-US" sz="1450" b="1" dirty="0">
                <a:solidFill>
                  <a:srgbClr val="E8A33D"/>
                </a:solidFill>
              </a:rPr>
              <a:t>2 - Precision</a:t>
            </a:r>
            <a:endParaRPr lang="en-US" sz="1450" dirty="0"/>
          </a:p>
        </p:txBody>
      </p:sp>
      <p:sp>
        <p:nvSpPr>
          <p:cNvPr id="9" name="Text 7"/>
          <p:cNvSpPr txBox="1"/>
          <p:nvPr/>
        </p:nvSpPr>
        <p:spPr>
          <a:xfrm>
            <a:off x="731520" y="2688336"/>
            <a:ext cx="1783080" cy="365760"/>
          </a:xfrm>
          <a:prstGeom prst="rect">
            <a:avLst/>
          </a:prstGeom>
          <a:noFill/>
          <a:ln/>
        </p:spPr>
        <p:txBody>
          <a:bodyPr wrap="square" lIns="0" tIns="0" rIns="0" bIns="0" rtlCol="0" anchor="ctr"/>
          <a:lstStyle/>
          <a:p>
            <a:pPr indent="0" marL="0">
              <a:buNone/>
            </a:pPr>
            <a:r>
              <a:rPr lang="en-US" sz="1050" dirty="0">
                <a:solidFill>
                  <a:srgbClr val="5E6B7A"/>
                </a:solidFill>
              </a:rPr>
              <a:t>True idea, meaning lost</a:t>
            </a:r>
            <a:endParaRPr lang="en-US" sz="1050" dirty="0"/>
          </a:p>
        </p:txBody>
      </p:sp>
      <p:sp>
        <p:nvSpPr>
          <p:cNvPr id="10" name="Text 8"/>
          <p:cNvSpPr txBox="1"/>
          <p:nvPr/>
        </p:nvSpPr>
        <p:spPr>
          <a:xfrm>
            <a:off x="2606040" y="2322576"/>
            <a:ext cx="8869680" cy="777240"/>
          </a:xfrm>
          <a:prstGeom prst="rect">
            <a:avLst/>
          </a:prstGeom>
          <a:noFill/>
          <a:ln/>
        </p:spPr>
        <p:txBody>
          <a:bodyPr wrap="square" lIns="0" tIns="0" rIns="0" bIns="0" rtlCol="0" anchor="ctr"/>
          <a:lstStyle/>
          <a:p>
            <a:pPr indent="0" marL="0">
              <a:buNone/>
            </a:pPr>
            <a:r>
              <a:rPr lang="en-US" sz="1200" dirty="0">
                <a:solidFill>
                  <a:srgbClr val="1B2530"/>
                </a:solidFill>
              </a:rPr>
              <a:t>'selenium increases liver' (the Se CONCENTRATION in liver); 'iodine causes hypothyroidism' (source says EXCESS iodine) - quantity and conditions dropped</a:t>
            </a:r>
            <a:endParaRPr lang="en-US" sz="1200" dirty="0"/>
          </a:p>
        </p:txBody>
      </p:sp>
      <p:sp>
        <p:nvSpPr>
          <p:cNvPr id="11" name="Shape 9"/>
          <p:cNvSpPr/>
          <p:nvPr/>
        </p:nvSpPr>
        <p:spPr>
          <a:xfrm>
            <a:off x="548640" y="3273552"/>
            <a:ext cx="11064240" cy="914400"/>
          </a:xfrm>
          <a:prstGeom prst="roundRect">
            <a:avLst>
              <a:gd name="adj" fmla="val 5000"/>
            </a:avLst>
          </a:prstGeom>
          <a:solidFill>
            <a:srgbClr val="EEF1F8"/>
          </a:solidFill>
          <a:ln w="9525">
            <a:solidFill>
              <a:srgbClr val="D8DEE7"/>
            </a:solidFill>
            <a:prstDash val="solid"/>
          </a:ln>
        </p:spPr>
      </p:sp>
      <p:sp>
        <p:nvSpPr>
          <p:cNvPr id="12" name="Text 10"/>
          <p:cNvSpPr txBox="1"/>
          <p:nvPr/>
        </p:nvSpPr>
        <p:spPr>
          <a:xfrm>
            <a:off x="731520" y="3346704"/>
            <a:ext cx="1737360" cy="365760"/>
          </a:xfrm>
          <a:prstGeom prst="rect">
            <a:avLst/>
          </a:prstGeom>
          <a:noFill/>
          <a:ln/>
        </p:spPr>
        <p:txBody>
          <a:bodyPr wrap="square" lIns="0" tIns="0" rIns="0" bIns="0" rtlCol="0" anchor="ctr"/>
          <a:lstStyle/>
          <a:p>
            <a:pPr indent="0" marL="0">
              <a:buNone/>
            </a:pPr>
            <a:r>
              <a:rPr lang="en-US" sz="1450" b="1" dirty="0">
                <a:solidFill>
                  <a:srgbClr val="A82F23"/>
                </a:solidFill>
              </a:rPr>
              <a:t>3 - Consistency</a:t>
            </a:r>
            <a:endParaRPr lang="en-US" sz="1450" dirty="0"/>
          </a:p>
        </p:txBody>
      </p:sp>
      <p:sp>
        <p:nvSpPr>
          <p:cNvPr id="13" name="Text 11"/>
          <p:cNvSpPr txBox="1"/>
          <p:nvPr/>
        </p:nvSpPr>
        <p:spPr>
          <a:xfrm>
            <a:off x="731520" y="3730752"/>
            <a:ext cx="1783080" cy="365760"/>
          </a:xfrm>
          <a:prstGeom prst="rect">
            <a:avLst/>
          </a:prstGeom>
          <a:noFill/>
          <a:ln/>
        </p:spPr>
        <p:txBody>
          <a:bodyPr wrap="square" lIns="0" tIns="0" rIns="0" bIns="0" rtlCol="0" anchor="ctr"/>
          <a:lstStyle/>
          <a:p>
            <a:pPr indent="0" marL="0">
              <a:buNone/>
            </a:pPr>
            <a:r>
              <a:rPr lang="en-US" sz="1050" dirty="0">
                <a:solidFill>
                  <a:srgbClr val="5E6B7A"/>
                </a:solidFill>
              </a:rPr>
              <a:t>Graph contradicts itself</a:t>
            </a:r>
            <a:endParaRPr lang="en-US" sz="1050" dirty="0"/>
          </a:p>
        </p:txBody>
      </p:sp>
      <p:sp>
        <p:nvSpPr>
          <p:cNvPr id="14" name="Text 12"/>
          <p:cNvSpPr txBox="1"/>
          <p:nvPr/>
        </p:nvSpPr>
        <p:spPr>
          <a:xfrm>
            <a:off x="2606040" y="3364992"/>
            <a:ext cx="8869680" cy="777240"/>
          </a:xfrm>
          <a:prstGeom prst="rect">
            <a:avLst/>
          </a:prstGeom>
          <a:noFill/>
          <a:ln/>
        </p:spPr>
        <p:txBody>
          <a:bodyPr wrap="square" lIns="0" tIns="0" rIns="0" bIns="0" rtlCol="0" anchor="ctr"/>
          <a:lstStyle/>
          <a:p>
            <a:pPr indent="0" marL="0">
              <a:buNone/>
            </a:pPr>
            <a:r>
              <a:rPr lang="en-US" sz="1200" dirty="0">
                <a:solidFill>
                  <a:srgbClr val="1B2530"/>
                </a:solidFill>
              </a:rPr>
              <a:t>495 pairs like 'monensin increases AND reduces feed efficiency' - no dose/species qualifiers, so both sit as flat facts</a:t>
            </a:r>
            <a:endParaRPr lang="en-US" sz="1200" dirty="0"/>
          </a:p>
        </p:txBody>
      </p:sp>
      <p:sp>
        <p:nvSpPr>
          <p:cNvPr id="15" name="Shape 13"/>
          <p:cNvSpPr/>
          <p:nvPr/>
        </p:nvSpPr>
        <p:spPr>
          <a:xfrm>
            <a:off x="548640" y="4315968"/>
            <a:ext cx="11064240" cy="914400"/>
          </a:xfrm>
          <a:prstGeom prst="roundRect">
            <a:avLst>
              <a:gd name="adj" fmla="val 5000"/>
            </a:avLst>
          </a:prstGeom>
          <a:solidFill>
            <a:srgbClr val="FFFFFF"/>
          </a:solidFill>
          <a:ln w="9525">
            <a:solidFill>
              <a:srgbClr val="D8DEE7"/>
            </a:solidFill>
            <a:prstDash val="solid"/>
          </a:ln>
        </p:spPr>
      </p:sp>
      <p:sp>
        <p:nvSpPr>
          <p:cNvPr id="16" name="Text 14"/>
          <p:cNvSpPr txBox="1"/>
          <p:nvPr/>
        </p:nvSpPr>
        <p:spPr>
          <a:xfrm>
            <a:off x="731520" y="4389120"/>
            <a:ext cx="1737360" cy="365760"/>
          </a:xfrm>
          <a:prstGeom prst="rect">
            <a:avLst/>
          </a:prstGeom>
          <a:noFill/>
          <a:ln/>
        </p:spPr>
        <p:txBody>
          <a:bodyPr wrap="square" lIns="0" tIns="0" rIns="0" bIns="0" rtlCol="0" anchor="ctr"/>
          <a:lstStyle/>
          <a:p>
            <a:pPr indent="0" marL="0">
              <a:buNone/>
            </a:pPr>
            <a:r>
              <a:rPr lang="en-US" sz="1450" b="1" dirty="0">
                <a:solidFill>
                  <a:srgbClr val="E8A33D"/>
                </a:solidFill>
              </a:rPr>
              <a:t>4 - Form</a:t>
            </a:r>
            <a:endParaRPr lang="en-US" sz="1450" dirty="0"/>
          </a:p>
        </p:txBody>
      </p:sp>
      <p:sp>
        <p:nvSpPr>
          <p:cNvPr id="17" name="Text 15"/>
          <p:cNvSpPr txBox="1"/>
          <p:nvPr/>
        </p:nvSpPr>
        <p:spPr>
          <a:xfrm>
            <a:off x="731520" y="4773168"/>
            <a:ext cx="1783080" cy="365760"/>
          </a:xfrm>
          <a:prstGeom prst="rect">
            <a:avLst/>
          </a:prstGeom>
          <a:noFill/>
          <a:ln/>
        </p:spPr>
        <p:txBody>
          <a:bodyPr wrap="square" lIns="0" tIns="0" rIns="0" bIns="0" rtlCol="0" anchor="ctr"/>
          <a:lstStyle/>
          <a:p>
            <a:pPr indent="0" marL="0">
              <a:buNone/>
            </a:pPr>
            <a:r>
              <a:rPr lang="en-US" sz="1050" dirty="0">
                <a:solidFill>
                  <a:srgbClr val="5E6B7A"/>
                </a:solidFill>
              </a:rPr>
              <a:t>Garbled surface</a:t>
            </a:r>
            <a:endParaRPr lang="en-US" sz="1050" dirty="0"/>
          </a:p>
        </p:txBody>
      </p:sp>
      <p:sp>
        <p:nvSpPr>
          <p:cNvPr id="18" name="Text 16"/>
          <p:cNvSpPr txBox="1"/>
          <p:nvPr/>
        </p:nvSpPr>
        <p:spPr>
          <a:xfrm>
            <a:off x="2606040" y="4407408"/>
            <a:ext cx="8869680" cy="777240"/>
          </a:xfrm>
          <a:prstGeom prst="rect">
            <a:avLst/>
          </a:prstGeom>
          <a:noFill/>
          <a:ln/>
        </p:spPr>
        <p:txBody>
          <a:bodyPr wrap="square" lIns="0" tIns="0" rIns="0" bIns="0" rtlCol="0" anchor="ctr"/>
          <a:lstStyle/>
          <a:p>
            <a:pPr indent="0" marL="0">
              <a:buNone/>
            </a:pPr>
            <a:r>
              <a:rPr lang="en-US" sz="1200" dirty="0">
                <a:solidFill>
                  <a:srgbClr val="1B2530"/>
                </a:solidFill>
              </a:rPr>
              <a:t>OCR mangles: 'n-6' became 'n/C06' (30 of 34 garbles from this one corruption); nonsense like 'maize is source of broiler chicken'</a:t>
            </a:r>
            <a:endParaRPr lang="en-US" sz="1200" dirty="0"/>
          </a:p>
        </p:txBody>
      </p:sp>
      <p:sp>
        <p:nvSpPr>
          <p:cNvPr id="19" name="Shape 17"/>
          <p:cNvSpPr/>
          <p:nvPr/>
        </p:nvSpPr>
        <p:spPr>
          <a:xfrm>
            <a:off x="548640" y="5358384"/>
            <a:ext cx="11064240" cy="914400"/>
          </a:xfrm>
          <a:prstGeom prst="roundRect">
            <a:avLst>
              <a:gd name="adj" fmla="val 5000"/>
            </a:avLst>
          </a:prstGeom>
          <a:solidFill>
            <a:srgbClr val="EEF1F8"/>
          </a:solidFill>
          <a:ln w="9525">
            <a:solidFill>
              <a:srgbClr val="D8DEE7"/>
            </a:solidFill>
            <a:prstDash val="solid"/>
          </a:ln>
        </p:spPr>
      </p:sp>
      <p:sp>
        <p:nvSpPr>
          <p:cNvPr id="20" name="Text 18"/>
          <p:cNvSpPr txBox="1"/>
          <p:nvPr/>
        </p:nvSpPr>
        <p:spPr>
          <a:xfrm>
            <a:off x="731520" y="5431536"/>
            <a:ext cx="1737360" cy="365760"/>
          </a:xfrm>
          <a:prstGeom prst="rect">
            <a:avLst/>
          </a:prstGeom>
          <a:noFill/>
          <a:ln/>
        </p:spPr>
        <p:txBody>
          <a:bodyPr wrap="square" lIns="0" tIns="0" rIns="0" bIns="0" rtlCol="0" anchor="ctr"/>
          <a:lstStyle/>
          <a:p>
            <a:pPr indent="0" marL="0">
              <a:buNone/>
            </a:pPr>
            <a:r>
              <a:rPr lang="en-US" sz="1450" b="1" dirty="0">
                <a:solidFill>
                  <a:srgbClr val="5E6B7A"/>
                </a:solidFill>
              </a:rPr>
              <a:t>5 - Noise</a:t>
            </a:r>
            <a:endParaRPr lang="en-US" sz="1450" dirty="0"/>
          </a:p>
        </p:txBody>
      </p:sp>
      <p:sp>
        <p:nvSpPr>
          <p:cNvPr id="21" name="Text 19"/>
          <p:cNvSpPr txBox="1"/>
          <p:nvPr/>
        </p:nvSpPr>
        <p:spPr>
          <a:xfrm>
            <a:off x="731520" y="5815584"/>
            <a:ext cx="1783080" cy="365760"/>
          </a:xfrm>
          <a:prstGeom prst="rect">
            <a:avLst/>
          </a:prstGeom>
          <a:noFill/>
          <a:ln/>
        </p:spPr>
        <p:txBody>
          <a:bodyPr wrap="square" lIns="0" tIns="0" rIns="0" bIns="0" rtlCol="0" anchor="ctr"/>
          <a:lstStyle/>
          <a:p>
            <a:pPr indent="0" marL="0">
              <a:buNone/>
            </a:pPr>
            <a:r>
              <a:rPr lang="en-US" sz="1050" dirty="0">
                <a:solidFill>
                  <a:srgbClr val="5E6B7A"/>
                </a:solidFill>
              </a:rPr>
              <a:t>True but worthless</a:t>
            </a:r>
            <a:endParaRPr lang="en-US" sz="1050" dirty="0"/>
          </a:p>
        </p:txBody>
      </p:sp>
      <p:sp>
        <p:nvSpPr>
          <p:cNvPr id="22" name="Text 20"/>
          <p:cNvSpPr txBox="1"/>
          <p:nvPr/>
        </p:nvSpPr>
        <p:spPr>
          <a:xfrm>
            <a:off x="2606040" y="5449824"/>
            <a:ext cx="8869680" cy="777240"/>
          </a:xfrm>
          <a:prstGeom prst="rect">
            <a:avLst/>
          </a:prstGeom>
          <a:noFill/>
          <a:ln/>
        </p:spPr>
        <p:txBody>
          <a:bodyPr wrap="square" lIns="0" tIns="0" rIns="0" bIns="0" rtlCol="0" anchor="ctr"/>
          <a:lstStyle/>
          <a:p>
            <a:pPr indent="0" marL="0">
              <a:buNone/>
            </a:pPr>
            <a:r>
              <a:rPr lang="en-US" sz="1200" dirty="0">
                <a:solidFill>
                  <a:srgbClr val="1B2530"/>
                </a:solidFill>
              </a:rPr>
              <a:t>3,474 'is measured in' triples; 7,603 relation types with 56% used once - retrieval slots fill with filler instead of facts</a:t>
            </a:r>
            <a:endParaRPr lang="en-US" sz="12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Correct, re-verify, repeat: quality goes up</a:t>
            </a:r>
            <a:endParaRPr lang="en-US" sz="3000" dirty="0"/>
          </a:p>
        </p:txBody>
      </p:sp>
      <p:sp>
        <p:nvSpPr>
          <p:cNvPr id="3" name="Shape 1"/>
          <p:cNvSpPr/>
          <p:nvPr/>
        </p:nvSpPr>
        <p:spPr>
          <a:xfrm>
            <a:off x="548640" y="1371600"/>
            <a:ext cx="2651760" cy="3566160"/>
          </a:xfrm>
          <a:prstGeom prst="roundRect">
            <a:avLst>
              <a:gd name="adj" fmla="val 2414"/>
            </a:avLst>
          </a:prstGeom>
          <a:solidFill>
            <a:srgbClr val="EEF1F8"/>
          </a:solidFill>
          <a:ln/>
        </p:spPr>
      </p:sp>
      <p:sp>
        <p:nvSpPr>
          <p:cNvPr id="4" name="Text 2"/>
          <p:cNvSpPr txBox="1"/>
          <p:nvPr/>
        </p:nvSpPr>
        <p:spPr>
          <a:xfrm>
            <a:off x="731520" y="1554480"/>
            <a:ext cx="2286000" cy="411480"/>
          </a:xfrm>
          <a:prstGeom prst="rect">
            <a:avLst/>
          </a:prstGeom>
          <a:noFill/>
          <a:ln/>
        </p:spPr>
        <p:txBody>
          <a:bodyPr wrap="square" lIns="0" tIns="0" rIns="0" bIns="0" rtlCol="0" anchor="ctr"/>
          <a:lstStyle/>
          <a:p>
            <a:pPr indent="0" marL="0">
              <a:buNone/>
            </a:pPr>
            <a:r>
              <a:rPr lang="en-US" sz="1800" b="1" dirty="0">
                <a:solidFill>
                  <a:srgbClr val="3B4CC0"/>
                </a:solidFill>
              </a:rPr>
              <a:t>Detect</a:t>
            </a:r>
            <a:endParaRPr lang="en-US" sz="1800" dirty="0"/>
          </a:p>
        </p:txBody>
      </p:sp>
      <p:sp>
        <p:nvSpPr>
          <p:cNvPr id="5" name="Text 3"/>
          <p:cNvSpPr txBox="1"/>
          <p:nvPr/>
        </p:nvSpPr>
        <p:spPr>
          <a:xfrm>
            <a:off x="731520"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15,466 triples flagged by full-coverage detectors (18.5%) + 950 paper-verified verdicts</a:t>
            </a:r>
            <a:endParaRPr lang="en-US" sz="1150" dirty="0"/>
          </a:p>
        </p:txBody>
      </p:sp>
      <p:sp>
        <p:nvSpPr>
          <p:cNvPr id="6" name="Text 4"/>
          <p:cNvSpPr txBox="1"/>
          <p:nvPr/>
        </p:nvSpPr>
        <p:spPr>
          <a:xfrm>
            <a:off x="3163824"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7" name="Shape 5"/>
          <p:cNvSpPr/>
          <p:nvPr/>
        </p:nvSpPr>
        <p:spPr>
          <a:xfrm>
            <a:off x="3401568" y="1371600"/>
            <a:ext cx="2651760" cy="3566160"/>
          </a:xfrm>
          <a:prstGeom prst="roundRect">
            <a:avLst>
              <a:gd name="adj" fmla="val 2414"/>
            </a:avLst>
          </a:prstGeom>
          <a:solidFill>
            <a:srgbClr val="EEF1F8"/>
          </a:solidFill>
          <a:ln/>
        </p:spPr>
      </p:sp>
      <p:sp>
        <p:nvSpPr>
          <p:cNvPr id="8" name="Text 6"/>
          <p:cNvSpPr txBox="1"/>
          <p:nvPr/>
        </p:nvSpPr>
        <p:spPr>
          <a:xfrm>
            <a:off x="3584448" y="1554480"/>
            <a:ext cx="2286000" cy="411480"/>
          </a:xfrm>
          <a:prstGeom prst="rect">
            <a:avLst/>
          </a:prstGeom>
          <a:noFill/>
          <a:ln/>
        </p:spPr>
        <p:txBody>
          <a:bodyPr wrap="square" lIns="0" tIns="0" rIns="0" bIns="0" rtlCol="0" anchor="ctr"/>
          <a:lstStyle/>
          <a:p>
            <a:pPr indent="0" marL="0">
              <a:buNone/>
            </a:pPr>
            <a:r>
              <a:rPr lang="en-US" sz="1800" b="1" dirty="0">
                <a:solidFill>
                  <a:srgbClr val="3B4CC0"/>
                </a:solidFill>
              </a:rPr>
              <a:t>Reason</a:t>
            </a:r>
            <a:endParaRPr lang="en-US" sz="1800" dirty="0"/>
          </a:p>
        </p:txBody>
      </p:sp>
      <p:sp>
        <p:nvSpPr>
          <p:cNvPr id="9" name="Text 7"/>
          <p:cNvSpPr txBox="1"/>
          <p:nvPr/>
        </p:nvSpPr>
        <p:spPr>
          <a:xfrm>
            <a:off x="3584448"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All 495 contradictions adjudicated case-by-case: 56% conditional (qualify, don't delete), 21% extraction errors, 14% real cross-paper disagreement; 48 garbles corrected - 14 were detector false positives</a:t>
            </a:r>
            <a:endParaRPr lang="en-US" sz="1150" dirty="0"/>
          </a:p>
        </p:txBody>
      </p:sp>
      <p:sp>
        <p:nvSpPr>
          <p:cNvPr id="10" name="Text 8"/>
          <p:cNvSpPr txBox="1"/>
          <p:nvPr/>
        </p:nvSpPr>
        <p:spPr>
          <a:xfrm>
            <a:off x="6016752"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11" name="Shape 9"/>
          <p:cNvSpPr/>
          <p:nvPr/>
        </p:nvSpPr>
        <p:spPr>
          <a:xfrm>
            <a:off x="6254496" y="1371600"/>
            <a:ext cx="2651760" cy="3566160"/>
          </a:xfrm>
          <a:prstGeom prst="roundRect">
            <a:avLst>
              <a:gd name="adj" fmla="val 2414"/>
            </a:avLst>
          </a:prstGeom>
          <a:solidFill>
            <a:srgbClr val="E7F2EC"/>
          </a:solidFill>
          <a:ln/>
        </p:spPr>
      </p:sp>
      <p:sp>
        <p:nvSpPr>
          <p:cNvPr id="12" name="Text 10"/>
          <p:cNvSpPr txBox="1"/>
          <p:nvPr/>
        </p:nvSpPr>
        <p:spPr>
          <a:xfrm>
            <a:off x="6437376" y="1554480"/>
            <a:ext cx="2286000" cy="411480"/>
          </a:xfrm>
          <a:prstGeom prst="rect">
            <a:avLst/>
          </a:prstGeom>
          <a:noFill/>
          <a:ln/>
        </p:spPr>
        <p:txBody>
          <a:bodyPr wrap="square" lIns="0" tIns="0" rIns="0" bIns="0" rtlCol="0" anchor="ctr"/>
          <a:lstStyle/>
          <a:p>
            <a:pPr indent="0" marL="0">
              <a:buNone/>
            </a:pPr>
            <a:r>
              <a:rPr lang="en-US" sz="1800" b="1" dirty="0">
                <a:solidFill>
                  <a:srgbClr val="0E7C5B"/>
                </a:solidFill>
              </a:rPr>
              <a:t>Correct</a:t>
            </a:r>
            <a:endParaRPr lang="en-US" sz="1800" dirty="0"/>
          </a:p>
        </p:txBody>
      </p:sp>
      <p:sp>
        <p:nvSpPr>
          <p:cNvPr id="13" name="Text 11"/>
          <p:cNvSpPr txBox="1"/>
          <p:nvPr/>
        </p:nvSpPr>
        <p:spPr>
          <a:xfrm>
            <a:off x="6437376"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One normalization rule fixes 30/34 garbles; extraction-error sides deleted; conditional pairs get dose/species qualifiers; trivial + singleton relations pruned/merged</a:t>
            </a:r>
            <a:endParaRPr lang="en-US" sz="1150" dirty="0"/>
          </a:p>
        </p:txBody>
      </p:sp>
      <p:sp>
        <p:nvSpPr>
          <p:cNvPr id="14" name="Text 12"/>
          <p:cNvSpPr txBox="1"/>
          <p:nvPr/>
        </p:nvSpPr>
        <p:spPr>
          <a:xfrm>
            <a:off x="8869680" y="2834640"/>
            <a:ext cx="320040" cy="457200"/>
          </a:xfrm>
          <a:prstGeom prst="rect">
            <a:avLst/>
          </a:prstGeom>
          <a:noFill/>
          <a:ln/>
        </p:spPr>
        <p:txBody>
          <a:bodyPr wrap="square" lIns="0" tIns="0" rIns="0" bIns="0" rtlCol="0" anchor="ctr"/>
          <a:lstStyle/>
          <a:p>
            <a:pPr algn="ctr" indent="0" marL="0">
              <a:buNone/>
            </a:pPr>
            <a:r>
              <a:rPr lang="en-US" sz="2400" b="1" dirty="0">
                <a:solidFill>
                  <a:srgbClr val="5E6B7A"/>
                </a:solidFill>
              </a:rPr>
              <a:t>&gt;</a:t>
            </a:r>
            <a:endParaRPr lang="en-US" sz="2400" dirty="0"/>
          </a:p>
        </p:txBody>
      </p:sp>
      <p:sp>
        <p:nvSpPr>
          <p:cNvPr id="15" name="Shape 13"/>
          <p:cNvSpPr/>
          <p:nvPr/>
        </p:nvSpPr>
        <p:spPr>
          <a:xfrm>
            <a:off x="9107424" y="1371600"/>
            <a:ext cx="2651760" cy="3566160"/>
          </a:xfrm>
          <a:prstGeom prst="roundRect">
            <a:avLst>
              <a:gd name="adj" fmla="val 2414"/>
            </a:avLst>
          </a:prstGeom>
          <a:solidFill>
            <a:srgbClr val="E7F2EC"/>
          </a:solidFill>
          <a:ln/>
        </p:spPr>
      </p:sp>
      <p:sp>
        <p:nvSpPr>
          <p:cNvPr id="16" name="Text 14"/>
          <p:cNvSpPr txBox="1"/>
          <p:nvPr/>
        </p:nvSpPr>
        <p:spPr>
          <a:xfrm>
            <a:off x="9290304" y="1554480"/>
            <a:ext cx="2286000" cy="411480"/>
          </a:xfrm>
          <a:prstGeom prst="rect">
            <a:avLst/>
          </a:prstGeom>
          <a:noFill/>
          <a:ln/>
        </p:spPr>
        <p:txBody>
          <a:bodyPr wrap="square" lIns="0" tIns="0" rIns="0" bIns="0" rtlCol="0" anchor="ctr"/>
          <a:lstStyle/>
          <a:p>
            <a:pPr indent="0" marL="0">
              <a:buNone/>
            </a:pPr>
            <a:r>
              <a:rPr lang="en-US" sz="1800" b="1" dirty="0">
                <a:solidFill>
                  <a:srgbClr val="0E7C5B"/>
                </a:solidFill>
              </a:rPr>
              <a:t>Re-verify</a:t>
            </a:r>
            <a:endParaRPr lang="en-US" sz="1800" dirty="0"/>
          </a:p>
        </p:txBody>
      </p:sp>
      <p:sp>
        <p:nvSpPr>
          <p:cNvPr id="17" name="Text 15"/>
          <p:cNvSpPr txBox="1"/>
          <p:nvPr/>
        </p:nvSpPr>
        <p:spPr>
          <a:xfrm>
            <a:off x="9290304" y="2057400"/>
            <a:ext cx="2331720" cy="2743200"/>
          </a:xfrm>
          <a:prstGeom prst="rect">
            <a:avLst/>
          </a:prstGeom>
          <a:noFill/>
          <a:ln/>
        </p:spPr>
        <p:txBody>
          <a:bodyPr wrap="square" lIns="0" tIns="0" rIns="0" bIns="0" rtlCol="0" anchor="ctr"/>
          <a:lstStyle/>
          <a:p>
            <a:pPr indent="0" marL="0">
              <a:buNone/>
            </a:pPr>
            <a:r>
              <a:rPr lang="en-US" sz="1150" dirty="0">
                <a:solidFill>
                  <a:srgbClr val="1B2530"/>
                </a:solidFill>
              </a:rPr>
              <a:t>Corrected triples re-judged against their own source chunks (chunk ids already stored per triple) - two-judge agreement protocol, 94% binary</a:t>
            </a:r>
            <a:endParaRPr lang="en-US" sz="1150" dirty="0"/>
          </a:p>
        </p:txBody>
      </p:sp>
      <p:sp>
        <p:nvSpPr>
          <p:cNvPr id="18" name="Shape 16"/>
          <p:cNvSpPr/>
          <p:nvPr/>
        </p:nvSpPr>
        <p:spPr>
          <a:xfrm>
            <a:off x="548640" y="5257800"/>
            <a:ext cx="11064240" cy="1051560"/>
          </a:xfrm>
          <a:prstGeom prst="roundRect">
            <a:avLst>
              <a:gd name="adj" fmla="val 5217"/>
            </a:avLst>
          </a:prstGeom>
          <a:solidFill>
            <a:srgbClr val="151B33"/>
          </a:solidFill>
          <a:ln/>
        </p:spPr>
      </p:sp>
      <p:sp>
        <p:nvSpPr>
          <p:cNvPr id="19" name="Text 17"/>
          <p:cNvSpPr txBox="1"/>
          <p:nvPr/>
        </p:nvSpPr>
        <p:spPr>
          <a:xfrm>
            <a:off x="822960" y="5440680"/>
            <a:ext cx="10515600" cy="731520"/>
          </a:xfrm>
          <a:prstGeom prst="rect">
            <a:avLst/>
          </a:prstGeom>
          <a:noFill/>
          <a:ln/>
        </p:spPr>
        <p:txBody>
          <a:bodyPr wrap="square" lIns="0" tIns="0" rIns="0" bIns="0" rtlCol="0" anchor="ctr"/>
          <a:lstStyle/>
          <a:p>
            <a:pPr indent="0" marL="0">
              <a:buNone/>
            </a:pPr>
            <a:r>
              <a:rPr lang="en-US" sz="1450" b="1" dirty="0">
                <a:solidFill>
                  <a:srgbClr val="8A97E8"/>
                </a:solidFill>
              </a:rPr>
              <a:t>The loop is the point: </a:t>
            </a:r>
            <a:pPr indent="0" marL="0">
              <a:buNone/>
            </a:pPr>
            <a:r>
              <a:rPr lang="en-US" sz="1450" dirty="0">
                <a:solidFill>
                  <a:srgbClr val="FFFFFF"/>
                </a:solidFill>
              </a:rPr>
              <a:t>each pass removes a named error class and is re-verified before it lands - so KG quality rises measurably, release by release, instead of by hope.</a:t>
            </a:r>
            <a:endParaRPr lang="en-US" sz="145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The quality loop as a workflow</a:t>
            </a:r>
            <a:endParaRPr lang="en-US" sz="3000" dirty="0"/>
          </a:p>
        </p:txBody>
      </p:sp>
      <p:pic>
        <p:nvPicPr>
          <p:cNvPr id="3" name="Image 0" descr="/Users/srikarsankranti/Desktop/Directed Studies/experiments/sumanth-kg-eval/all-groups/viz_workflow_eval.png">    </p:cNvPr>
          <p:cNvPicPr>
            <a:picLocks noChangeAspect="1"/>
          </p:cNvPicPr>
          <p:nvPr/>
        </p:nvPicPr>
        <p:blipFill>
          <a:blip r:embed="rId1"/>
          <a:stretch>
            <a:fillRect/>
          </a:stretch>
        </p:blipFill>
        <p:spPr>
          <a:xfrm>
            <a:off x="457200" y="1554480"/>
            <a:ext cx="11292840" cy="4206240"/>
          </a:xfrm>
          <a:prstGeom prst="rect">
            <a:avLst/>
          </a:prstGeom>
        </p:spPr>
      </p:pic>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31520"/>
          </a:xfrm>
          <a:prstGeom prst="rect">
            <a:avLst/>
          </a:prstGeom>
          <a:noFill/>
          <a:ln/>
        </p:spPr>
        <p:txBody>
          <a:bodyPr wrap="square" rtlCol="0"/>
          <a:lstStyle/>
          <a:p>
            <a:pPr algn="l" indent="0" marL="0">
              <a:buNone/>
            </a:pPr>
            <a:r>
              <a:rPr lang="en-US" sz="3000" b="1" dirty="0">
                <a:solidFill>
                  <a:srgbClr val="1B2530"/>
                </a:solidFill>
              </a:rPr>
              <a:t>Second half: make the KG pass its own evaluation</a:t>
            </a:r>
            <a:endParaRPr lang="en-US" sz="3000" dirty="0"/>
          </a:p>
        </p:txBody>
      </p:sp>
      <p:sp>
        <p:nvSpPr>
          <p:cNvPr id="3" name="Shape 1"/>
          <p:cNvSpPr/>
          <p:nvPr/>
        </p:nvSpPr>
        <p:spPr>
          <a:xfrm>
            <a:off x="548640" y="1234440"/>
            <a:ext cx="5394960" cy="4892040"/>
          </a:xfrm>
          <a:prstGeom prst="roundRect">
            <a:avLst>
              <a:gd name="adj" fmla="val 1121"/>
            </a:avLst>
          </a:prstGeom>
          <a:solidFill>
            <a:srgbClr val="EEF1F8"/>
          </a:solidFill>
          <a:ln/>
        </p:spPr>
      </p:sp>
      <p:sp>
        <p:nvSpPr>
          <p:cNvPr id="4" name="Text 2"/>
          <p:cNvSpPr txBox="1"/>
          <p:nvPr/>
        </p:nvSpPr>
        <p:spPr>
          <a:xfrm>
            <a:off x="777240" y="1417320"/>
            <a:ext cx="4937760" cy="365760"/>
          </a:xfrm>
          <a:prstGeom prst="rect">
            <a:avLst/>
          </a:prstGeom>
          <a:noFill/>
          <a:ln/>
        </p:spPr>
        <p:txBody>
          <a:bodyPr wrap="square" lIns="0" tIns="0" rIns="0" bIns="0" rtlCol="0" anchor="ctr"/>
          <a:lstStyle/>
          <a:p>
            <a:pPr indent="0" marL="0">
              <a:buNone/>
            </a:pPr>
            <a:r>
              <a:rPr lang="en-US" sz="1600" b="1" dirty="0">
                <a:solidFill>
                  <a:srgbClr val="3B4CC0"/>
                </a:solidFill>
              </a:rPr>
              <a:t>Find the best evaluation methods</a:t>
            </a:r>
            <a:endParaRPr lang="en-US" sz="1600" dirty="0"/>
          </a:p>
        </p:txBody>
      </p:sp>
      <p:sp>
        <p:nvSpPr>
          <p:cNvPr id="5" name="Text 3"/>
          <p:cNvSpPr txBox="1"/>
          <p:nvPr/>
        </p:nvSpPr>
        <p:spPr>
          <a:xfrm>
            <a:off x="777240" y="1874520"/>
            <a:ext cx="4983480" cy="4023360"/>
          </a:xfrm>
          <a:prstGeom prst="rect">
            <a:avLst/>
          </a:prstGeom>
          <a:noFill/>
          <a:ln/>
        </p:spPr>
        <p:txBody>
          <a:bodyPr wrap="square" rtlCol="0" anchor="t"/>
          <a:lstStyle/>
          <a:p>
            <a:pPr marL="342900" indent="-342900">
              <a:spcAft>
                <a:spcPts val="800"/>
              </a:spcAft>
              <a:buSzPct val="100000"/>
              <a:buChar char="•"/>
            </a:pPr>
            <a:r>
              <a:rPr lang="en-US" sz="1400" dirty="0">
                <a:solidFill>
                  <a:srgbClr val="1B2530"/>
                </a:solidFill>
              </a:rPr>
              <a:t>CI gate on every graph build: deterministic detectors, zero new high-severity defects</a:t>
            </a:r>
            <a:endParaRPr lang="en-US" sz="1400" dirty="0"/>
          </a:p>
          <a:p>
            <a:pPr marL="342900" indent="-342900">
              <a:spcAft>
                <a:spcPts val="800"/>
              </a:spcAft>
              <a:buSzPct val="100000"/>
              <a:buChar char="•"/>
            </a:pPr>
            <a:r>
              <a:rPr lang="en-US" sz="1400" dirty="0">
                <a:solidFill>
                  <a:srgbClr val="1B2530"/>
                </a:solidFill>
              </a:rPr>
              <a:t>Judge stage: every triple vs its own source chunk (GraphJudge released weights now; domain fine-tune on HPRC - allocation in hand)</a:t>
            </a:r>
            <a:endParaRPr lang="en-US" sz="1400" dirty="0"/>
          </a:p>
          <a:p>
            <a:pPr marL="342900" indent="-342900">
              <a:spcAft>
                <a:spcPts val="800"/>
              </a:spcAft>
              <a:buSzPct val="100000"/>
              <a:buChar char="•"/>
            </a:pPr>
            <a:r>
              <a:rPr lang="en-US" sz="1400" dirty="0">
                <a:solidFill>
                  <a:srgbClr val="1B2530"/>
                </a:solidFill>
              </a:rPr>
              <a:t>Gold set: expand the 950 verified triples into the team's labeled standard</a:t>
            </a:r>
            <a:endParaRPr lang="en-US" sz="1400" dirty="0"/>
          </a:p>
          <a:p>
            <a:pPr marL="342900" indent="-342900">
              <a:spcAft>
                <a:spcPts val="800"/>
              </a:spcAft>
              <a:buSzPct val="100000"/>
              <a:buChar char="•"/>
            </a:pPr>
            <a:r>
              <a:rPr lang="en-US" sz="1400" dirty="0">
                <a:solidFill>
                  <a:srgbClr val="1B2530"/>
                </a:solidFill>
              </a:rPr>
              <a:t>Keep the answer-level benchmark, but length-controlled and with an independent judge model</a:t>
            </a:r>
            <a:endParaRPr lang="en-US" sz="1400" dirty="0"/>
          </a:p>
        </p:txBody>
      </p:sp>
      <p:sp>
        <p:nvSpPr>
          <p:cNvPr id="6" name="Shape 4"/>
          <p:cNvSpPr/>
          <p:nvPr/>
        </p:nvSpPr>
        <p:spPr>
          <a:xfrm>
            <a:off x="6217920" y="1234440"/>
            <a:ext cx="5394960" cy="4892040"/>
          </a:xfrm>
          <a:prstGeom prst="roundRect">
            <a:avLst>
              <a:gd name="adj" fmla="val 1121"/>
            </a:avLst>
          </a:prstGeom>
          <a:solidFill>
            <a:srgbClr val="E7F2EC"/>
          </a:solidFill>
          <a:ln/>
        </p:spPr>
      </p:sp>
      <p:sp>
        <p:nvSpPr>
          <p:cNvPr id="7" name="Text 5"/>
          <p:cNvSpPr txBox="1"/>
          <p:nvPr/>
        </p:nvSpPr>
        <p:spPr>
          <a:xfrm>
            <a:off x="6446520" y="1417320"/>
            <a:ext cx="4937760" cy="365760"/>
          </a:xfrm>
          <a:prstGeom prst="rect">
            <a:avLst/>
          </a:prstGeom>
          <a:noFill/>
          <a:ln/>
        </p:spPr>
        <p:txBody>
          <a:bodyPr wrap="square" lIns="0" tIns="0" rIns="0" bIns="0" rtlCol="0" anchor="ctr"/>
          <a:lstStyle/>
          <a:p>
            <a:pPr indent="0" marL="0">
              <a:buNone/>
            </a:pPr>
            <a:r>
              <a:rPr lang="en-US" sz="1600" b="1" dirty="0">
                <a:solidFill>
                  <a:srgbClr val="0E7C5B"/>
                </a:solidFill>
              </a:rPr>
              <a:t>Improve the KG until it passes</a:t>
            </a:r>
            <a:endParaRPr lang="en-US" sz="1600" dirty="0"/>
          </a:p>
        </p:txBody>
      </p:sp>
      <p:sp>
        <p:nvSpPr>
          <p:cNvPr id="8" name="Text 6"/>
          <p:cNvSpPr txBox="1"/>
          <p:nvPr/>
        </p:nvSpPr>
        <p:spPr>
          <a:xfrm>
            <a:off x="6446520" y="1874520"/>
            <a:ext cx="4983480" cy="4023360"/>
          </a:xfrm>
          <a:prstGeom prst="rect">
            <a:avLst/>
          </a:prstGeom>
          <a:noFill/>
          <a:ln/>
        </p:spPr>
        <p:txBody>
          <a:bodyPr wrap="square" rtlCol="0" anchor="t"/>
          <a:lstStyle/>
          <a:p>
            <a:pPr marL="342900" indent="-342900">
              <a:spcAft>
                <a:spcPts val="800"/>
              </a:spcAft>
              <a:buSzPct val="100000"/>
              <a:buChar char="•"/>
            </a:pPr>
            <a:r>
              <a:rPr lang="en-US" sz="1400" b="1" dirty="0">
                <a:solidFill>
                  <a:srgbClr val="1B2530"/>
                </a:solidFill>
              </a:rPr>
              <a:t>Fix giant-graph retrieval: add cross-encoder reranking to the graph path; go beyond 1-hop (path search / Personalized PageRank); scale caps with graph size</a:t>
            </a:r>
            <a:endParaRPr lang="en-US" sz="1400" dirty="0"/>
          </a:p>
          <a:p>
            <a:pPr marL="342900" indent="-342900">
              <a:spcAft>
                <a:spcPts val="800"/>
              </a:spcAft>
              <a:buSzPct val="100000"/>
              <a:buChar char="•"/>
            </a:pPr>
            <a:r>
              <a:rPr lang="en-US" sz="1400" dirty="0">
                <a:solidFill>
                  <a:srgbClr val="1B2530"/>
                </a:solidFill>
              </a:rPr>
              <a:t>Qualified triples: dose / species / phase fields - turns the 56% conditional contradictions into coexisting correct facts (our research contribution)</a:t>
            </a:r>
            <a:endParaRPr lang="en-US" sz="1400" dirty="0"/>
          </a:p>
          <a:p>
            <a:pPr marL="342900" indent="-342900">
              <a:spcAft>
                <a:spcPts val="800"/>
              </a:spcAft>
              <a:buSzPct val="100000"/>
              <a:buChar char="•"/>
            </a:pPr>
            <a:r>
              <a:rPr lang="en-US" sz="1400" dirty="0">
                <a:solidFill>
                  <a:srgbClr val="1B2530"/>
                </a:solidFill>
              </a:rPr>
              <a:t>OCR normalization + abbreviation tables before extraction; controlled ~40-relation vocabulary</a:t>
            </a:r>
            <a:endParaRPr lang="en-US" sz="1400" dirty="0"/>
          </a:p>
          <a:p>
            <a:pPr marL="342900" indent="-342900">
              <a:spcAft>
                <a:spcPts val="800"/>
              </a:spcAft>
              <a:buSzPct val="100000"/>
              <a:buChar char="•"/>
            </a:pPr>
            <a:r>
              <a:rPr lang="en-US" sz="1400" b="1" dirty="0">
                <a:solidFill>
                  <a:srgbClr val="1B2530"/>
                </a:solidFill>
              </a:rPr>
              <a:t>Success test: on the whole corpus, GraphRAG ties or beats RAG with length-matched answers, an independent judge, and an expert spot-check</a:t>
            </a:r>
            <a:endParaRPr lang="en-US" sz="1400" dirty="0"/>
          </a:p>
        </p:txBody>
      </p:sp>
      <p:sp>
        <p:nvSpPr>
          <p:cNvPr id="25" name="Slide Number Placeholder 0"/>
          <p:cNvSpPr>
            <a:spLocks noGrp="1"/>
          </p:cNvSpPr>
          <p:nvPr>
            <p:ph type="sldNum" sz="quarter" idx="4294967295"/>
          </p:nvPr>
        </p:nvSpPr>
        <p:spPr>
          <a:xfrm>
            <a:off x="1152144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E6B7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p>
            <a:pPr algn="l" indent="0" marL="0">
              <a:buNone/>
            </a:pPr>
            <a:r>
              <a:rPr lang="en-US" sz="4400" b="1" dirty="0">
                <a:solidFill>
                  <a:srgbClr val="FFFFFF"/>
                </a:solidFill>
              </a:rPr>
              <a:t>Where we stand</a:t>
            </a:r>
            <a:endParaRPr lang="en-US" sz="4400" dirty="0"/>
          </a:p>
        </p:txBody>
      </p:sp>
      <p:sp>
        <p:nvSpPr>
          <p:cNvPr id="3" name="Text 1"/>
          <p:cNvSpPr txBox="1"/>
          <p:nvPr/>
        </p:nvSpPr>
        <p:spPr>
          <a:xfrm>
            <a:off x="731520" y="3383280"/>
            <a:ext cx="10607040" cy="2377440"/>
          </a:xfrm>
          <a:prstGeom prst="rect">
            <a:avLst/>
          </a:prstGeom>
          <a:noFill/>
          <a:ln/>
        </p:spPr>
        <p:txBody>
          <a:bodyPr wrap="square" rtlCol="0" anchor="t"/>
          <a:lstStyle/>
          <a:p>
            <a:pPr indent="0" marL="0">
              <a:spcAft>
                <a:spcPts val="1000"/>
              </a:spcAft>
              <a:buNone/>
            </a:pPr>
            <a:r>
              <a:rPr lang="en-US" sz="1600" b="1" dirty="0">
                <a:solidFill>
                  <a:srgbClr val="8A97E8"/>
                </a:solidFill>
              </a:rPr>
              <a:t>Built: </a:t>
            </a:r>
            <a:pPr indent="0" marL="0">
              <a:spcAft>
                <a:spcPts val="1000"/>
              </a:spcAft>
              <a:buNone/>
            </a:pPr>
            <a:r>
              <a:rPr lang="en-US" sz="1600" dirty="0">
                <a:solidFill>
                  <a:srgbClr val="FFFFFF"/>
                </a:solidFill>
              </a:rPr>
              <a:t>both pipelines, 39 graphs + the giant graph, 83,554 triples, full evaluation stack
</a:t>
            </a:r>
            <a:pPr indent="0" marL="0">
              <a:spcAft>
                <a:spcPts val="1000"/>
              </a:spcAft>
              <a:buNone/>
            </a:pPr>
            <a:r>
              <a:rPr lang="en-US" sz="1600" b="1" dirty="0">
                <a:solidFill>
                  <a:srgbClr val="8A97E8"/>
                </a:solidFill>
              </a:rPr>
              <a:t>Learned: </a:t>
            </a:r>
            <a:pPr indent="0" marL="0">
              <a:spcAft>
                <a:spcPts val="1000"/>
              </a:spcAft>
              <a:buNone/>
            </a:pPr>
            <a:r>
              <a:rPr lang="en-US" sz="1600" dirty="0">
                <a:solidFill>
                  <a:srgbClr val="FFFFFF"/>
                </a:solidFill>
              </a:rPr>
              <a:t>GraphRAG wins groupwise; at 283-paper scale retrieval design (1-hop, caps, no reranker) hands the win to RAG; ~30% of triplets are flawed for 5 nameable reasons
</a:t>
            </a:r>
            <a:pPr indent="0" marL="0">
              <a:spcAft>
                <a:spcPts val="1000"/>
              </a:spcAft>
              <a:buNone/>
            </a:pPr>
            <a:r>
              <a:rPr lang="en-US" sz="1600" b="1" dirty="0">
                <a:solidFill>
                  <a:srgbClr val="8A97E8"/>
                </a:solidFill>
              </a:rPr>
              <a:t>Doing: </a:t>
            </a:r>
            <a:pPr indent="0" marL="0">
              <a:spcAft>
                <a:spcPts val="1000"/>
              </a:spcAft>
              <a:buNone/>
            </a:pPr>
            <a:r>
              <a:rPr lang="en-US" sz="1600" dirty="0">
                <a:solidFill>
                  <a:srgbClr val="FFFFFF"/>
                </a:solidFill>
              </a:rPr>
              <a:t>detect -&gt; reason -&gt; correct -&gt; re-verify loop; evaluation harness; graph-retrieval fixes; qualified triples
</a:t>
            </a:r>
            <a:pPr indent="0" marL="0">
              <a:spcAft>
                <a:spcPts val="1000"/>
              </a:spcAft>
              <a:buNone/>
            </a:pPr>
            <a:r>
              <a:rPr lang="en-US" sz="1600" b="1" dirty="0">
                <a:solidFill>
                  <a:srgbClr val="8A97E8"/>
                </a:solidFill>
              </a:rPr>
              <a:t>Deliverables: </a:t>
            </a:r>
            <a:pPr indent="0" marL="0">
              <a:spcAft>
                <a:spcPts val="1000"/>
              </a:spcAft>
              <a:buNone/>
            </a:pPr>
            <a:r>
              <a:rPr lang="en-US" sz="1600" dirty="0">
                <a:solidFill>
                  <a:srgbClr val="FFFFFF"/>
                </a:solidFill>
              </a:rPr>
              <a:t>evaluation report + bad-triple catalog + reproducible codebase in the team repos</a:t>
            </a:r>
            <a:endParaRPr lang="en-US" sz="1600" dirty="0"/>
          </a:p>
        </p:txBody>
      </p:sp>
      <p:sp>
        <p:nvSpPr>
          <p:cNvPr id="4" name="Text 2"/>
          <p:cNvSpPr txBox="1"/>
          <p:nvPr/>
        </p:nvSpPr>
        <p:spPr>
          <a:xfrm>
            <a:off x="731520" y="6126480"/>
            <a:ext cx="10058400" cy="365760"/>
          </a:xfrm>
          <a:prstGeom prst="rect">
            <a:avLst/>
          </a:prstGeom>
          <a:noFill/>
          <a:ln/>
        </p:spPr>
        <p:txBody>
          <a:bodyPr wrap="square" lIns="0" tIns="0" rIns="0" bIns="0" rtlCol="0" anchor="ctr"/>
          <a:lstStyle/>
          <a:p>
            <a:pPr indent="0" marL="0">
              <a:buNone/>
            </a:pPr>
            <a:r>
              <a:rPr lang="en-US" sz="1300" dirty="0">
                <a:solidFill>
                  <a:srgbClr val="9AA6C8"/>
                </a:solidFill>
              </a:rPr>
              <a:t>Questions - TAU Group</a:t>
            </a:r>
            <a:endParaRPr lang="en-US" sz="1300" dirty="0"/>
          </a:p>
        </p:txBody>
      </p:sp>
    </p:spTree>
  </p:cSld>
  <p:clrMapOvr>
    <a:masterClrMapping/>
  </p:clrMapOvr>
</p:sld>
</file>

<file path=ppt/theme/theme1.xml><?xml version="1.0" encoding="utf-8"?>
<a:theme xmlns:a="http://schemas.openxmlformats.org/drawingml/2006/main" name="KGCompass Midpoint">
  <a:themeElements>
    <a:clrScheme name="KGCompass Midpoint">
      <a:dk1>
        <a:srgbClr val="1B2530"/>
      </a:dk1>
      <a:lt1>
        <a:srgbClr val="FFFFFF"/>
      </a:lt1>
      <a:dk2>
        <a:srgbClr val="151B33"/>
      </a:dk2>
      <a:lt2>
        <a:srgbClr val="EEF1F8"/>
      </a:lt2>
      <a:accent1>
        <a:srgbClr val="3B4CC0"/>
      </a:accent1>
      <a:accent2>
        <a:srgbClr val="0E7C5B"/>
      </a:accent2>
      <a:accent3>
        <a:srgbClr val="E8A33D"/>
      </a:accent3>
      <a:accent4>
        <a:srgbClr val="A82F23"/>
      </a:accent4>
      <a:accent5>
        <a:srgbClr val="37B8D6"/>
      </a:accent5>
      <a:accent6>
        <a:srgbClr val="8A97E8"/>
      </a:accent6>
      <a:hlink>
        <a:srgbClr val="3B4CC0"/>
      </a:hlink>
      <a:folHlink>
        <a:srgbClr val="6D5BD0"/>
      </a:folHlink>
    </a:clrScheme>
    <a:fontScheme name="KGCompass Midpo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Texas A&amp;M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TAU Group</dc:creator>
  <cp:lastModifiedBy>TAU Group</cp:lastModifiedBy>
  <cp:revision>1</cp:revision>
  <dcterms:created xsi:type="dcterms:W3CDTF">2026-10-20T01:19:00Z</dcterms:created>
  <dcterms:modified xsi:type="dcterms:W3CDTF">2026-10-20T01:19:00Z</dcterms:modified>
</cp:coreProperties>
</file>