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I am Srikar. Today I will walk us through the GraphJudge paper that Professor Tao and Sumanth shared with us, since we will be implementing it for KGCompass. Quick credibility note: this was accepted at EMNLP 2025 main conference, and the authors released both their code and their trained model weights, which helps us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paper itself, why do we care. I got this framing from Sumanth: our end goal is a GraphRAG system, and as Professor Tao said, before we use a KG for GraphRAG we need the triplets to be as close to 100 percent accurate as possible. One wrong triple can poison every answer built on top of it. The examples on the right show what triples look like, including a real failure where an LLM extracted an advertisement as a medical fact.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failure modes when you naively ask an LLM to extract triples. One, noise: real documents have ads and boilerplate and the model extracts them. Two, missing domain knowledge: the text says linked to better outcomes and the model writes cured. Three, hallucination: triples invented from nothing. Note all three are precision failures, which is exactly why Professor Tao asked Sumanth to start with checking triplet accuracy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of the paper in one line: use two models with different jobs. A big closed model over-generates candidate triples so we do not miss facts, recall. Then a small open model, fine-tuned for exactly one question, is this triple true given this document, filters them, precision. The surprising result: the little fine-tuned 7B judge is over 90 percent accurate at judging, better than GPT-4o itself at that narrow task.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three modules. ECTD cleans the document and over-extracts candidates. KASFT is where the judge is trained with LoRA. GJ is the filtering step. Important for us: the only training in the whole system is the small judge, and it runs on a single 48 GB GPU in 500 steps, so this fits TAMU HPRC easily.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KGCompass system view. Professor Tao shared an AI-generated visual of this architecture in the group, image models garble text, so this is the same three layer structure recreated with clean labels. Bottom layer, data ingestion and ECTD denoising. Middle layer, the knowledge graph itself with the graph judge filtering candidate triples and the retrieval engine, plus the pruning step. Top layer, the LLM that assembles graph context and answers with citations. The right rail is the user loop, a query goes down to retrieval and a cited answer comes back.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one, ECTD. First the LLM lists the entities, then rewrites the document around those entities, which drops ads and noise. Then it extracts as many candidate triples as possible on purpose. The ablation shows why this matters: removing ECTD drops the score from 0.58 to 0.45 on REBEL. Garbage in, garbage out, even with a perfect judge.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two, how the judge is trained. Positives are real triples from gold graphs, negatives are the same triples with the tail entity swapped randomly. Each training example shows the document and asks yes or no about one triple. The prompt on the right is copied from the paper appendix, we can reuse it almost as is for animal science.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across four benchmarks, the metric is G-BERTScore F1, semantic matching. GraphJudge is best everywhere. Two takeaways worth saying out loud: a 7B judge beats PiVe which uses a 70B verifier, and it beats plain GPT-4o, so this is better AND much cheaper. Also the judge transfers across datasets, trained on one corpus it still helps on others.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evaluation, which Professor Tao called the most challenging part. Exact string match is too harsh, part of versus component of should not count as wrong, so the field uses soft metrics, and G-BERTScore with embeddings is the headline one. The catch for us: every metric here needs a gold reference graph, and no gold KG exists for animal science. So one of our first team tasks is hand-building a small gold set. I would like the group's input on how we split that labeling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own hands-on work from this week, not the paper. I cloned the official repo, fixed a small device bug for Mac, ran an extraction pass on 15 SCIERC abstracts, then a strict filtering pass, and scored both with the paper's own metric code. Filtering raised precision on every metric, that is the graph judge effect reproduced. But my crude filter also deleted correct triples so recall fell. That is exactly why they fine-tune a judge instead of using rules. Sumanth is leading the triplet accuracy checking that Professor Tao assigned, and this experiment supports that direction directly.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Mapping to our project. From what Sumanth explained to me about the KGCompass plan: the capstone side builds the animal science KG, and the directed studies side produces the research, evaluating construction approaches and pruning. GraphJudge gives us the recipe: over-generate, judge, filter. The gold set we label as a team does double duty, judge training data and evaluation standard. And the released weights mean we can demo a judge before training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critically, the authors admit three limitations, and each one is a paper opportunity for us: richer knowledge units beyond flat triples, evaluation without gold graphs, and the judge being weaker on specialized text, SCIERC 0.63 versus 0.92 on general text, which says domain gold data matters. Sumanth also mentioned the pruning idea, removing low value nodes to improve accuracy, which fits here as the post-construction complement to judge filtering.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two month plan. Weeks one and two, full SCIERC reproduction with the released judge weights and HPRC set up. Weeks three and four, assemble the animal science corpus, I understood from Sumanth that Dr. Kaniyamattam will guide the corpus side, and run ECTD over it. Weeks five and six, team labeling sprint and fine-tune the domain judge. Weeks seven and eight, filter the full KG, measure against the gold set, and first pruning experiments. Happy to adjust this with everyone's availability.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PAPER WALKTHROUGH · EMNLP 2025 MAIN CONFERENCE</a:t>
            </a:r>
          </a:p>
        </p:txBody>
      </p:sp>
      <p:sp>
        <p:nvSpPr>
          <p:cNvPr id="3" name="TextBox 2"/>
          <p:cNvSpPr txBox="1"/>
          <p:nvPr/>
        </p:nvSpPr>
        <p:spPr>
          <a:xfrm>
            <a:off x="548640" y="1371600"/>
            <a:ext cx="11064240" cy="2194560"/>
          </a:xfrm>
          <a:prstGeom prst="rect">
            <a:avLst/>
          </a:prstGeom>
          <a:noFill/>
        </p:spPr>
        <p:txBody>
          <a:bodyPr wrap="square">
            <a:spAutoFit/>
          </a:bodyPr>
          <a:lstStyle/>
          <a:p>
            <a:r>
              <a:rPr sz="4000" b="1" i="0">
                <a:solidFill>
                  <a:srgbClr val="1B2530"/>
                </a:solidFill>
                <a:latin typeface="Georgia"/>
              </a:rPr>
              <a:t>Can LLMs be Good Graph Judge for
Knowledge Graph Construction?</a:t>
            </a:r>
          </a:p>
        </p:txBody>
      </p:sp>
      <p:sp>
        <p:nvSpPr>
          <p:cNvPr id="4" name="TextBox 3"/>
          <p:cNvSpPr txBox="1"/>
          <p:nvPr/>
        </p:nvSpPr>
        <p:spPr>
          <a:xfrm>
            <a:off x="548640" y="3657600"/>
            <a:ext cx="10972800" cy="1097280"/>
          </a:xfrm>
          <a:prstGeom prst="rect">
            <a:avLst/>
          </a:prstGeom>
          <a:noFill/>
        </p:spPr>
        <p:txBody>
          <a:bodyPr wrap="square">
            <a:spAutoFit/>
          </a:bodyPr>
          <a:lstStyle/>
          <a:p>
            <a:pPr>
              <a:spcAft>
                <a:spcPts val="600"/>
              </a:spcAft>
            </a:pPr>
            <a:r>
              <a:rPr sz="1600" b="0" i="0">
                <a:solidFill>
                  <a:srgbClr val="5E6B7A"/>
                </a:solidFill>
                <a:latin typeface="Calibri"/>
              </a:rPr>
              <a:t>Huang, Chen, Sheng, Li, Zhang — HKUST · Huawei Cloud · Peking University</a:t>
            </a:r>
          </a:p>
          <a:p>
            <a:pPr>
              <a:spcAft>
                <a:spcPts val="600"/>
              </a:spcAft>
            </a:pPr>
            <a:r>
              <a:rPr sz="1400" b="0" i="0">
                <a:solidFill>
                  <a:srgbClr val="5E6B7A"/>
                </a:solidFill>
                <a:latin typeface="Calibri"/>
              </a:rPr>
              <a:t>arXiv 2411.17388  ·  code: github.com/hhy-huang/GraphJudge</a:t>
            </a:r>
          </a:p>
        </p:txBody>
      </p:sp>
      <p:sp>
        <p:nvSpPr>
          <p:cNvPr id="5" name="TextBox 4"/>
          <p:cNvSpPr txBox="1"/>
          <p:nvPr/>
        </p:nvSpPr>
        <p:spPr>
          <a:xfrm>
            <a:off x="548640" y="5577840"/>
            <a:ext cx="10972800" cy="822960"/>
          </a:xfrm>
          <a:prstGeom prst="rect">
            <a:avLst/>
          </a:prstGeom>
          <a:noFill/>
        </p:spPr>
        <p:txBody>
          <a:bodyPr wrap="square">
            <a:spAutoFit/>
          </a:bodyPr>
          <a:lstStyle/>
          <a:p>
            <a:pPr>
              <a:spcAft>
                <a:spcPts val="600"/>
              </a:spcAft>
            </a:pPr>
            <a:r>
              <a:rPr sz="1400" b="1" i="0">
                <a:solidFill>
                  <a:srgbClr val="3B4CC0"/>
                </a:solidFill>
                <a:latin typeface="Calibri"/>
              </a:rPr>
              <a:t>TAU Group — KGCompass   |   Presented by Srikar Sankranti   |   Directed Studies · Prof. Jian Tao</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WHY THIS PAPER, FOR THIS TEAM</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GraphRAG is only as good as its triples</a:t>
            </a:r>
          </a:p>
        </p:txBody>
      </p:sp>
      <p:sp>
        <p:nvSpPr>
          <p:cNvPr id="4" name="TextBox 3"/>
          <p:cNvSpPr txBox="1"/>
          <p:nvPr/>
        </p:nvSpPr>
        <p:spPr>
          <a:xfrm>
            <a:off x="548640" y="1737360"/>
            <a:ext cx="5577840" cy="4389120"/>
          </a:xfrm>
          <a:prstGeom prst="rect">
            <a:avLst/>
          </a:prstGeom>
          <a:noFill/>
        </p:spPr>
        <p:txBody>
          <a:bodyPr wrap="square">
            <a:spAutoFit/>
          </a:bodyPr>
          <a:lstStyle/>
          <a:p>
            <a:pPr>
              <a:spcAft>
                <a:spcPts val="1000"/>
              </a:spcAft>
            </a:pPr>
            <a:r>
              <a:rPr sz="1600" b="0" i="0">
                <a:solidFill>
                  <a:srgbClr val="1B2530"/>
                </a:solidFill>
                <a:latin typeface="Calibri"/>
              </a:rPr>
              <a:t>Our pipeline: build a domain knowledge graph, then answer questions over it with retrieval (GraphRAG).</a:t>
            </a:r>
          </a:p>
          <a:p>
            <a:pPr>
              <a:spcAft>
                <a:spcPts val="1000"/>
              </a:spcAft>
            </a:pPr>
            <a:r>
              <a:rPr sz="1600" b="1" i="0">
                <a:solidFill>
                  <a:srgbClr val="3B4CC0"/>
                </a:solidFill>
                <a:latin typeface="Calibri"/>
              </a:rPr>
              <a:t>Before we use a KG for GraphRAG, we need the triplets to be as close to 100% accurate as possible. Wrong triples poison every answer downstream.</a:t>
            </a:r>
          </a:p>
          <a:p>
            <a:pPr>
              <a:spcAft>
                <a:spcPts val="600"/>
              </a:spcAft>
            </a:pPr>
            <a:r>
              <a:rPr sz="1600" b="0" i="0">
                <a:solidFill>
                  <a:srgbClr val="1B2530"/>
                </a:solidFill>
                <a:latin typeface="Calibri"/>
              </a:rPr>
              <a:t>This paper is the current state of the art for exactly that step: verifying triplet correctness at scale.</a:t>
            </a:r>
          </a:p>
        </p:txBody>
      </p:sp>
      <p:sp>
        <p:nvSpPr>
          <p:cNvPr id="5" name="TextBox 4"/>
          <p:cNvSpPr txBox="1"/>
          <p:nvPr/>
        </p:nvSpPr>
        <p:spPr>
          <a:xfrm>
            <a:off x="6492240" y="1737360"/>
            <a:ext cx="5120640" cy="4389120"/>
          </a:xfrm>
          <a:prstGeom prst="rect">
            <a:avLst/>
          </a:prstGeom>
          <a:noFill/>
        </p:spPr>
        <p:txBody>
          <a:bodyPr wrap="square">
            <a:spAutoFit/>
          </a:bodyPr>
          <a:lstStyle/>
          <a:p>
            <a:pPr>
              <a:spcAft>
                <a:spcPts val="600"/>
              </a:spcAft>
            </a:pPr>
            <a:r>
              <a:rPr sz="1300" b="0" i="0">
                <a:solidFill>
                  <a:srgbClr val="5E6B7A"/>
                </a:solidFill>
                <a:latin typeface="Calibri"/>
              </a:rPr>
              <a:t>A knowledge graph stores facts as triples:</a:t>
            </a:r>
          </a:p>
          <a:p>
            <a:pPr>
              <a:spcAft>
                <a:spcPts val="600"/>
              </a:spcAft>
            </a:pPr>
            <a:r>
              <a:rPr sz="1400" b="0" i="0">
                <a:solidFill>
                  <a:srgbClr val="1B2530"/>
                </a:solidFill>
                <a:latin typeface="Consolas"/>
              </a:rPr>
              <a:t>(Holstein — breed of — dairy cattle)</a:t>
            </a:r>
          </a:p>
          <a:p>
            <a:pPr>
              <a:spcAft>
                <a:spcPts val="600"/>
              </a:spcAft>
            </a:pPr>
            <a:r>
              <a:rPr sz="1400" b="0" i="0">
                <a:solidFill>
                  <a:srgbClr val="1B2530"/>
                </a:solidFill>
                <a:latin typeface="Consolas"/>
              </a:rPr>
              <a:t>(rumen — part of — bovine digestive system)</a:t>
            </a:r>
          </a:p>
          <a:p>
            <a:pPr>
              <a:spcAft>
                <a:spcPts val="800"/>
              </a:spcAft>
            </a:pPr>
            <a:r>
              <a:rPr sz="1400" b="0" i="0">
                <a:solidFill>
                  <a:srgbClr val="C0392B"/>
                </a:solidFill>
                <a:latin typeface="Consolas"/>
              </a:rPr>
              <a:t>(Protein X — is on — a 50% discount)   ✗</a:t>
            </a:r>
          </a:p>
          <a:p>
            <a:pPr>
              <a:spcAft>
                <a:spcPts val="600"/>
              </a:spcAft>
            </a:pPr>
            <a:r>
              <a:rPr sz="1300" b="0" i="0">
                <a:solidFill>
                  <a:srgbClr val="5E6B7A"/>
                </a:solidFill>
                <a:latin typeface="Calibri"/>
              </a:rPr>
              <a:t>That last one is real output from a naive LLM that read an advertisement inside a medical article. This is the problem.</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THE PROBLEM</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Three ways naive LLM extraction fails</a:t>
            </a:r>
          </a:p>
        </p:txBody>
      </p:sp>
      <p:sp>
        <p:nvSpPr>
          <p:cNvPr id="4" name="TextBox 3"/>
          <p:cNvSpPr txBox="1"/>
          <p:nvPr/>
        </p:nvSpPr>
        <p:spPr>
          <a:xfrm>
            <a:off x="548640" y="1828800"/>
            <a:ext cx="3611880" cy="3108960"/>
          </a:xfrm>
          <a:prstGeom prst="rect">
            <a:avLst/>
          </a:prstGeom>
          <a:noFill/>
        </p:spPr>
        <p:txBody>
          <a:bodyPr wrap="square">
            <a:spAutoFit/>
          </a:bodyPr>
          <a:lstStyle/>
          <a:p>
            <a:pPr>
              <a:spcAft>
                <a:spcPts val="800"/>
              </a:spcAft>
            </a:pPr>
            <a:r>
              <a:rPr sz="1600" b="1" i="0">
                <a:solidFill>
                  <a:srgbClr val="C0392B"/>
                </a:solidFill>
                <a:latin typeface="Calibri"/>
              </a:rPr>
              <a:t>1 · Noise</a:t>
            </a:r>
          </a:p>
          <a:p>
            <a:pPr>
              <a:spcAft>
                <a:spcPts val="800"/>
              </a:spcAft>
            </a:pPr>
            <a:r>
              <a:rPr sz="1400" b="0" i="0">
                <a:solidFill>
                  <a:srgbClr val="1B2530"/>
                </a:solidFill>
                <a:latin typeface="Calibri"/>
              </a:rPr>
              <a:t>Real documents carry ads, boilerplate, off-topic text. The LLM extracts it all.</a:t>
            </a:r>
          </a:p>
          <a:p>
            <a:pPr>
              <a:spcAft>
                <a:spcPts val="600"/>
              </a:spcAft>
            </a:pPr>
            <a:r>
              <a:rPr sz="1250" b="0" i="0">
                <a:solidFill>
                  <a:srgbClr val="C0392B"/>
                </a:solidFill>
                <a:latin typeface="Consolas"/>
              </a:rPr>
              <a:t>(Protein X — is on — 50% discount)</a:t>
            </a:r>
          </a:p>
        </p:txBody>
      </p:sp>
      <p:sp>
        <p:nvSpPr>
          <p:cNvPr id="5" name="TextBox 4"/>
          <p:cNvSpPr txBox="1"/>
          <p:nvPr/>
        </p:nvSpPr>
        <p:spPr>
          <a:xfrm>
            <a:off x="4434840" y="1828800"/>
            <a:ext cx="3611880" cy="3108960"/>
          </a:xfrm>
          <a:prstGeom prst="rect">
            <a:avLst/>
          </a:prstGeom>
          <a:noFill/>
        </p:spPr>
        <p:txBody>
          <a:bodyPr wrap="square">
            <a:spAutoFit/>
          </a:bodyPr>
          <a:lstStyle/>
          <a:p>
            <a:pPr>
              <a:spcAft>
                <a:spcPts val="800"/>
              </a:spcAft>
            </a:pPr>
            <a:r>
              <a:rPr sz="1600" b="1" i="0">
                <a:solidFill>
                  <a:srgbClr val="C0392B"/>
                </a:solidFill>
                <a:latin typeface="Calibri"/>
              </a:rPr>
              <a:t>2 · Missing domain knowledge</a:t>
            </a:r>
          </a:p>
          <a:p>
            <a:pPr>
              <a:spcAft>
                <a:spcPts val="800"/>
              </a:spcAft>
            </a:pPr>
            <a:r>
              <a:rPr sz="1400" b="0" i="0">
                <a:solidFill>
                  <a:srgbClr val="1B2530"/>
                </a:solidFill>
                <a:latin typeface="Calibri"/>
              </a:rPr>
              <a:t>The text says "linked to better outcomes." A general LLM upgrades that to a cure.</a:t>
            </a:r>
          </a:p>
          <a:p>
            <a:pPr>
              <a:spcAft>
                <a:spcPts val="600"/>
              </a:spcAft>
            </a:pPr>
            <a:r>
              <a:rPr sz="1250" b="0" i="0">
                <a:solidFill>
                  <a:srgbClr val="C0392B"/>
                </a:solidFill>
                <a:latin typeface="Consolas"/>
              </a:rPr>
              <a:t>(Protein X — cured — patient)</a:t>
            </a:r>
          </a:p>
        </p:txBody>
      </p:sp>
      <p:sp>
        <p:nvSpPr>
          <p:cNvPr id="6" name="TextBox 5"/>
          <p:cNvSpPr txBox="1"/>
          <p:nvPr/>
        </p:nvSpPr>
        <p:spPr>
          <a:xfrm>
            <a:off x="8321040" y="1828800"/>
            <a:ext cx="3611880" cy="3108960"/>
          </a:xfrm>
          <a:prstGeom prst="rect">
            <a:avLst/>
          </a:prstGeom>
          <a:noFill/>
        </p:spPr>
        <p:txBody>
          <a:bodyPr wrap="square">
            <a:spAutoFit/>
          </a:bodyPr>
          <a:lstStyle/>
          <a:p>
            <a:pPr>
              <a:spcAft>
                <a:spcPts val="800"/>
              </a:spcAft>
            </a:pPr>
            <a:r>
              <a:rPr sz="1600" b="1" i="0">
                <a:solidFill>
                  <a:srgbClr val="C0392B"/>
                </a:solidFill>
                <a:latin typeface="Calibri"/>
              </a:rPr>
              <a:t>3 · Hallucination</a:t>
            </a:r>
          </a:p>
          <a:p>
            <a:pPr>
              <a:spcAft>
                <a:spcPts val="800"/>
              </a:spcAft>
            </a:pPr>
            <a:r>
              <a:rPr sz="1400" b="0" i="0">
                <a:solidFill>
                  <a:srgbClr val="1B2530"/>
                </a:solidFill>
                <a:latin typeface="Calibri"/>
              </a:rPr>
              <a:t>A triple with no support anywhere in the document. Pure invention.</a:t>
            </a:r>
          </a:p>
          <a:p>
            <a:pPr>
              <a:spcAft>
                <a:spcPts val="600"/>
              </a:spcAft>
            </a:pPr>
            <a:r>
              <a:rPr sz="1250" b="0" i="0">
                <a:solidFill>
                  <a:srgbClr val="C0392B"/>
                </a:solidFill>
                <a:latin typeface="Consolas"/>
              </a:rPr>
              <a:t>(AI technology — replaces — chemotherapy)</a:t>
            </a:r>
          </a:p>
        </p:txBody>
      </p:sp>
      <p:sp>
        <p:nvSpPr>
          <p:cNvPr id="7" name="TextBox 6"/>
          <p:cNvSpPr txBox="1"/>
          <p:nvPr/>
        </p:nvSpPr>
        <p:spPr>
          <a:xfrm>
            <a:off x="548640" y="5212080"/>
            <a:ext cx="11064240" cy="1005840"/>
          </a:xfrm>
          <a:prstGeom prst="rect">
            <a:avLst/>
          </a:prstGeom>
          <a:noFill/>
        </p:spPr>
        <p:txBody>
          <a:bodyPr wrap="square">
            <a:spAutoFit/>
          </a:bodyPr>
          <a:lstStyle/>
          <a:p>
            <a:pPr>
              <a:spcAft>
                <a:spcPts val="600"/>
              </a:spcAft>
            </a:pPr>
            <a:r>
              <a:rPr sz="1500" b="1" i="0">
                <a:solidFill>
                  <a:srgbClr val="3B4CC0"/>
                </a:solidFill>
                <a:latin typeface="Calibri"/>
              </a:rPr>
              <a:t>All three put wrong facts into the KG — precision failures. Prof. Tao's instruction to check triplet accuracy first targets exactly this.</a:t>
            </a:r>
          </a:p>
        </p:txBody>
      </p:sp>
      <p:sp>
        <p:nvSpPr>
          <p:cNvPr id="8" name="TextBox 7"/>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THE KEY IDEA</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Two models, two jobs: generate for recall, judge for precision</a:t>
            </a:r>
          </a:p>
        </p:txBody>
      </p:sp>
      <p:sp>
        <p:nvSpPr>
          <p:cNvPr id="4" name="TextBox 3"/>
          <p:cNvSpPr txBox="1"/>
          <p:nvPr/>
        </p:nvSpPr>
        <p:spPr>
          <a:xfrm>
            <a:off x="548640" y="1783080"/>
            <a:ext cx="5577840" cy="4389120"/>
          </a:xfrm>
          <a:prstGeom prst="rect">
            <a:avLst/>
          </a:prstGeom>
          <a:noFill/>
        </p:spPr>
        <p:txBody>
          <a:bodyPr wrap="square">
            <a:spAutoFit/>
          </a:bodyPr>
          <a:lstStyle/>
          <a:p>
            <a:pPr>
              <a:spcAft>
                <a:spcPts val="1000"/>
              </a:spcAft>
            </a:pPr>
            <a:r>
              <a:rPr sz="1500" b="0" i="0">
                <a:solidFill>
                  <a:srgbClr val="1B2530"/>
                </a:solidFill>
                <a:latin typeface="Calibri"/>
              </a:rPr>
              <a:t>The generator (GPT-4o-mini, closed-source): great zero-shot coverage. Let it over-produce candidate triples — catch everything, including some junk.</a:t>
            </a:r>
          </a:p>
          <a:p>
            <a:pPr>
              <a:spcAft>
                <a:spcPts val="1000"/>
              </a:spcAft>
            </a:pPr>
            <a:r>
              <a:rPr sz="1500" b="0" i="0">
                <a:solidFill>
                  <a:srgbClr val="1B2530"/>
                </a:solidFill>
                <a:latin typeface="Calibri"/>
              </a:rPr>
              <a:t>The judge (LLaMA-2-7B, fine-tuned): a small open model trained for one narrow skill — given the document and one triple, answer "Yes, it is true" or "No, it is not true."</a:t>
            </a:r>
          </a:p>
          <a:p>
            <a:pPr>
              <a:spcAft>
                <a:spcPts val="600"/>
              </a:spcAft>
            </a:pPr>
            <a:r>
              <a:rPr sz="1500" b="1" i="0">
                <a:solidFill>
                  <a:srgbClr val="0E7C5B"/>
                </a:solidFill>
                <a:latin typeface="Calibri"/>
              </a:rPr>
              <a:t>The fine-tuned 7B judge reaches over 90% judgement accuracy — beating GPT-4o itself (64–74%) at this narrow task.</a:t>
            </a:r>
          </a:p>
        </p:txBody>
      </p:sp>
      <p:sp>
        <p:nvSpPr>
          <p:cNvPr id="5" name="TextBox 4"/>
          <p:cNvSpPr txBox="1"/>
          <p:nvPr/>
        </p:nvSpPr>
        <p:spPr>
          <a:xfrm>
            <a:off x="6492240" y="1783080"/>
            <a:ext cx="5120640" cy="4389120"/>
          </a:xfrm>
          <a:prstGeom prst="rect">
            <a:avLst/>
          </a:prstGeom>
          <a:noFill/>
        </p:spPr>
        <p:txBody>
          <a:bodyPr wrap="square">
            <a:spAutoFit/>
          </a:bodyPr>
          <a:lstStyle/>
          <a:p>
            <a:pPr>
              <a:spcAft>
                <a:spcPts val="600"/>
              </a:spcAft>
            </a:pPr>
            <a:r>
              <a:rPr sz="1300" b="0" i="0">
                <a:solidFill>
                  <a:srgbClr val="5E6B7A"/>
                </a:solidFill>
                <a:latin typeface="Calibri"/>
              </a:rPr>
              <a:t>The judge at work:</a:t>
            </a:r>
          </a:p>
          <a:p>
            <a:pPr>
              <a:spcAft>
                <a:spcPts val="600"/>
              </a:spcAft>
            </a:pPr>
            <a:r>
              <a:rPr sz="1250" b="0" i="0">
                <a:solidFill>
                  <a:srgbClr val="1B2530"/>
                </a:solidFill>
                <a:latin typeface="Consolas"/>
              </a:rPr>
              <a:t>(Amorph — hyponym of — morphological analyzer)</a:t>
            </a:r>
          </a:p>
          <a:p>
            <a:pPr>
              <a:spcAft>
                <a:spcPts val="1000"/>
              </a:spcAft>
            </a:pPr>
            <a:r>
              <a:rPr sz="1250" b="0" i="0">
                <a:solidFill>
                  <a:srgbClr val="0E7C5B"/>
                </a:solidFill>
                <a:latin typeface="Consolas"/>
              </a:rPr>
              <a:t>→ Yes, it is true.   ✓ kept</a:t>
            </a:r>
          </a:p>
          <a:p>
            <a:pPr>
              <a:spcAft>
                <a:spcPts val="600"/>
              </a:spcAft>
            </a:pPr>
            <a:r>
              <a:rPr sz="1250" b="0" i="0">
                <a:solidFill>
                  <a:srgbClr val="1B2530"/>
                </a:solidFill>
                <a:latin typeface="Consolas"/>
              </a:rPr>
              <a:t>(evaluation criterion — new — goal)</a:t>
            </a:r>
          </a:p>
          <a:p>
            <a:pPr>
              <a:spcAft>
                <a:spcPts val="1000"/>
              </a:spcAft>
            </a:pPr>
            <a:r>
              <a:rPr sz="1250" b="0" i="0">
                <a:solidFill>
                  <a:srgbClr val="C0392B"/>
                </a:solidFill>
                <a:latin typeface="Consolas"/>
              </a:rPr>
              <a:t>→ No, it is not true.   ✗ removed</a:t>
            </a:r>
          </a:p>
          <a:p>
            <a:pPr>
              <a:spcAft>
                <a:spcPts val="600"/>
              </a:spcAft>
            </a:pPr>
            <a:r>
              <a:rPr sz="1300" b="0" i="0">
                <a:solidFill>
                  <a:srgbClr val="5E6B7A"/>
                </a:solidFill>
                <a:latin typeface="Calibri"/>
              </a:rPr>
              <a:t>Specialist beats generalist: a small model trained on one question outperforms a giant model answering everything.</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ARCHITECTURE</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Three modules, one pipeline</a:t>
            </a:r>
          </a:p>
        </p:txBody>
      </p:sp>
      <p:sp>
        <p:nvSpPr>
          <p:cNvPr id="4" name="TextBox 3"/>
          <p:cNvSpPr txBox="1"/>
          <p:nvPr/>
        </p:nvSpPr>
        <p:spPr>
          <a:xfrm>
            <a:off x="548640" y="1828800"/>
            <a:ext cx="3566160" cy="2011680"/>
          </a:xfrm>
          <a:prstGeom prst="rect">
            <a:avLst/>
          </a:prstGeom>
          <a:noFill/>
        </p:spPr>
        <p:txBody>
          <a:bodyPr wrap="square">
            <a:spAutoFit/>
          </a:bodyPr>
          <a:lstStyle/>
          <a:p>
            <a:pPr>
              <a:spcAft>
                <a:spcPts val="600"/>
              </a:spcAft>
            </a:pPr>
            <a:r>
              <a:rPr sz="1500" b="1" i="0">
                <a:solidFill>
                  <a:srgbClr val="3B4CC0"/>
                </a:solidFill>
                <a:latin typeface="Consolas"/>
              </a:rPr>
              <a:t>1 · ECTD</a:t>
            </a:r>
          </a:p>
          <a:p>
            <a:pPr>
              <a:spcAft>
                <a:spcPts val="600"/>
              </a:spcAft>
            </a:pPr>
            <a:r>
              <a:rPr sz="1350" b="0" i="0">
                <a:solidFill>
                  <a:srgbClr val="1B2530"/>
                </a:solidFill>
                <a:latin typeface="Calibri"/>
              </a:rPr>
              <a:t>Entity-Centric Text Denoising. Extract entities, rewrite the document clean and entity-centric, over-generate candidate triples.</a:t>
            </a:r>
          </a:p>
        </p:txBody>
      </p:sp>
      <p:sp>
        <p:nvSpPr>
          <p:cNvPr id="5" name="TextBox 4"/>
          <p:cNvSpPr txBox="1"/>
          <p:nvPr/>
        </p:nvSpPr>
        <p:spPr>
          <a:xfrm>
            <a:off x="4434840" y="1828800"/>
            <a:ext cx="3566160" cy="2011680"/>
          </a:xfrm>
          <a:prstGeom prst="rect">
            <a:avLst/>
          </a:prstGeom>
          <a:noFill/>
        </p:spPr>
        <p:txBody>
          <a:bodyPr wrap="square">
            <a:spAutoFit/>
          </a:bodyPr>
          <a:lstStyle/>
          <a:p>
            <a:pPr>
              <a:spcAft>
                <a:spcPts val="600"/>
              </a:spcAft>
            </a:pPr>
            <a:r>
              <a:rPr sz="1500" b="1" i="0">
                <a:solidFill>
                  <a:srgbClr val="0E7C5B"/>
                </a:solidFill>
                <a:latin typeface="Consolas"/>
              </a:rPr>
              <a:t>2 · KASFT</a:t>
            </a:r>
          </a:p>
          <a:p>
            <a:pPr>
              <a:spcAft>
                <a:spcPts val="600"/>
              </a:spcAft>
            </a:pPr>
            <a:r>
              <a:rPr sz="1350" b="0" i="0">
                <a:solidFill>
                  <a:srgbClr val="1B2530"/>
                </a:solidFill>
                <a:latin typeface="Calibri"/>
              </a:rPr>
              <a:t>Knowledge-Aware SFT. LoRA fine-tune LLaMA-2-7B on yes/no triple judgement, built from gold triples + corrupted negatives.</a:t>
            </a:r>
          </a:p>
        </p:txBody>
      </p:sp>
      <p:sp>
        <p:nvSpPr>
          <p:cNvPr id="6" name="TextBox 5"/>
          <p:cNvSpPr txBox="1"/>
          <p:nvPr/>
        </p:nvSpPr>
        <p:spPr>
          <a:xfrm>
            <a:off x="8321040" y="1828800"/>
            <a:ext cx="3566160" cy="2011680"/>
          </a:xfrm>
          <a:prstGeom prst="rect">
            <a:avLst/>
          </a:prstGeom>
          <a:noFill/>
        </p:spPr>
        <p:txBody>
          <a:bodyPr wrap="square">
            <a:spAutoFit/>
          </a:bodyPr>
          <a:lstStyle/>
          <a:p>
            <a:pPr>
              <a:spcAft>
                <a:spcPts val="600"/>
              </a:spcAft>
            </a:pPr>
            <a:r>
              <a:rPr sz="1500" b="1" i="0">
                <a:solidFill>
                  <a:srgbClr val="0E7C5B"/>
                </a:solidFill>
                <a:latin typeface="Consolas"/>
              </a:rPr>
              <a:t>3 · GJ</a:t>
            </a:r>
          </a:p>
          <a:p>
            <a:pPr>
              <a:spcAft>
                <a:spcPts val="600"/>
              </a:spcAft>
            </a:pPr>
            <a:r>
              <a:rPr sz="1350" b="0" i="0">
                <a:solidFill>
                  <a:srgbClr val="1B2530"/>
                </a:solidFill>
                <a:latin typeface="Calibri"/>
              </a:rPr>
              <a:t>Graph Judgement. The judge scores every candidate triple; wrong ones are filtered out. Survivors form the final KG.</a:t>
            </a:r>
          </a:p>
        </p:txBody>
      </p:sp>
      <p:sp>
        <p:nvSpPr>
          <p:cNvPr id="7" name="TextBox 6"/>
          <p:cNvSpPr txBox="1"/>
          <p:nvPr/>
        </p:nvSpPr>
        <p:spPr>
          <a:xfrm>
            <a:off x="548640" y="4206240"/>
            <a:ext cx="11064240" cy="2011680"/>
          </a:xfrm>
          <a:prstGeom prst="rect">
            <a:avLst/>
          </a:prstGeom>
          <a:noFill/>
        </p:spPr>
        <p:txBody>
          <a:bodyPr wrap="square">
            <a:spAutoFit/>
          </a:bodyPr>
          <a:lstStyle/>
          <a:p>
            <a:pPr>
              <a:spcAft>
                <a:spcPts val="800"/>
              </a:spcAft>
            </a:pPr>
            <a:r>
              <a:rPr sz="1500" b="1" i="0">
                <a:solidFill>
                  <a:srgbClr val="3B4CC0"/>
                </a:solidFill>
                <a:latin typeface="Calibri"/>
              </a:rPr>
              <a:t>Division of labor: module 1 maximizes RECALL (miss nothing); modules 2–3 restore PRECISION (keep nothing false). Only the 7B judge is ever trained — everything else is prompting.</a:t>
            </a:r>
          </a:p>
          <a:p>
            <a:pPr>
              <a:spcAft>
                <a:spcPts val="600"/>
              </a:spcAft>
            </a:pPr>
            <a:r>
              <a:rPr sz="1300" b="0" i="0">
                <a:solidFill>
                  <a:srgbClr val="5E6B7A"/>
                </a:solidFill>
                <a:latin typeface="Calibri"/>
              </a:rPr>
              <a:t>Training cost: LoRA rank 8 on q_proj/v_proj · lr 3e-4 · batch 128 · 500 steps · a single 48 GB GPU. Feasible on TAMU HPRC.</a:t>
            </a:r>
          </a:p>
        </p:txBody>
      </p:sp>
      <p:sp>
        <p:nvSpPr>
          <p:cNvPr id="8" name="TextBox 7"/>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GCompass_Architecture.png"/>
          <p:cNvPicPr>
            <a:picLocks noChangeAspect="1"/>
          </p:cNvPicPr>
          <p:nvPr/>
        </p:nvPicPr>
        <p:blipFill>
          <a:blip r:embed="rId2"/>
          <a:stretch>
            <a:fillRect/>
          </a:stretch>
        </p:blipFill>
        <p:spPr>
          <a:xfrm>
            <a:off x="960120" y="173736"/>
            <a:ext cx="10354093" cy="6510528"/>
          </a:xfrm>
          <a:prstGeom prst="rect">
            <a:avLst/>
          </a:prstGeom>
        </p:spPr>
      </p:pic>
      <p:sp>
        <p:nvSpPr>
          <p:cNvPr id="4" name="TextBox 3"/>
          <p:cNvSpPr txBox="1"/>
          <p:nvPr/>
        </p:nvSpPr>
        <p:spPr>
          <a:xfrm>
            <a:off x="11247120" y="6446520"/>
            <a:ext cx="822960" cy="320040"/>
          </a:xfrm>
          <a:prstGeom prst="rect">
            <a:avLst/>
          </a:prstGeom>
          <a:noFill/>
        </p:spPr>
        <p:txBody>
          <a:bodyPr wrap="square">
            <a:spAutoFit/>
          </a:bodyPr>
          <a:lstStyle/>
          <a:p>
            <a:pPr algn="r"/>
            <a:r>
              <a:rPr sz="1000" b="0" i="0">
                <a:solidFill>
                  <a:srgbClr val="8FA0BF"/>
                </a:solidFill>
                <a:latin typeface="Consolas"/>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MODULE 1</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ECTD: clean the text before trusting it</a:t>
            </a:r>
          </a:p>
        </p:txBody>
      </p:sp>
      <p:sp>
        <p:nvSpPr>
          <p:cNvPr id="4" name="TextBox 3"/>
          <p:cNvSpPr txBox="1"/>
          <p:nvPr/>
        </p:nvSpPr>
        <p:spPr>
          <a:xfrm>
            <a:off x="548640" y="1783080"/>
            <a:ext cx="5760720" cy="4206240"/>
          </a:xfrm>
          <a:prstGeom prst="rect">
            <a:avLst/>
          </a:prstGeom>
          <a:noFill/>
        </p:spPr>
        <p:txBody>
          <a:bodyPr wrap="square">
            <a:spAutoFit/>
          </a:bodyPr>
          <a:lstStyle/>
          <a:p>
            <a:pPr>
              <a:spcAft>
                <a:spcPts val="1000"/>
              </a:spcAft>
            </a:pPr>
            <a:r>
              <a:rPr sz="1500" b="0" i="0">
                <a:solidFill>
                  <a:srgbClr val="1B2530"/>
                </a:solidFill>
                <a:latin typeface="Calibri"/>
              </a:rPr>
              <a:t>• Phase 1: LLM lists the entities in the raw document, then rewrites the document around those entities — ads and irrelevant text drop out.</a:t>
            </a:r>
          </a:p>
          <a:p>
            <a:pPr>
              <a:spcAft>
                <a:spcPts val="1000"/>
              </a:spcAft>
            </a:pPr>
            <a:r>
              <a:rPr sz="1500" b="0" i="0">
                <a:solidFill>
                  <a:srgbClr val="1B2530"/>
                </a:solidFill>
                <a:latin typeface="Calibri"/>
              </a:rPr>
              <a:t>• Phase 2: LLM extracts as many candidate triples as possible from the denoised text + entity list. Deliberate over-generation.</a:t>
            </a:r>
          </a:p>
          <a:p>
            <a:pPr>
              <a:spcAft>
                <a:spcPts val="600"/>
              </a:spcAft>
            </a:pPr>
            <a:r>
              <a:rPr sz="1400" b="1" i="0">
                <a:solidFill>
                  <a:srgbClr val="3B4CC0"/>
                </a:solidFill>
                <a:latin typeface="Calibri"/>
              </a:rPr>
              <a:t>Paper verifies: denoised documents keep the important content, and semantic similarity to true triples rises.</a:t>
            </a:r>
          </a:p>
        </p:txBody>
      </p:sp>
      <p:sp>
        <p:nvSpPr>
          <p:cNvPr id="5" name="TextBox 4"/>
          <p:cNvSpPr txBox="1"/>
          <p:nvPr/>
        </p:nvSpPr>
        <p:spPr>
          <a:xfrm>
            <a:off x="6675120" y="1828800"/>
            <a:ext cx="4754880" cy="457200"/>
          </a:xfrm>
          <a:prstGeom prst="rect">
            <a:avLst/>
          </a:prstGeom>
          <a:noFill/>
        </p:spPr>
        <p:txBody>
          <a:bodyPr wrap="square">
            <a:spAutoFit/>
          </a:bodyPr>
          <a:lstStyle/>
          <a:p>
            <a:pPr>
              <a:spcAft>
                <a:spcPts val="600"/>
              </a:spcAft>
            </a:pPr>
            <a:r>
              <a:rPr sz="1300" b="0" i="0">
                <a:solidFill>
                  <a:srgbClr val="5E6B7A"/>
                </a:solidFill>
                <a:latin typeface="Calibri"/>
              </a:rPr>
              <a:t>Remove ECTD and quality collapses (REBEL-Sub):</a:t>
            </a:r>
          </a:p>
        </p:txBody>
      </p:sp>
      <p:graphicFrame>
        <p:nvGraphicFramePr>
          <p:cNvPr id="6" name="Table 5"/>
          <p:cNvGraphicFramePr>
            <a:graphicFrameLocks noGrp="1"/>
          </p:cNvGraphicFramePr>
          <p:nvPr/>
        </p:nvGraphicFramePr>
        <p:xfrm>
          <a:off x="6675120" y="2377440"/>
          <a:ext cx="4572000" cy="932688"/>
        </p:xfrm>
        <a:graphic>
          <a:graphicData uri="http://schemas.openxmlformats.org/drawingml/2006/table">
            <a:tbl>
              <a:tblPr>
                <a:tableStyleId>{5C22544A-7EE6-4342-B048-85BDC9FD1C3A}</a:tableStyleId>
              </a:tblPr>
              <a:tblGrid>
                <a:gridCol w="2926080"/>
                <a:gridCol w="1645920"/>
              </a:tblGrid>
              <a:tr h="310896">
                <a:tc>
                  <a:txBody>
                    <a:bodyPr/>
                    <a:lstStyle/>
                    <a:p>
                      <a:r>
                        <a:rPr sz="1300" b="1" i="0">
                          <a:solidFill>
                            <a:srgbClr val="5E6B7A"/>
                          </a:solidFill>
                          <a:latin typeface="Calibri"/>
                        </a:rPr>
                        <a:t>Variant</a:t>
                      </a:r>
                    </a:p>
                  </a:txBody>
                  <a:tcPr marT="36000" marB="36000">
                    <a:solidFill>
                      <a:srgbClr val="E4E8F8"/>
                    </a:solidFill>
                  </a:tcPr>
                </a:tc>
                <a:tc>
                  <a:txBody>
                    <a:bodyPr/>
                    <a:lstStyle/>
                    <a:p>
                      <a:pPr algn="r"/>
                      <a:r>
                        <a:rPr sz="1300" b="1" i="0">
                          <a:solidFill>
                            <a:srgbClr val="5E6B7A"/>
                          </a:solidFill>
                          <a:latin typeface="Calibri"/>
                        </a:rPr>
                        <a:t>G-BS F1</a:t>
                      </a:r>
                    </a:p>
                  </a:txBody>
                  <a:tcPr marT="36000" marB="36000">
                    <a:solidFill>
                      <a:srgbClr val="E4E8F8"/>
                    </a:solidFill>
                  </a:tcPr>
                </a:tc>
              </a:tr>
              <a:tr h="310896">
                <a:tc>
                  <a:txBody>
                    <a:bodyPr/>
                    <a:lstStyle/>
                    <a:p>
                      <a:r>
                        <a:rPr sz="1300" b="0" i="0">
                          <a:solidFill>
                            <a:srgbClr val="1B2530"/>
                          </a:solidFill>
                          <a:latin typeface="Calibri"/>
                        </a:rPr>
                        <a:t>Full GraphJudge</a:t>
                      </a:r>
                    </a:p>
                  </a:txBody>
                  <a:tcPr marT="36000" marB="36000">
                    <a:solidFill>
                      <a:srgbClr val="FFFFFF"/>
                    </a:solidFill>
                  </a:tcPr>
                </a:tc>
                <a:tc>
                  <a:txBody>
                    <a:bodyPr/>
                    <a:lstStyle/>
                    <a:p>
                      <a:pPr algn="r"/>
                      <a:r>
                        <a:rPr sz="1300" b="1" i="0">
                          <a:solidFill>
                            <a:srgbClr val="0E7C5B"/>
                          </a:solidFill>
                          <a:latin typeface="Consolas"/>
                        </a:rPr>
                        <a:t>0.5796</a:t>
                      </a:r>
                    </a:p>
                  </a:txBody>
                  <a:tcPr marT="36000" marB="36000">
                    <a:solidFill>
                      <a:srgbClr val="FFFFFF"/>
                    </a:solidFill>
                  </a:tcPr>
                </a:tc>
              </a:tr>
              <a:tr h="310896">
                <a:tc>
                  <a:txBody>
                    <a:bodyPr/>
                    <a:lstStyle/>
                    <a:p>
                      <a:r>
                        <a:rPr sz="1300" b="0" i="0">
                          <a:solidFill>
                            <a:srgbClr val="1B2530"/>
                          </a:solidFill>
                          <a:latin typeface="Calibri"/>
                        </a:rPr>
                        <a:t>without ECTD</a:t>
                      </a:r>
                    </a:p>
                  </a:txBody>
                  <a:tcPr marT="36000" marB="36000">
                    <a:solidFill>
                      <a:srgbClr val="FFFFFF"/>
                    </a:solidFill>
                  </a:tcPr>
                </a:tc>
                <a:tc>
                  <a:txBody>
                    <a:bodyPr/>
                    <a:lstStyle/>
                    <a:p>
                      <a:pPr algn="r"/>
                      <a:r>
                        <a:rPr sz="1300" b="0" i="0">
                          <a:solidFill>
                            <a:srgbClr val="1B2530"/>
                          </a:solidFill>
                          <a:latin typeface="Consolas"/>
                        </a:rPr>
                        <a:t>0.4548</a:t>
                      </a:r>
                    </a:p>
                  </a:txBody>
                  <a:tcPr marT="36000" marB="36000">
                    <a:solidFill>
                      <a:srgbClr val="FFFFFF"/>
                    </a:solidFill>
                  </a:tcPr>
                </a:tc>
              </a:tr>
            </a:tbl>
          </a:graphicData>
        </a:graphic>
      </p:graphicFrame>
      <p:sp>
        <p:nvSpPr>
          <p:cNvPr id="7" name="TextBox 6"/>
          <p:cNvSpPr txBox="1"/>
          <p:nvPr/>
        </p:nvSpPr>
        <p:spPr>
          <a:xfrm>
            <a:off x="6675120" y="3749039"/>
            <a:ext cx="4754880" cy="822960"/>
          </a:xfrm>
          <a:prstGeom prst="rect">
            <a:avLst/>
          </a:prstGeom>
          <a:noFill/>
        </p:spPr>
        <p:txBody>
          <a:bodyPr wrap="square">
            <a:spAutoFit/>
          </a:bodyPr>
          <a:lstStyle/>
          <a:p>
            <a:pPr>
              <a:spcAft>
                <a:spcPts val="600"/>
              </a:spcAft>
            </a:pPr>
            <a:r>
              <a:rPr sz="1300" b="0" i="0">
                <a:solidFill>
                  <a:srgbClr val="5E6B7A"/>
                </a:solidFill>
                <a:latin typeface="Calibri"/>
              </a:rPr>
              <a:t>Garbage in, garbage out — even with a perfect judge afterwards.</a:t>
            </a:r>
          </a:p>
        </p:txBody>
      </p:sp>
      <p:sp>
        <p:nvSpPr>
          <p:cNvPr id="8" name="TextBox 7"/>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MODULE 2</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KASFT: how you train a judge</a:t>
            </a:r>
          </a:p>
        </p:txBody>
      </p:sp>
      <p:sp>
        <p:nvSpPr>
          <p:cNvPr id="4" name="TextBox 3"/>
          <p:cNvSpPr txBox="1"/>
          <p:nvPr/>
        </p:nvSpPr>
        <p:spPr>
          <a:xfrm>
            <a:off x="548640" y="1783080"/>
            <a:ext cx="5577840" cy="4297680"/>
          </a:xfrm>
          <a:prstGeom prst="rect">
            <a:avLst/>
          </a:prstGeom>
          <a:noFill/>
        </p:spPr>
        <p:txBody>
          <a:bodyPr wrap="square">
            <a:spAutoFit/>
          </a:bodyPr>
          <a:lstStyle/>
          <a:p>
            <a:pPr>
              <a:spcAft>
                <a:spcPts val="800"/>
              </a:spcAft>
            </a:pPr>
            <a:r>
              <a:rPr sz="1500" b="0" i="0">
                <a:solidFill>
                  <a:srgbClr val="1B2530"/>
                </a:solidFill>
                <a:latin typeface="Calibri"/>
              </a:rPr>
              <a:t>• Positives: real triples from the gold graphs → "Yes, it is true."</a:t>
            </a:r>
          </a:p>
          <a:p>
            <a:pPr>
              <a:spcAft>
                <a:spcPts val="800"/>
              </a:spcAft>
            </a:pPr>
            <a:r>
              <a:rPr sz="1500" b="0" i="0">
                <a:solidFill>
                  <a:srgbClr val="1B2530"/>
                </a:solidFill>
                <a:latin typeface="Calibri"/>
              </a:rPr>
              <a:t>• Negatives: same triples with the tail entity swapped randomly → "No, it is not true."</a:t>
            </a:r>
          </a:p>
          <a:p>
            <a:pPr>
              <a:spcAft>
                <a:spcPts val="1000"/>
              </a:spcAft>
            </a:pPr>
            <a:r>
              <a:rPr sz="1500" b="0" i="0">
                <a:solidFill>
                  <a:srgbClr val="1B2530"/>
                </a:solidFill>
                <a:latin typeface="Calibri"/>
              </a:rPr>
              <a:t>• Each instruction shows the source document as context, then asks about one triple.</a:t>
            </a:r>
          </a:p>
          <a:p>
            <a:pPr>
              <a:spcAft>
                <a:spcPts val="600"/>
              </a:spcAft>
            </a:pPr>
            <a:r>
              <a:rPr sz="1500" b="1" i="0">
                <a:solidFill>
                  <a:srgbClr val="0E7C5B"/>
                </a:solidFill>
                <a:latin typeface="Calibri"/>
              </a:rPr>
              <a:t>SFT bakes two skills into the 7B model: fact-checking against a document, and the domain's own vocabulary.</a:t>
            </a:r>
          </a:p>
        </p:txBody>
      </p:sp>
      <p:sp>
        <p:nvSpPr>
          <p:cNvPr id="5" name="TextBox 4"/>
          <p:cNvSpPr txBox="1"/>
          <p:nvPr/>
        </p:nvSpPr>
        <p:spPr>
          <a:xfrm>
            <a:off x="6492240" y="1783080"/>
            <a:ext cx="5120640" cy="4297680"/>
          </a:xfrm>
          <a:prstGeom prst="rect">
            <a:avLst/>
          </a:prstGeom>
          <a:noFill/>
        </p:spPr>
        <p:txBody>
          <a:bodyPr wrap="square">
            <a:spAutoFit/>
          </a:bodyPr>
          <a:lstStyle/>
          <a:p>
            <a:pPr>
              <a:spcAft>
                <a:spcPts val="800"/>
              </a:spcAft>
            </a:pPr>
            <a:r>
              <a:rPr sz="1300" b="0" i="0">
                <a:solidFill>
                  <a:srgbClr val="5E6B7A"/>
                </a:solidFill>
                <a:latin typeface="Calibri"/>
              </a:rPr>
              <a:t>The actual training prompt (paper appendix):</a:t>
            </a:r>
          </a:p>
          <a:p>
            <a:pPr>
              <a:spcAft>
                <a:spcPts val="600"/>
              </a:spcAft>
            </a:pPr>
            <a:r>
              <a:rPr sz="1200" b="0" i="0">
                <a:solidFill>
                  <a:srgbClr val="1B2530"/>
                </a:solidFill>
                <a:latin typeface="Consolas"/>
              </a:rPr>
              <a:t>Goal: do the graph judgement task…</a:t>
            </a:r>
          </a:p>
          <a:p>
            <a:pPr>
              <a:spcAft>
                <a:spcPts val="600"/>
              </a:spcAft>
            </a:pPr>
            <a:r>
              <a:rPr sz="1200" b="0" i="0">
                <a:solidFill>
                  <a:srgbClr val="5E6B7A"/>
                </a:solidFill>
                <a:latin typeface="Consolas"/>
              </a:rPr>
              <a:t>"Insulin, produced by beta cells in the pancreas, regulates blood glucose levels…"</a:t>
            </a:r>
          </a:p>
          <a:p>
            <a:pPr>
              <a:spcAft>
                <a:spcPts val="600"/>
              </a:spcAft>
            </a:pPr>
            <a:r>
              <a:rPr sz="1200" b="0" i="0">
                <a:solidFill>
                  <a:srgbClr val="1B2530"/>
                </a:solidFill>
                <a:latin typeface="Consolas"/>
              </a:rPr>
              <a:t>Is this true: Insulin · Produced by · Beta cells ?</a:t>
            </a:r>
          </a:p>
          <a:p>
            <a:pPr>
              <a:spcAft>
                <a:spcPts val="600"/>
              </a:spcAft>
            </a:pPr>
            <a:r>
              <a:rPr sz="1200" b="0" i="0">
                <a:solidFill>
                  <a:srgbClr val="0E7C5B"/>
                </a:solidFill>
                <a:latin typeface="Consolas"/>
              </a:rPr>
              <a:t>→ Yes, it is true.</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RESULTS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State of the art on all four benchmarks</a:t>
            </a:r>
          </a:p>
        </p:txBody>
      </p:sp>
      <p:graphicFrame>
        <p:nvGraphicFramePr>
          <p:cNvPr id="4" name="Table 3"/>
          <p:cNvGraphicFramePr>
            <a:graphicFrameLocks noGrp="1"/>
          </p:cNvGraphicFramePr>
          <p:nvPr/>
        </p:nvGraphicFramePr>
        <p:xfrm>
          <a:off x="548640" y="1828800"/>
          <a:ext cx="11064239" cy="1865376"/>
        </p:xfrm>
        <a:graphic>
          <a:graphicData uri="http://schemas.openxmlformats.org/drawingml/2006/table">
            <a:tbl>
              <a:tblPr>
                <a:tableStyleId>{5C22544A-7EE6-4342-B048-85BDC9FD1C3A}</a:tableStyleId>
              </a:tblPr>
              <a:tblGrid>
                <a:gridCol w="3749039"/>
                <a:gridCol w="1828800"/>
                <a:gridCol w="1828800"/>
                <a:gridCol w="1828800"/>
                <a:gridCol w="1828800"/>
              </a:tblGrid>
              <a:tr h="310896">
                <a:tc>
                  <a:txBody>
                    <a:bodyPr/>
                    <a:lstStyle/>
                    <a:p>
                      <a:r>
                        <a:rPr sz="1300" b="1" i="0">
                          <a:solidFill>
                            <a:srgbClr val="5E6B7A"/>
                          </a:solidFill>
                          <a:latin typeface="Calibri"/>
                        </a:rPr>
                        <a:t>Method</a:t>
                      </a:r>
                    </a:p>
                  </a:txBody>
                  <a:tcPr marT="36000" marB="36000">
                    <a:solidFill>
                      <a:srgbClr val="E4E8F8"/>
                    </a:solidFill>
                  </a:tcPr>
                </a:tc>
                <a:tc>
                  <a:txBody>
                    <a:bodyPr/>
                    <a:lstStyle/>
                    <a:p>
                      <a:pPr algn="r"/>
                      <a:r>
                        <a:rPr sz="1300" b="1" i="0">
                          <a:solidFill>
                            <a:srgbClr val="5E6B7A"/>
                          </a:solidFill>
                          <a:latin typeface="Calibri"/>
                        </a:rPr>
                        <a:t>REBEL-Sub</a:t>
                      </a:r>
                    </a:p>
                  </a:txBody>
                  <a:tcPr marT="36000" marB="36000">
                    <a:solidFill>
                      <a:srgbClr val="E4E8F8"/>
                    </a:solidFill>
                  </a:tcPr>
                </a:tc>
                <a:tc>
                  <a:txBody>
                    <a:bodyPr/>
                    <a:lstStyle/>
                    <a:p>
                      <a:pPr algn="r"/>
                      <a:r>
                        <a:rPr sz="1300" b="1" i="0">
                          <a:solidFill>
                            <a:srgbClr val="5E6B7A"/>
                          </a:solidFill>
                          <a:latin typeface="Calibri"/>
                        </a:rPr>
                        <a:t>GenWiki</a:t>
                      </a:r>
                    </a:p>
                  </a:txBody>
                  <a:tcPr marT="36000" marB="36000">
                    <a:solidFill>
                      <a:srgbClr val="E4E8F8"/>
                    </a:solidFill>
                  </a:tcPr>
                </a:tc>
                <a:tc>
                  <a:txBody>
                    <a:bodyPr/>
                    <a:lstStyle/>
                    <a:p>
                      <a:pPr algn="r"/>
                      <a:r>
                        <a:rPr sz="1300" b="1" i="0">
                          <a:solidFill>
                            <a:srgbClr val="5E6B7A"/>
                          </a:solidFill>
                          <a:latin typeface="Calibri"/>
                        </a:rPr>
                        <a:t>SCIERC</a:t>
                      </a:r>
                    </a:p>
                  </a:txBody>
                  <a:tcPr marT="36000" marB="36000">
                    <a:solidFill>
                      <a:srgbClr val="E4E8F8"/>
                    </a:solidFill>
                  </a:tcPr>
                </a:tc>
                <a:tc>
                  <a:txBody>
                    <a:bodyPr/>
                    <a:lstStyle/>
                    <a:p>
                      <a:pPr algn="r"/>
                      <a:r>
                        <a:rPr sz="1300" b="1" i="0">
                          <a:solidFill>
                            <a:srgbClr val="5E6B7A"/>
                          </a:solidFill>
                          <a:latin typeface="Calibri"/>
                        </a:rPr>
                        <a:t>Re-DocRED</a:t>
                      </a:r>
                    </a:p>
                  </a:txBody>
                  <a:tcPr marT="36000" marB="36000">
                    <a:solidFill>
                      <a:srgbClr val="E4E8F8"/>
                    </a:solidFill>
                  </a:tcPr>
                </a:tc>
              </a:tr>
              <a:tr h="310896">
                <a:tc>
                  <a:txBody>
                    <a:bodyPr/>
                    <a:lstStyle/>
                    <a:p>
                      <a:r>
                        <a:rPr sz="1300" b="0" i="0">
                          <a:solidFill>
                            <a:srgbClr val="1B2530"/>
                          </a:solidFill>
                          <a:latin typeface="Calibri"/>
                        </a:rPr>
                        <a:t>GPT-4o-mini (naive)</a:t>
                      </a:r>
                    </a:p>
                  </a:txBody>
                  <a:tcPr marT="36000" marB="36000">
                    <a:solidFill>
                      <a:srgbClr val="FFFFFF"/>
                    </a:solidFill>
                  </a:tcPr>
                </a:tc>
                <a:tc>
                  <a:txBody>
                    <a:bodyPr/>
                    <a:lstStyle/>
                    <a:p>
                      <a:pPr algn="r"/>
                      <a:r>
                        <a:rPr sz="1300" b="0" i="0">
                          <a:solidFill>
                            <a:srgbClr val="1B2530"/>
                          </a:solidFill>
                          <a:latin typeface="Consolas"/>
                        </a:rPr>
                        <a:t>0.4289</a:t>
                      </a:r>
                    </a:p>
                  </a:txBody>
                  <a:tcPr marT="36000" marB="36000">
                    <a:solidFill>
                      <a:srgbClr val="FFFFFF"/>
                    </a:solidFill>
                  </a:tcPr>
                </a:tc>
                <a:tc>
                  <a:txBody>
                    <a:bodyPr/>
                    <a:lstStyle/>
                    <a:p>
                      <a:pPr algn="r"/>
                      <a:r>
                        <a:rPr sz="1300" b="0" i="0">
                          <a:solidFill>
                            <a:srgbClr val="1B2530"/>
                          </a:solidFill>
                          <a:latin typeface="Consolas"/>
                        </a:rPr>
                        <a:t>0.8368</a:t>
                      </a:r>
                    </a:p>
                  </a:txBody>
                  <a:tcPr marT="36000" marB="36000">
                    <a:solidFill>
                      <a:srgbClr val="FFFFFF"/>
                    </a:solidFill>
                  </a:tcPr>
                </a:tc>
                <a:tc>
                  <a:txBody>
                    <a:bodyPr/>
                    <a:lstStyle/>
                    <a:p>
                      <a:pPr algn="r"/>
                      <a:r>
                        <a:rPr sz="1300" b="0" i="0">
                          <a:solidFill>
                            <a:srgbClr val="1B2530"/>
                          </a:solidFill>
                          <a:latin typeface="Consolas"/>
                        </a:rPr>
                        <a:t>0.6882</a:t>
                      </a:r>
                    </a:p>
                  </a:txBody>
                  <a:tcPr marT="36000" marB="36000">
                    <a:solidFill>
                      <a:srgbClr val="FFFFFF"/>
                    </a:solidFill>
                  </a:tcPr>
                </a:tc>
                <a:tc>
                  <a:txBody>
                    <a:bodyPr/>
                    <a:lstStyle/>
                    <a:p>
                      <a:pPr algn="r"/>
                      <a:r>
                        <a:rPr sz="1300" b="0" i="0">
                          <a:solidFill>
                            <a:srgbClr val="1B2530"/>
                          </a:solidFill>
                          <a:latin typeface="Consolas"/>
                        </a:rPr>
                        <a:t>0.6807</a:t>
                      </a:r>
                    </a:p>
                  </a:txBody>
                  <a:tcPr marT="36000" marB="36000">
                    <a:solidFill>
                      <a:srgbClr val="FFFFFF"/>
                    </a:solidFill>
                  </a:tcPr>
                </a:tc>
              </a:tr>
              <a:tr h="310896">
                <a:tc>
                  <a:txBody>
                    <a:bodyPr/>
                    <a:lstStyle/>
                    <a:p>
                      <a:r>
                        <a:rPr sz="1300" b="0" i="0">
                          <a:solidFill>
                            <a:srgbClr val="1B2530"/>
                          </a:solidFill>
                          <a:latin typeface="Calibri"/>
                        </a:rPr>
                        <a:t>GPT-4o (naive)</a:t>
                      </a:r>
                    </a:p>
                  </a:txBody>
                  <a:tcPr marT="36000" marB="36000">
                    <a:solidFill>
                      <a:srgbClr val="FFFFFF"/>
                    </a:solidFill>
                  </a:tcPr>
                </a:tc>
                <a:tc>
                  <a:txBody>
                    <a:bodyPr/>
                    <a:lstStyle/>
                    <a:p>
                      <a:pPr algn="r"/>
                      <a:r>
                        <a:rPr sz="1300" b="0" i="0">
                          <a:solidFill>
                            <a:srgbClr val="1B2530"/>
                          </a:solidFill>
                          <a:latin typeface="Consolas"/>
                        </a:rPr>
                        <a:t>0.4163</a:t>
                      </a:r>
                    </a:p>
                  </a:txBody>
                  <a:tcPr marT="36000" marB="36000">
                    <a:solidFill>
                      <a:srgbClr val="FFFFFF"/>
                    </a:solidFill>
                  </a:tcPr>
                </a:tc>
                <a:tc>
                  <a:txBody>
                    <a:bodyPr/>
                    <a:lstStyle/>
                    <a:p>
                      <a:pPr algn="r"/>
                      <a:r>
                        <a:rPr sz="1300" b="0" i="0">
                          <a:solidFill>
                            <a:srgbClr val="1B2530"/>
                          </a:solidFill>
                          <a:latin typeface="Consolas"/>
                        </a:rPr>
                        <a:t>0.8428</a:t>
                      </a:r>
                    </a:p>
                  </a:txBody>
                  <a:tcPr marT="36000" marB="36000">
                    <a:solidFill>
                      <a:srgbClr val="FFFFFF"/>
                    </a:solidFill>
                  </a:tcPr>
                </a:tc>
                <a:tc>
                  <a:txBody>
                    <a:bodyPr/>
                    <a:lstStyle/>
                    <a:p>
                      <a:pPr algn="r"/>
                      <a:r>
                        <a:rPr sz="1300" b="0" i="0">
                          <a:solidFill>
                            <a:srgbClr val="1B2530"/>
                          </a:solidFill>
                          <a:latin typeface="Consolas"/>
                        </a:rPr>
                        <a:t>0.7035</a:t>
                      </a:r>
                    </a:p>
                  </a:txBody>
                  <a:tcPr marT="36000" marB="36000">
                    <a:solidFill>
                      <a:srgbClr val="FFFFFF"/>
                    </a:solidFill>
                  </a:tcPr>
                </a:tc>
                <a:tc>
                  <a:txBody>
                    <a:bodyPr/>
                    <a:lstStyle/>
                    <a:p>
                      <a:pPr algn="r"/>
                      <a:r>
                        <a:rPr sz="1300" b="0" i="0">
                          <a:solidFill>
                            <a:srgbClr val="1B2530"/>
                          </a:solidFill>
                          <a:latin typeface="Consolas"/>
                        </a:rPr>
                        <a:t>0.6864</a:t>
                      </a:r>
                    </a:p>
                  </a:txBody>
                  <a:tcPr marT="36000" marB="36000">
                    <a:solidFill>
                      <a:srgbClr val="FFFFFF"/>
                    </a:solidFill>
                  </a:tcPr>
                </a:tc>
              </a:tr>
              <a:tr h="310896">
                <a:tc>
                  <a:txBody>
                    <a:bodyPr/>
                    <a:lstStyle/>
                    <a:p>
                      <a:r>
                        <a:rPr sz="1300" b="0" i="0">
                          <a:solidFill>
                            <a:srgbClr val="1B2530"/>
                          </a:solidFill>
                          <a:latin typeface="Calibri"/>
                        </a:rPr>
                        <a:t>PiVe (iterative verifier)</a:t>
                      </a:r>
                    </a:p>
                  </a:txBody>
                  <a:tcPr marT="36000" marB="36000">
                    <a:solidFill>
                      <a:srgbClr val="FFFFFF"/>
                    </a:solidFill>
                  </a:tcPr>
                </a:tc>
                <a:tc>
                  <a:txBody>
                    <a:bodyPr/>
                    <a:lstStyle/>
                    <a:p>
                      <a:pPr algn="r"/>
                      <a:r>
                        <a:rPr sz="1300" b="0" i="0">
                          <a:solidFill>
                            <a:srgbClr val="1B2530"/>
                          </a:solidFill>
                          <a:latin typeface="Consolas"/>
                        </a:rPr>
                        <a:t>0.4090</a:t>
                      </a:r>
                    </a:p>
                  </a:txBody>
                  <a:tcPr marT="36000" marB="36000">
                    <a:solidFill>
                      <a:srgbClr val="FFFFFF"/>
                    </a:solidFill>
                  </a:tcPr>
                </a:tc>
                <a:tc>
                  <a:txBody>
                    <a:bodyPr/>
                    <a:lstStyle/>
                    <a:p>
                      <a:pPr algn="r"/>
                      <a:r>
                        <a:rPr sz="1300" b="0" i="0">
                          <a:solidFill>
                            <a:srgbClr val="1B2530"/>
                          </a:solidFill>
                          <a:latin typeface="Consolas"/>
                        </a:rPr>
                        <a:t>0.8230</a:t>
                      </a:r>
                    </a:p>
                  </a:txBody>
                  <a:tcPr marT="36000" marB="36000">
                    <a:solidFill>
                      <a:srgbClr val="FFFFFF"/>
                    </a:solidFill>
                  </a:tcPr>
                </a:tc>
                <a:tc>
                  <a:txBody>
                    <a:bodyPr/>
                    <a:lstStyle/>
                    <a:p>
                      <a:pPr algn="r"/>
                      <a:r>
                        <a:rPr sz="1300" b="0" i="0">
                          <a:solidFill>
                            <a:srgbClr val="1B2530"/>
                          </a:solidFill>
                          <a:latin typeface="Consolas"/>
                        </a:rPr>
                        <a:t>0.6725</a:t>
                      </a:r>
                    </a:p>
                  </a:txBody>
                  <a:tcPr marT="36000" marB="36000">
                    <a:solidFill>
                      <a:srgbClr val="FFFFFF"/>
                    </a:solidFill>
                  </a:tcPr>
                </a:tc>
                <a:tc>
                  <a:txBody>
                    <a:bodyPr/>
                    <a:lstStyle/>
                    <a:p>
                      <a:pPr algn="r"/>
                      <a:r>
                        <a:rPr sz="1300" b="0" i="0">
                          <a:solidFill>
                            <a:srgbClr val="1B2530"/>
                          </a:solidFill>
                          <a:latin typeface="Consolas"/>
                        </a:rPr>
                        <a:t>0.6289</a:t>
                      </a:r>
                    </a:p>
                  </a:txBody>
                  <a:tcPr marT="36000" marB="36000">
                    <a:solidFill>
                      <a:srgbClr val="FFFFFF"/>
                    </a:solidFill>
                  </a:tcPr>
                </a:tc>
              </a:tr>
              <a:tr h="310896">
                <a:tc>
                  <a:txBody>
                    <a:bodyPr/>
                    <a:lstStyle/>
                    <a:p>
                      <a:r>
                        <a:rPr sz="1300" b="0" i="0">
                          <a:solidFill>
                            <a:srgbClr val="1B2530"/>
                          </a:solidFill>
                          <a:latin typeface="Calibri"/>
                        </a:rPr>
                        <a:t>KGGen (clustering)</a:t>
                      </a:r>
                    </a:p>
                  </a:txBody>
                  <a:tcPr marT="36000" marB="36000">
                    <a:solidFill>
                      <a:srgbClr val="FFFFFF"/>
                    </a:solidFill>
                  </a:tcPr>
                </a:tc>
                <a:tc>
                  <a:txBody>
                    <a:bodyPr/>
                    <a:lstStyle/>
                    <a:p>
                      <a:pPr algn="r"/>
                      <a:r>
                        <a:rPr sz="1300" b="0" i="0">
                          <a:solidFill>
                            <a:srgbClr val="1B2530"/>
                          </a:solidFill>
                          <a:latin typeface="Consolas"/>
                        </a:rPr>
                        <a:t>0.4995</a:t>
                      </a:r>
                    </a:p>
                  </a:txBody>
                  <a:tcPr marT="36000" marB="36000">
                    <a:solidFill>
                      <a:srgbClr val="FFFFFF"/>
                    </a:solidFill>
                  </a:tcPr>
                </a:tc>
                <a:tc>
                  <a:txBody>
                    <a:bodyPr/>
                    <a:lstStyle/>
                    <a:p>
                      <a:pPr algn="r"/>
                      <a:r>
                        <a:rPr sz="1300" b="0" i="0">
                          <a:solidFill>
                            <a:srgbClr val="1B2530"/>
                          </a:solidFill>
                          <a:latin typeface="Consolas"/>
                        </a:rPr>
                        <a:t>0.8169</a:t>
                      </a:r>
                    </a:p>
                  </a:txBody>
                  <a:tcPr marT="36000" marB="36000">
                    <a:solidFill>
                      <a:srgbClr val="FFFFFF"/>
                    </a:solidFill>
                  </a:tcPr>
                </a:tc>
                <a:tc>
                  <a:txBody>
                    <a:bodyPr/>
                    <a:lstStyle/>
                    <a:p>
                      <a:pPr algn="r"/>
                      <a:r>
                        <a:rPr sz="1300" b="0" i="0">
                          <a:solidFill>
                            <a:srgbClr val="1B2530"/>
                          </a:solidFill>
                          <a:latin typeface="Consolas"/>
                        </a:rPr>
                        <a:t>0.6635</a:t>
                      </a:r>
                    </a:p>
                  </a:txBody>
                  <a:tcPr marT="36000" marB="36000">
                    <a:solidFill>
                      <a:srgbClr val="FFFFFF"/>
                    </a:solidFill>
                  </a:tcPr>
                </a:tc>
                <a:tc>
                  <a:txBody>
                    <a:bodyPr/>
                    <a:lstStyle/>
                    <a:p>
                      <a:pPr algn="r"/>
                      <a:r>
                        <a:rPr sz="1300" b="0" i="0">
                          <a:solidFill>
                            <a:srgbClr val="1B2530"/>
                          </a:solidFill>
                          <a:latin typeface="Consolas"/>
                        </a:rPr>
                        <a:t>0.4372</a:t>
                      </a:r>
                    </a:p>
                  </a:txBody>
                  <a:tcPr marT="36000" marB="36000">
                    <a:solidFill>
                      <a:srgbClr val="FFFFFF"/>
                    </a:solidFill>
                  </a:tcPr>
                </a:tc>
              </a:tr>
              <a:tr h="310896">
                <a:tc>
                  <a:txBody>
                    <a:bodyPr/>
                    <a:lstStyle/>
                    <a:p>
                      <a:r>
                        <a:rPr sz="1300" b="0" i="0">
                          <a:solidFill>
                            <a:srgbClr val="1B2530"/>
                          </a:solidFill>
                          <a:latin typeface="Calibri"/>
                        </a:rPr>
                        <a:t>GraphJudge</a:t>
                      </a:r>
                    </a:p>
                  </a:txBody>
                  <a:tcPr marT="36000" marB="36000">
                    <a:solidFill>
                      <a:srgbClr val="FFFFFF"/>
                    </a:solidFill>
                  </a:tcPr>
                </a:tc>
                <a:tc>
                  <a:txBody>
                    <a:bodyPr/>
                    <a:lstStyle/>
                    <a:p>
                      <a:pPr algn="r"/>
                      <a:r>
                        <a:rPr sz="1300" b="1" i="0">
                          <a:solidFill>
                            <a:srgbClr val="0E7C5B"/>
                          </a:solidFill>
                          <a:latin typeface="Consolas"/>
                        </a:rPr>
                        <a:t>0.5796</a:t>
                      </a:r>
                    </a:p>
                  </a:txBody>
                  <a:tcPr marT="36000" marB="36000">
                    <a:solidFill>
                      <a:srgbClr val="FFFFFF"/>
                    </a:solidFill>
                  </a:tcPr>
                </a:tc>
                <a:tc>
                  <a:txBody>
                    <a:bodyPr/>
                    <a:lstStyle/>
                    <a:p>
                      <a:pPr algn="r"/>
                      <a:r>
                        <a:rPr sz="1300" b="1" i="0">
                          <a:solidFill>
                            <a:srgbClr val="0E7C5B"/>
                          </a:solidFill>
                          <a:latin typeface="Consolas"/>
                        </a:rPr>
                        <a:t>0.8457</a:t>
                      </a:r>
                    </a:p>
                  </a:txBody>
                  <a:tcPr marT="36000" marB="36000">
                    <a:solidFill>
                      <a:srgbClr val="FFFFFF"/>
                    </a:solidFill>
                  </a:tcPr>
                </a:tc>
                <a:tc>
                  <a:txBody>
                    <a:bodyPr/>
                    <a:lstStyle/>
                    <a:p>
                      <a:pPr algn="r"/>
                      <a:r>
                        <a:rPr sz="1300" b="1" i="0">
                          <a:solidFill>
                            <a:srgbClr val="0E7C5B"/>
                          </a:solidFill>
                          <a:latin typeface="Consolas"/>
                        </a:rPr>
                        <a:t>0.7283</a:t>
                      </a:r>
                    </a:p>
                  </a:txBody>
                  <a:tcPr marT="36000" marB="36000">
                    <a:solidFill>
                      <a:srgbClr val="FFFFFF"/>
                    </a:solidFill>
                  </a:tcPr>
                </a:tc>
                <a:tc>
                  <a:txBody>
                    <a:bodyPr/>
                    <a:lstStyle/>
                    <a:p>
                      <a:pPr algn="r"/>
                      <a:r>
                        <a:rPr sz="1300" b="1" i="0">
                          <a:solidFill>
                            <a:srgbClr val="0E7C5B"/>
                          </a:solidFill>
                          <a:latin typeface="Consolas"/>
                        </a:rPr>
                        <a:t>0.7051</a:t>
                      </a:r>
                    </a:p>
                  </a:txBody>
                  <a:tcPr marT="36000" marB="36000">
                    <a:solidFill>
                      <a:srgbClr val="FFFFFF"/>
                    </a:solidFill>
                  </a:tcPr>
                </a:tc>
              </a:tr>
            </a:tbl>
          </a:graphicData>
        </a:graphic>
      </p:graphicFrame>
      <p:sp>
        <p:nvSpPr>
          <p:cNvPr id="5" name="TextBox 4"/>
          <p:cNvSpPr txBox="1"/>
          <p:nvPr/>
        </p:nvSpPr>
        <p:spPr>
          <a:xfrm>
            <a:off x="548640" y="4114800"/>
            <a:ext cx="11064240" cy="2011680"/>
          </a:xfrm>
          <a:prstGeom prst="rect">
            <a:avLst/>
          </a:prstGeom>
          <a:noFill/>
        </p:spPr>
        <p:txBody>
          <a:bodyPr wrap="square">
            <a:spAutoFit/>
          </a:bodyPr>
          <a:lstStyle/>
          <a:p>
            <a:pPr>
              <a:spcAft>
                <a:spcPts val="800"/>
              </a:spcAft>
            </a:pPr>
            <a:r>
              <a:rPr sz="1300" b="0" i="0">
                <a:solidFill>
                  <a:srgbClr val="5E6B7A"/>
                </a:solidFill>
                <a:latin typeface="Calibri"/>
              </a:rPr>
              <a:t>G-BERTScore F1 (semantic match between predicted and gold graphs). Datasets span general, scientific and Windows-domain text.</a:t>
            </a:r>
          </a:p>
          <a:p>
            <a:pPr>
              <a:spcAft>
                <a:spcPts val="600"/>
              </a:spcAft>
            </a:pPr>
            <a:r>
              <a:rPr sz="1500" b="1" i="0">
                <a:solidFill>
                  <a:srgbClr val="3B4CC0"/>
                </a:solidFill>
                <a:latin typeface="Calibri"/>
              </a:rPr>
              <a:t>A 7B judge beats a 70B verifier (PiVe) and beats plain GPT-4o — better and far cheaper. Cross-dataset transfer also holds.</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EVALUATION — PROF. TAO'S HARD PART</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How do you score a generated graph?</a:t>
            </a:r>
          </a:p>
        </p:txBody>
      </p:sp>
      <p:sp>
        <p:nvSpPr>
          <p:cNvPr id="4" name="TextBox 3"/>
          <p:cNvSpPr txBox="1"/>
          <p:nvPr/>
        </p:nvSpPr>
        <p:spPr>
          <a:xfrm>
            <a:off x="548640" y="1783080"/>
            <a:ext cx="5760720" cy="4297680"/>
          </a:xfrm>
          <a:prstGeom prst="rect">
            <a:avLst/>
          </a:prstGeom>
          <a:noFill/>
        </p:spPr>
        <p:txBody>
          <a:bodyPr wrap="square">
            <a:spAutoFit/>
          </a:bodyPr>
          <a:lstStyle/>
          <a:p>
            <a:pPr>
              <a:spcAft>
                <a:spcPts val="800"/>
              </a:spcAft>
            </a:pPr>
            <a:r>
              <a:rPr sz="1500" b="0" i="0">
                <a:solidFill>
                  <a:srgbClr val="1B2530"/>
                </a:solidFill>
                <a:latin typeface="Calibri"/>
              </a:rPr>
              <a:t>• Triple Match F1 — exact string match. Harsh: "part of" vs "component of" counts as wrong.</a:t>
            </a:r>
          </a:p>
          <a:p>
            <a:pPr>
              <a:spcAft>
                <a:spcPts val="800"/>
              </a:spcAft>
            </a:pPr>
            <a:r>
              <a:rPr sz="1500" b="0" i="0">
                <a:solidFill>
                  <a:srgbClr val="1B2530"/>
                </a:solidFill>
                <a:latin typeface="Calibri"/>
              </a:rPr>
              <a:t>• G-BLEU / G-ROUGE — soft n-gram overlap between each predicted edge and its best-matched gold edge.</a:t>
            </a:r>
          </a:p>
          <a:p>
            <a:pPr>
              <a:spcAft>
                <a:spcPts val="1000"/>
              </a:spcAft>
            </a:pPr>
            <a:r>
              <a:rPr sz="1500" b="0" i="0">
                <a:solidFill>
                  <a:srgbClr val="1B2530"/>
                </a:solidFill>
                <a:latin typeface="Calibri"/>
              </a:rPr>
              <a:t>• G-BERTScore — embedding similarity per edge: synonyms get credit. The headline metric.</a:t>
            </a:r>
          </a:p>
          <a:p>
            <a:pPr>
              <a:spcAft>
                <a:spcPts val="600"/>
              </a:spcAft>
            </a:pPr>
            <a:r>
              <a:rPr sz="1500" b="1" i="0">
                <a:solidFill>
                  <a:srgbClr val="3B4CC0"/>
                </a:solidFill>
                <a:latin typeface="Calibri"/>
              </a:rPr>
              <a:t>All of these need a GOLD reference graph. For animal science, none exists — we must hand-build a small one, or we cannot measure anything.</a:t>
            </a:r>
          </a:p>
        </p:txBody>
      </p:sp>
      <p:sp>
        <p:nvSpPr>
          <p:cNvPr id="5" name="TextBox 4"/>
          <p:cNvSpPr txBox="1"/>
          <p:nvPr/>
        </p:nvSpPr>
        <p:spPr>
          <a:xfrm>
            <a:off x="6675120" y="1783080"/>
            <a:ext cx="4937760" cy="4297680"/>
          </a:xfrm>
          <a:prstGeom prst="rect">
            <a:avLst/>
          </a:prstGeom>
          <a:noFill/>
        </p:spPr>
        <p:txBody>
          <a:bodyPr wrap="square">
            <a:spAutoFit/>
          </a:bodyPr>
          <a:lstStyle/>
          <a:p>
            <a:pPr>
              <a:spcAft>
                <a:spcPts val="600"/>
              </a:spcAft>
            </a:pPr>
            <a:r>
              <a:rPr sz="1300" b="0" i="0">
                <a:solidFill>
                  <a:srgbClr val="5E6B7A"/>
                </a:solidFill>
                <a:latin typeface="Calibri"/>
              </a:rPr>
              <a:t>Why exact match is not enough:</a:t>
            </a:r>
          </a:p>
          <a:p>
            <a:pPr>
              <a:spcAft>
                <a:spcPts val="600"/>
              </a:spcAft>
            </a:pPr>
            <a:r>
              <a:rPr sz="1200" b="0" i="0">
                <a:solidFill>
                  <a:srgbClr val="0E7C5B"/>
                </a:solidFill>
                <a:latin typeface="Consolas"/>
              </a:rPr>
              <a:t>gold:  (morphological analysis — used for — Japanese text processing)</a:t>
            </a:r>
          </a:p>
          <a:p>
            <a:pPr>
              <a:spcAft>
                <a:spcPts val="600"/>
              </a:spcAft>
            </a:pPr>
            <a:r>
              <a:rPr sz="1200" b="0" i="0">
                <a:solidFill>
                  <a:srgbClr val="1B2530"/>
                </a:solidFill>
                <a:latin typeface="Consolas"/>
              </a:rPr>
              <a:t>pred:  (morphological analysis — applied to — processing Japanese text)</a:t>
            </a:r>
          </a:p>
          <a:p>
            <a:pPr>
              <a:spcAft>
                <a:spcPts val="600"/>
              </a:spcAft>
            </a:pPr>
            <a:r>
              <a:rPr sz="1300" b="0" i="0">
                <a:solidFill>
                  <a:srgbClr val="5E6B7A"/>
                </a:solidFill>
                <a:latin typeface="Calibri"/>
              </a:rPr>
              <a:t>0 points on exact match, ~0.9 on G-BERTScore. Semantics over spelling.</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OUR HANDS-ON WORK — THIS WEEK</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We already ran the pipeline locally</a:t>
            </a:r>
          </a:p>
        </p:txBody>
      </p:sp>
      <p:sp>
        <p:nvSpPr>
          <p:cNvPr id="4" name="TextBox 3"/>
          <p:cNvSpPr txBox="1"/>
          <p:nvPr/>
        </p:nvSpPr>
        <p:spPr>
          <a:xfrm>
            <a:off x="548640" y="1737360"/>
            <a:ext cx="5577840" cy="1737360"/>
          </a:xfrm>
          <a:prstGeom prst="rect">
            <a:avLst/>
          </a:prstGeom>
          <a:noFill/>
        </p:spPr>
        <p:txBody>
          <a:bodyPr wrap="square">
            <a:spAutoFit/>
          </a:bodyPr>
          <a:lstStyle/>
          <a:p>
            <a:pPr>
              <a:spcAft>
                <a:spcPts val="600"/>
              </a:spcAft>
            </a:pPr>
            <a:r>
              <a:rPr sz="1350" b="0" i="0">
                <a:solidFill>
                  <a:srgbClr val="1B2530"/>
                </a:solidFill>
                <a:latin typeface="Calibri"/>
              </a:rPr>
              <a:t>• Official repo cloned, environment built, one device bug patched (hardcoded cuda:7 → mps/cpu).</a:t>
            </a:r>
          </a:p>
          <a:p>
            <a:pPr>
              <a:spcAft>
                <a:spcPts val="600"/>
              </a:spcAft>
            </a:pPr>
            <a:r>
              <a:rPr sz="1350" b="0" i="0">
                <a:solidFill>
                  <a:srgbClr val="1B2530"/>
                </a:solidFill>
                <a:latin typeface="Calibri"/>
              </a:rPr>
              <a:t>• 15 SCIERC abstracts: extraction pass (129 triples), strict support-check filter (95 kept, 26% removed).</a:t>
            </a:r>
          </a:p>
          <a:p>
            <a:pPr>
              <a:spcAft>
                <a:spcPts val="600"/>
              </a:spcAft>
            </a:pPr>
            <a:r>
              <a:rPr sz="1350" b="0" i="0">
                <a:solidFill>
                  <a:srgbClr val="1B2530"/>
                </a:solidFill>
                <a:latin typeface="Calibri"/>
              </a:rPr>
              <a:t>• Scored both with the paper's own metric code.</a:t>
            </a:r>
          </a:p>
        </p:txBody>
      </p:sp>
      <p:graphicFrame>
        <p:nvGraphicFramePr>
          <p:cNvPr id="5" name="Table 4"/>
          <p:cNvGraphicFramePr>
            <a:graphicFrameLocks noGrp="1"/>
          </p:cNvGraphicFramePr>
          <p:nvPr/>
        </p:nvGraphicFramePr>
        <p:xfrm>
          <a:off x="548640" y="3657600"/>
          <a:ext cx="5577840" cy="1554480"/>
        </p:xfrm>
        <a:graphic>
          <a:graphicData uri="http://schemas.openxmlformats.org/drawingml/2006/table">
            <a:tbl>
              <a:tblPr>
                <a:tableStyleId>{5C22544A-7EE6-4342-B048-85BDC9FD1C3A}</a:tableStyleId>
              </a:tblPr>
              <a:tblGrid>
                <a:gridCol w="2468880"/>
                <a:gridCol w="1554480"/>
                <a:gridCol w="1554480"/>
              </a:tblGrid>
              <a:tr h="310896">
                <a:tc>
                  <a:txBody>
                    <a:bodyPr/>
                    <a:lstStyle/>
                    <a:p>
                      <a:r>
                        <a:rPr sz="1300" b="1" i="0">
                          <a:solidFill>
                            <a:srgbClr val="5E6B7A"/>
                          </a:solidFill>
                          <a:latin typeface="Calibri"/>
                        </a:rPr>
                        <a:t>Metric</a:t>
                      </a:r>
                    </a:p>
                  </a:txBody>
                  <a:tcPr marT="36000" marB="36000">
                    <a:solidFill>
                      <a:srgbClr val="E4E8F8"/>
                    </a:solidFill>
                  </a:tcPr>
                </a:tc>
                <a:tc>
                  <a:txBody>
                    <a:bodyPr/>
                    <a:lstStyle/>
                    <a:p>
                      <a:pPr algn="r"/>
                      <a:r>
                        <a:rPr sz="1300" b="1" i="0">
                          <a:solidFill>
                            <a:srgbClr val="5E6B7A"/>
                          </a:solidFill>
                          <a:latin typeface="Calibri"/>
                        </a:rPr>
                        <a:t>Naive</a:t>
                      </a:r>
                    </a:p>
                  </a:txBody>
                  <a:tcPr marT="36000" marB="36000">
                    <a:solidFill>
                      <a:srgbClr val="E4E8F8"/>
                    </a:solidFill>
                  </a:tcPr>
                </a:tc>
                <a:tc>
                  <a:txBody>
                    <a:bodyPr/>
                    <a:lstStyle/>
                    <a:p>
                      <a:pPr algn="r"/>
                      <a:r>
                        <a:rPr sz="1300" b="1" i="0">
                          <a:solidFill>
                            <a:srgbClr val="5E6B7A"/>
                          </a:solidFill>
                          <a:latin typeface="Calibri"/>
                        </a:rPr>
                        <a:t>Judged</a:t>
                      </a:r>
                    </a:p>
                  </a:txBody>
                  <a:tcPr marT="36000" marB="36000">
                    <a:solidFill>
                      <a:srgbClr val="E4E8F8"/>
                    </a:solidFill>
                  </a:tcPr>
                </a:tc>
              </a:tr>
              <a:tr h="310896">
                <a:tc>
                  <a:txBody>
                    <a:bodyPr/>
                    <a:lstStyle/>
                    <a:p>
                      <a:r>
                        <a:rPr sz="1300" b="0" i="0">
                          <a:solidFill>
                            <a:srgbClr val="1B2530"/>
                          </a:solidFill>
                          <a:latin typeface="Calibri"/>
                        </a:rPr>
                        <a:t>G-BS Precision</a:t>
                      </a:r>
                    </a:p>
                  </a:txBody>
                  <a:tcPr marT="36000" marB="36000">
                    <a:solidFill>
                      <a:srgbClr val="FFFFFF"/>
                    </a:solidFill>
                  </a:tcPr>
                </a:tc>
                <a:tc>
                  <a:txBody>
                    <a:bodyPr/>
                    <a:lstStyle/>
                    <a:p>
                      <a:pPr algn="r"/>
                      <a:r>
                        <a:rPr sz="1300" b="0" i="0">
                          <a:solidFill>
                            <a:srgbClr val="1B2530"/>
                          </a:solidFill>
                          <a:latin typeface="Consolas"/>
                        </a:rPr>
                        <a:t>0.9006</a:t>
                      </a:r>
                    </a:p>
                  </a:txBody>
                  <a:tcPr marT="36000" marB="36000">
                    <a:solidFill>
                      <a:srgbClr val="FFFFFF"/>
                    </a:solidFill>
                  </a:tcPr>
                </a:tc>
                <a:tc>
                  <a:txBody>
                    <a:bodyPr/>
                    <a:lstStyle/>
                    <a:p>
                      <a:pPr algn="r"/>
                      <a:r>
                        <a:rPr sz="1300" b="1" i="0">
                          <a:solidFill>
                            <a:srgbClr val="0E7C5B"/>
                          </a:solidFill>
                          <a:latin typeface="Consolas"/>
                        </a:rPr>
                        <a:t>0.9391</a:t>
                      </a:r>
                    </a:p>
                  </a:txBody>
                  <a:tcPr marT="36000" marB="36000">
                    <a:solidFill>
                      <a:srgbClr val="FFFFFF"/>
                    </a:solidFill>
                  </a:tcPr>
                </a:tc>
              </a:tr>
              <a:tr h="310896">
                <a:tc>
                  <a:txBody>
                    <a:bodyPr/>
                    <a:lstStyle/>
                    <a:p>
                      <a:r>
                        <a:rPr sz="1300" b="0" i="0">
                          <a:solidFill>
                            <a:srgbClr val="1B2530"/>
                          </a:solidFill>
                          <a:latin typeface="Calibri"/>
                        </a:rPr>
                        <a:t>G-BLEU Precision</a:t>
                      </a:r>
                    </a:p>
                  </a:txBody>
                  <a:tcPr marT="36000" marB="36000">
                    <a:solidFill>
                      <a:srgbClr val="FFFFFF"/>
                    </a:solidFill>
                  </a:tcPr>
                </a:tc>
                <a:tc>
                  <a:txBody>
                    <a:bodyPr/>
                    <a:lstStyle/>
                    <a:p>
                      <a:pPr algn="r"/>
                      <a:r>
                        <a:rPr sz="1300" b="0" i="0">
                          <a:solidFill>
                            <a:srgbClr val="1B2530"/>
                          </a:solidFill>
                          <a:latin typeface="Consolas"/>
                        </a:rPr>
                        <a:t>0.7477</a:t>
                      </a:r>
                    </a:p>
                  </a:txBody>
                  <a:tcPr marT="36000" marB="36000">
                    <a:solidFill>
                      <a:srgbClr val="FFFFFF"/>
                    </a:solidFill>
                  </a:tcPr>
                </a:tc>
                <a:tc>
                  <a:txBody>
                    <a:bodyPr/>
                    <a:lstStyle/>
                    <a:p>
                      <a:pPr algn="r"/>
                      <a:r>
                        <a:rPr sz="1300" b="1" i="0">
                          <a:solidFill>
                            <a:srgbClr val="0E7C5B"/>
                          </a:solidFill>
                          <a:latin typeface="Consolas"/>
                        </a:rPr>
                        <a:t>0.7842</a:t>
                      </a:r>
                    </a:p>
                  </a:txBody>
                  <a:tcPr marT="36000" marB="36000">
                    <a:solidFill>
                      <a:srgbClr val="FFFFFF"/>
                    </a:solidFill>
                  </a:tcPr>
                </a:tc>
              </a:tr>
              <a:tr h="310896">
                <a:tc>
                  <a:txBody>
                    <a:bodyPr/>
                    <a:lstStyle/>
                    <a:p>
                      <a:r>
                        <a:rPr sz="1300" b="0" i="0">
                          <a:solidFill>
                            <a:srgbClr val="1B2530"/>
                          </a:solidFill>
                          <a:latin typeface="Calibri"/>
                        </a:rPr>
                        <a:t>G-BS Recall</a:t>
                      </a:r>
                    </a:p>
                  </a:txBody>
                  <a:tcPr marT="36000" marB="36000">
                    <a:solidFill>
                      <a:srgbClr val="FFFFFF"/>
                    </a:solidFill>
                  </a:tcPr>
                </a:tc>
                <a:tc>
                  <a:txBody>
                    <a:bodyPr/>
                    <a:lstStyle/>
                    <a:p>
                      <a:pPr algn="r"/>
                      <a:r>
                        <a:rPr sz="1300" b="1" i="0">
                          <a:solidFill>
                            <a:srgbClr val="0E7C5B"/>
                          </a:solidFill>
                          <a:latin typeface="Consolas"/>
                        </a:rPr>
                        <a:t>0.7410</a:t>
                      </a:r>
                    </a:p>
                  </a:txBody>
                  <a:tcPr marT="36000" marB="36000">
                    <a:solidFill>
                      <a:srgbClr val="FFFFFF"/>
                    </a:solidFill>
                  </a:tcPr>
                </a:tc>
                <a:tc>
                  <a:txBody>
                    <a:bodyPr/>
                    <a:lstStyle/>
                    <a:p>
                      <a:pPr algn="r"/>
                      <a:r>
                        <a:rPr sz="1300" b="0" i="0">
                          <a:solidFill>
                            <a:srgbClr val="1B2530"/>
                          </a:solidFill>
                          <a:latin typeface="Consolas"/>
                        </a:rPr>
                        <a:t>0.5725</a:t>
                      </a:r>
                    </a:p>
                  </a:txBody>
                  <a:tcPr marT="36000" marB="36000">
                    <a:solidFill>
                      <a:srgbClr val="FFFFFF"/>
                    </a:solidFill>
                  </a:tcPr>
                </a:tc>
              </a:tr>
              <a:tr h="310896">
                <a:tc>
                  <a:txBody>
                    <a:bodyPr/>
                    <a:lstStyle/>
                    <a:p>
                      <a:r>
                        <a:rPr sz="1300" b="0" i="0">
                          <a:solidFill>
                            <a:srgbClr val="1B2530"/>
                          </a:solidFill>
                          <a:latin typeface="Calibri"/>
                        </a:rPr>
                        <a:t>G-BS F1</a:t>
                      </a:r>
                    </a:p>
                  </a:txBody>
                  <a:tcPr marT="36000" marB="36000">
                    <a:solidFill>
                      <a:srgbClr val="FFFFFF"/>
                    </a:solidFill>
                  </a:tcPr>
                </a:tc>
                <a:tc>
                  <a:txBody>
                    <a:bodyPr/>
                    <a:lstStyle/>
                    <a:p>
                      <a:pPr algn="r"/>
                      <a:r>
                        <a:rPr sz="1300" b="1" i="0">
                          <a:solidFill>
                            <a:srgbClr val="0E7C5B"/>
                          </a:solidFill>
                          <a:latin typeface="Consolas"/>
                        </a:rPr>
                        <a:t>0.7842</a:t>
                      </a:r>
                    </a:p>
                  </a:txBody>
                  <a:tcPr marT="36000" marB="36000">
                    <a:solidFill>
                      <a:srgbClr val="FFFFFF"/>
                    </a:solidFill>
                  </a:tcPr>
                </a:tc>
                <a:tc>
                  <a:txBody>
                    <a:bodyPr/>
                    <a:lstStyle/>
                    <a:p>
                      <a:pPr algn="r"/>
                      <a:r>
                        <a:rPr sz="1300" b="0" i="0">
                          <a:solidFill>
                            <a:srgbClr val="1B2530"/>
                          </a:solidFill>
                          <a:latin typeface="Consolas"/>
                        </a:rPr>
                        <a:t>0.6880</a:t>
                      </a:r>
                    </a:p>
                  </a:txBody>
                  <a:tcPr marT="36000" marB="36000">
                    <a:solidFill>
                      <a:srgbClr val="FFFFFF"/>
                    </a:solidFill>
                  </a:tcPr>
                </a:tc>
              </a:tr>
            </a:tbl>
          </a:graphicData>
        </a:graphic>
      </p:graphicFrame>
      <p:sp>
        <p:nvSpPr>
          <p:cNvPr id="6" name="TextBox 5"/>
          <p:cNvSpPr txBox="1"/>
          <p:nvPr/>
        </p:nvSpPr>
        <p:spPr>
          <a:xfrm>
            <a:off x="6492240" y="1737360"/>
            <a:ext cx="5120640" cy="4480560"/>
          </a:xfrm>
          <a:prstGeom prst="rect">
            <a:avLst/>
          </a:prstGeom>
          <a:noFill/>
        </p:spPr>
        <p:txBody>
          <a:bodyPr wrap="square">
            <a:spAutoFit/>
          </a:bodyPr>
          <a:lstStyle/>
          <a:p>
            <a:pPr>
              <a:spcAft>
                <a:spcPts val="800"/>
              </a:spcAft>
            </a:pPr>
            <a:r>
              <a:rPr sz="1500" b="1" i="0">
                <a:solidFill>
                  <a:srgbClr val="0E7C5B"/>
                </a:solidFill>
                <a:latin typeface="Calibri"/>
              </a:rPr>
              <a:t>Judging raised precision on every metric — the GJ effect, reproduced.</a:t>
            </a:r>
          </a:p>
          <a:p>
            <a:pPr>
              <a:spcAft>
                <a:spcPts val="800"/>
              </a:spcAft>
            </a:pPr>
            <a:r>
              <a:rPr sz="1500" b="0" i="0">
                <a:solidFill>
                  <a:srgbClr val="1B2530"/>
                </a:solidFill>
                <a:latin typeface="Calibri"/>
              </a:rPr>
              <a:t>But our crude filter also deleted correct triples, so recall fell harder and F1 dropped.</a:t>
            </a:r>
          </a:p>
          <a:p>
            <a:pPr>
              <a:spcAft>
                <a:spcPts val="800"/>
              </a:spcAft>
            </a:pPr>
            <a:r>
              <a:rPr sz="1500" b="0" i="0">
                <a:solidFill>
                  <a:srgbClr val="1B2530"/>
                </a:solidFill>
                <a:latin typeface="Calibri"/>
              </a:rPr>
              <a:t>That is exactly why the paper fine-tunes a judge instead of filtering by rules: a trained judge removes only what is actually wrong.</a:t>
            </a:r>
          </a:p>
          <a:p>
            <a:pPr>
              <a:spcAft>
                <a:spcPts val="600"/>
              </a:spcAft>
            </a:pPr>
            <a:r>
              <a:rPr sz="1400" b="0" i="0">
                <a:solidFill>
                  <a:srgbClr val="5E6B7A"/>
                </a:solidFill>
                <a:latin typeface="Calibri"/>
              </a:rPr>
              <a:t>Filter quality decides whether the KG improves — or just shrinks.</a:t>
            </a:r>
          </a:p>
        </p:txBody>
      </p:sp>
      <p:sp>
        <p:nvSpPr>
          <p:cNvPr id="7" name="TextBox 6"/>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MAPPING TO KGCOMPASS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What we take into the animal science KG</a:t>
            </a:r>
          </a:p>
        </p:txBody>
      </p:sp>
      <p:sp>
        <p:nvSpPr>
          <p:cNvPr id="4" name="TextBox 3"/>
          <p:cNvSpPr txBox="1"/>
          <p:nvPr/>
        </p:nvSpPr>
        <p:spPr>
          <a:xfrm>
            <a:off x="548640" y="1783080"/>
            <a:ext cx="11064240" cy="4572000"/>
          </a:xfrm>
          <a:prstGeom prst="rect">
            <a:avLst/>
          </a:prstGeom>
          <a:noFill/>
        </p:spPr>
        <p:txBody>
          <a:bodyPr wrap="square">
            <a:spAutoFit/>
          </a:bodyPr>
          <a:lstStyle/>
          <a:p>
            <a:pPr>
              <a:spcAft>
                <a:spcPts val="900"/>
              </a:spcAft>
            </a:pPr>
            <a:r>
              <a:rPr sz="1500" b="0" i="0">
                <a:solidFill>
                  <a:srgbClr val="1B2530"/>
                </a:solidFill>
                <a:latin typeface="Calibri"/>
              </a:rPr>
              <a:t>• Triplet accuracy first (Prof. Tao's directive) = the Graph Judgement module. Judge each triple directly against its source text; never evaluate through another model's generated content.</a:t>
            </a:r>
          </a:p>
          <a:p>
            <a:pPr>
              <a:spcAft>
                <a:spcPts val="900"/>
              </a:spcAft>
            </a:pPr>
            <a:r>
              <a:rPr sz="1500" b="0" i="0">
                <a:solidFill>
                  <a:srgbClr val="1B2530"/>
                </a:solidFill>
                <a:latin typeface="Calibri"/>
              </a:rPr>
              <a:t>• Recall then precision: over-generate candidates from the corpus, then filter with a judge — don't try to extract perfectly in one pass.</a:t>
            </a:r>
          </a:p>
          <a:p>
            <a:pPr>
              <a:spcAft>
                <a:spcPts val="900"/>
              </a:spcAft>
            </a:pPr>
            <a:r>
              <a:rPr sz="1500" b="0" i="0">
                <a:solidFill>
                  <a:srgbClr val="1B2530"/>
                </a:solidFill>
                <a:latin typeface="Calibri"/>
              </a:rPr>
              <a:t>• Train a domain judge: hand-label a small gold set of animal science triples as a team — it doubles as judge training data and our evaluation gold standard.</a:t>
            </a:r>
          </a:p>
          <a:p>
            <a:pPr>
              <a:spcAft>
                <a:spcPts val="900"/>
              </a:spcAft>
            </a:pPr>
            <a:r>
              <a:rPr sz="1500" b="0" i="0">
                <a:solidFill>
                  <a:srgbClr val="1B2530"/>
                </a:solidFill>
                <a:latin typeface="Calibri"/>
              </a:rPr>
              <a:t>• Cheap to run: released LoRA weights exist (HuggingFace: HaoyuHuang2/graphjudger); our own fine-tune fits a single HPRC GPU.</a:t>
            </a:r>
          </a:p>
          <a:p>
            <a:pPr>
              <a:spcAft>
                <a:spcPts val="600"/>
              </a:spcAft>
            </a:pPr>
            <a:r>
              <a:rPr sz="1500" b="0" i="0">
                <a:solidFill>
                  <a:srgbClr val="1B2530"/>
                </a:solidFill>
                <a:latin typeface="Calibri"/>
              </a:rPr>
              <a:t>• Open angles: richer knowledge units beyond flat triples · evaluation without gold graphs · pruning after construction (complementary to judge-filtering during construction).</a:t>
            </a:r>
          </a:p>
        </p:txBody>
      </p:sp>
      <p:sp>
        <p:nvSpPr>
          <p:cNvPr id="5" name="TextBox 4"/>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READ CRITICALLY</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Limitations the authors admit — our opportunities</a:t>
            </a:r>
          </a:p>
        </p:txBody>
      </p:sp>
      <p:sp>
        <p:nvSpPr>
          <p:cNvPr id="4" name="TextBox 3"/>
          <p:cNvSpPr txBox="1"/>
          <p:nvPr/>
        </p:nvSpPr>
        <p:spPr>
          <a:xfrm>
            <a:off x="548640" y="1783080"/>
            <a:ext cx="5760720" cy="4206240"/>
          </a:xfrm>
          <a:prstGeom prst="rect">
            <a:avLst/>
          </a:prstGeom>
          <a:noFill/>
        </p:spPr>
        <p:txBody>
          <a:bodyPr wrap="square">
            <a:spAutoFit/>
          </a:bodyPr>
          <a:lstStyle/>
          <a:p>
            <a:pPr>
              <a:spcAft>
                <a:spcPts val="900"/>
              </a:spcAft>
            </a:pPr>
            <a:r>
              <a:rPr sz="1500" b="0" i="0">
                <a:solidFill>
                  <a:srgbClr val="1B2530"/>
                </a:solidFill>
                <a:latin typeface="Calibri"/>
              </a:rPr>
              <a:t>• Only flat entity-level triples; no n-ary relations, events, or time.</a:t>
            </a:r>
          </a:p>
          <a:p>
            <a:pPr>
              <a:spcAft>
                <a:spcPts val="900"/>
              </a:spcAft>
            </a:pPr>
            <a:r>
              <a:rPr sz="1500" b="0" i="0">
                <a:solidFill>
                  <a:srgbClr val="1B2530"/>
                </a:solidFill>
                <a:latin typeface="Calibri"/>
              </a:rPr>
              <a:t>• "Gold" KGs used for scoring are themselves imperfect; the field lacks a self-supervised way to evaluate.</a:t>
            </a:r>
          </a:p>
          <a:p>
            <a:pPr>
              <a:spcAft>
                <a:spcPts val="600"/>
              </a:spcAft>
            </a:pPr>
            <a:r>
              <a:rPr sz="1500" b="0" i="0">
                <a:solidFill>
                  <a:srgbClr val="1B2530"/>
                </a:solidFill>
                <a:latin typeface="Calibri"/>
              </a:rPr>
              <a:t>• Judge accuracy dips on deeply specialized text (SCIERC: 0.63 vs 0.92 general) — domain gold data matters.</a:t>
            </a:r>
          </a:p>
        </p:txBody>
      </p:sp>
      <p:sp>
        <p:nvSpPr>
          <p:cNvPr id="5" name="TextBox 4"/>
          <p:cNvSpPr txBox="1"/>
          <p:nvPr/>
        </p:nvSpPr>
        <p:spPr>
          <a:xfrm>
            <a:off x="6675120" y="1783080"/>
            <a:ext cx="4937760" cy="4206240"/>
          </a:xfrm>
          <a:prstGeom prst="rect">
            <a:avLst/>
          </a:prstGeom>
          <a:noFill/>
        </p:spPr>
        <p:txBody>
          <a:bodyPr wrap="square">
            <a:spAutoFit/>
          </a:bodyPr>
          <a:lstStyle/>
          <a:p>
            <a:pPr>
              <a:spcAft>
                <a:spcPts val="1000"/>
              </a:spcAft>
            </a:pPr>
            <a:r>
              <a:rPr sz="1500" b="1" i="0">
                <a:solidFill>
                  <a:srgbClr val="0E7C5B"/>
                </a:solidFill>
                <a:latin typeface="Calibri"/>
              </a:rPr>
              <a:t>Each limitation is a research question we can own: domain-adapted judges for agriculture, evaluation without gold graphs, metric-driven graph pruning.</a:t>
            </a:r>
          </a:p>
          <a:p>
            <a:pPr>
              <a:spcAft>
                <a:spcPts val="600"/>
              </a:spcAft>
            </a:pPr>
            <a:r>
              <a:rPr sz="1350" b="0" i="0">
                <a:solidFill>
                  <a:srgbClr val="5E6B7A"/>
                </a:solidFill>
                <a:latin typeface="Calibri"/>
              </a:rPr>
              <a:t>Accepted at EMNLP 2025 Main — peer-reviewed foundation, public code and weights.</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i="0">
                <a:solidFill>
                  <a:srgbClr val="3B4CC0"/>
                </a:solidFill>
                <a:latin typeface="Consolas"/>
              </a:rPr>
              <a:t>PROPOSED NEXT STEPS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i="0">
                <a:solidFill>
                  <a:srgbClr val="1B2530"/>
                </a:solidFill>
                <a:latin typeface="Georgia"/>
              </a:rPr>
              <a:t>From reproduction to our own results — a 2-month plan</a:t>
            </a:r>
          </a:p>
        </p:txBody>
      </p:sp>
      <p:sp>
        <p:nvSpPr>
          <p:cNvPr id="4" name="TextBox 3"/>
          <p:cNvSpPr txBox="1"/>
          <p:nvPr/>
        </p:nvSpPr>
        <p:spPr>
          <a:xfrm>
            <a:off x="548640" y="1783080"/>
            <a:ext cx="11064240" cy="3108960"/>
          </a:xfrm>
          <a:prstGeom prst="rect">
            <a:avLst/>
          </a:prstGeom>
          <a:noFill/>
        </p:spPr>
        <p:txBody>
          <a:bodyPr wrap="square">
            <a:spAutoFit/>
          </a:bodyPr>
          <a:lstStyle/>
          <a:p>
            <a:pPr>
              <a:spcAft>
                <a:spcPts val="1000"/>
              </a:spcAft>
            </a:pPr>
            <a:r>
              <a:rPr sz="1550" b="0" i="0">
                <a:solidFill>
                  <a:srgbClr val="1B2530"/>
                </a:solidFill>
                <a:latin typeface="Calibri"/>
              </a:rPr>
              <a:t>• Weeks 1–2: full 100-document SCIERC reproduction with the released judge weights; HPRC access and GPU allocation set up.</a:t>
            </a:r>
          </a:p>
          <a:p>
            <a:pPr>
              <a:spcAft>
                <a:spcPts val="1000"/>
              </a:spcAft>
            </a:pPr>
            <a:r>
              <a:rPr sz="1550" b="0" i="0">
                <a:solidFill>
                  <a:srgbClr val="1B2530"/>
                </a:solidFill>
                <a:latin typeface="Calibri"/>
              </a:rPr>
              <a:t>• Weeks 3–4: assemble the animal science corpus with Dr. Kaniyamattam's guidance; run ECTD extraction over it.</a:t>
            </a:r>
          </a:p>
          <a:p>
            <a:pPr>
              <a:spcAft>
                <a:spcPts val="1000"/>
              </a:spcAft>
            </a:pPr>
            <a:r>
              <a:rPr sz="1550" b="0" i="0">
                <a:solidFill>
                  <a:srgbClr val="1B2530"/>
                </a:solidFill>
                <a:latin typeface="Calibri"/>
              </a:rPr>
              <a:t>• Weeks 5–6: team labeling sprint — gold triple set for the domain (judge training data + our evaluation standard); fine-tune the domain judge on HPRC.</a:t>
            </a:r>
          </a:p>
          <a:p>
            <a:pPr>
              <a:spcAft>
                <a:spcPts val="600"/>
              </a:spcAft>
            </a:pPr>
            <a:r>
              <a:rPr sz="1550" b="0" i="0">
                <a:solidFill>
                  <a:srgbClr val="1B2530"/>
                </a:solidFill>
                <a:latin typeface="Calibri"/>
              </a:rPr>
              <a:t>• Weeks 7–8: judge-filter the full KG, measure precision/recall against the gold set; first pruning experiments and results write-up for the group.</a:t>
            </a:r>
          </a:p>
        </p:txBody>
      </p:sp>
      <p:sp>
        <p:nvSpPr>
          <p:cNvPr id="5" name="TextBox 4"/>
          <p:cNvSpPr txBox="1"/>
          <p:nvPr/>
        </p:nvSpPr>
        <p:spPr>
          <a:xfrm>
            <a:off x="548640" y="5120640"/>
            <a:ext cx="11064240" cy="1371600"/>
          </a:xfrm>
          <a:prstGeom prst="rect">
            <a:avLst/>
          </a:prstGeom>
          <a:noFill/>
        </p:spPr>
        <p:txBody>
          <a:bodyPr wrap="square">
            <a:spAutoFit/>
          </a:bodyPr>
          <a:lstStyle/>
          <a:p>
            <a:pPr>
              <a:spcAft>
                <a:spcPts val="400"/>
              </a:spcAft>
            </a:pPr>
            <a:r>
              <a:rPr sz="2200" b="1" i="0">
                <a:solidFill>
                  <a:srgbClr val="0E7C5B"/>
                </a:solidFill>
                <a:latin typeface="Georgia"/>
              </a:rPr>
              <a:t>100% accurate triplets is the bar for GraphRAG.</a:t>
            </a:r>
          </a:p>
          <a:p>
            <a:pPr>
              <a:spcAft>
                <a:spcPts val="600"/>
              </a:spcAft>
            </a:pPr>
            <a:r>
              <a:rPr sz="1500" b="0" i="0">
                <a:solidFill>
                  <a:srgbClr val="5E6B7A"/>
                </a:solidFill>
                <a:latin typeface="Calibri"/>
              </a:rPr>
              <a:t>This paper is the closest published path to it — and we already have it running.</a:t>
            </a:r>
          </a:p>
        </p:txBody>
      </p:sp>
      <p:sp>
        <p:nvSpPr>
          <p:cNvPr id="6" name="TextBox 5"/>
          <p:cNvSpPr txBox="1"/>
          <p:nvPr/>
        </p:nvSpPr>
        <p:spPr>
          <a:xfrm>
            <a:off x="11247120" y="6446520"/>
            <a:ext cx="822960" cy="320040"/>
          </a:xfrm>
          <a:prstGeom prst="rect">
            <a:avLst/>
          </a:prstGeom>
          <a:noFill/>
        </p:spPr>
        <p:txBody>
          <a:bodyPr wrap="square">
            <a:spAutoFit/>
          </a:bodyPr>
          <a:lstStyle/>
          <a:p>
            <a:pPr algn="r"/>
            <a:r>
              <a:rPr sz="1000" b="0" i="0">
                <a:solidFill>
                  <a:srgbClr val="5E6B7A"/>
                </a:solidFill>
                <a:latin typeface="Consolas"/>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