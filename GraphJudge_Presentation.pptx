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B4CC0"/>
                </a:solidFill>
                <a:latin typeface="Consolas"/>
              </a:rPr>
              <a:t>PAPER WALKTHROUGH · EMNLP 2025 MAIN CONFERENCE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B2530"/>
                </a:solidFill>
                <a:latin typeface="Georgia"/>
              </a:rPr>
              <a:t>Can LLMs be Good Graph Judge for
Knowledge Graph Construction?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5E6B7A"/>
                </a:solidFill>
                <a:latin typeface="Calibri"/>
              </a:rPr>
              <a:t>Huang, Chen, Sheng, Li, Zhang — HKUST · Huawei Cloud · Peking University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5E6B7A"/>
                </a:solidFill>
                <a:latin typeface="Calibri"/>
              </a:rPr>
              <a:t>arXiv 2411.17388  ·  code: github.com/hhy-huang/GraphJudge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577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3B4CC0"/>
                </a:solidFill>
                <a:latin typeface="Calibri"/>
              </a:rPr>
              <a:t>TAU Group — KGCompass   |   Presented by Srikar Sankranti   |   Directed Studies · Prof. Jian Tao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E6B7A"/>
                </a:solidFill>
                <a:latin typeface="Consolas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B4CC0"/>
                </a:solidFill>
                <a:latin typeface="Consolas"/>
              </a:rPr>
              <a:t>WHY THIS PAPER, FOR THIS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530"/>
                </a:solidFill>
                <a:latin typeface="Georgia"/>
              </a:rPr>
              <a:t>GraphRAG is only as good as its triples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B2530"/>
                </a:solidFill>
                <a:latin typeface="Calibri"/>
              </a:rPr>
              <a:t>Our pipeline: build a domain knowledge graph, then answer questions over it with retrieval (GraphRAG).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3B4CC0"/>
                </a:solidFill>
                <a:latin typeface="Calibri"/>
              </a:rPr>
              <a:t>Before we use a KG for GraphRAG, we need the triplets to be as close to 100% accurate as possible. Wrong triples poison every answer downstream.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B2530"/>
                </a:solidFill>
                <a:latin typeface="Calibri"/>
              </a:rPr>
              <a:t>This paper is the current state of the art for exactly that step: verifying triplet correctness 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5E6B7A"/>
                </a:solidFill>
                <a:latin typeface="Calibri"/>
              </a:rPr>
              <a:t>A knowledge graph stores facts as triples: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B2530"/>
                </a:solidFill>
                <a:latin typeface="Consolas"/>
              </a:rPr>
              <a:t>(Holstein — breed of — dairy cattle)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B2530"/>
                </a:solidFill>
                <a:latin typeface="Consolas"/>
              </a:rPr>
              <a:t>(rumen — part of — bovine digestive system)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C0392B"/>
                </a:solidFill>
                <a:latin typeface="Consolas"/>
              </a:rPr>
              <a:t>(Protein X — is on — a 50% discount)   ✗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E6B7A"/>
                </a:solidFill>
                <a:latin typeface="Calibri"/>
              </a:rPr>
              <a:t>That last one is real output from a naive LLM that read an advertisement inside a medical article. This is the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E6B7A"/>
                </a:solidFill>
                <a:latin typeface="Consolas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B4CC0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530"/>
                </a:solidFill>
                <a:latin typeface="Georgia"/>
              </a:rPr>
              <a:t>Three ways naive LLM extraction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611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1 · Noise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B2530"/>
                </a:solidFill>
                <a:latin typeface="Calibri"/>
              </a:rPr>
              <a:t>Real documents carry ads, boilerplate, off-topic text. The LLM extracts it all.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C0392B"/>
                </a:solidFill>
                <a:latin typeface="Consolas"/>
              </a:rPr>
              <a:t>(Protein X — is on — 50% discount)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828800"/>
            <a:ext cx="3611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2 · Missing domain knowledge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B2530"/>
                </a:solidFill>
                <a:latin typeface="Calibri"/>
              </a:rPr>
              <a:t>The text says "linked to better outcomes." A general LLM upgrades that to a cure.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C0392B"/>
                </a:solidFill>
                <a:latin typeface="Consolas"/>
              </a:rPr>
              <a:t>(Protein X — cured — patient)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828800"/>
            <a:ext cx="3611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3 · Hallucination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B2530"/>
                </a:solidFill>
                <a:latin typeface="Calibri"/>
              </a:rPr>
              <a:t>A triple with no support anywhere in the document. Pure invention.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C0392B"/>
                </a:solidFill>
                <a:latin typeface="Consolas"/>
              </a:rPr>
              <a:t>(AI technology — replaces — chemotherapy)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3B4CC0"/>
                </a:solidFill>
                <a:latin typeface="Calibri"/>
              </a:rPr>
              <a:t>All three put wrong facts into the KG — precision failures. Prof. Tao's instruction to check triplet accuracy first targets exactly this.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E6B7A"/>
                </a:solidFill>
                <a:latin typeface="Consolas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B4CC0"/>
                </a:solidFill>
                <a:latin typeface="Consolas"/>
              </a:rPr>
              <a:t>THE KEY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530"/>
                </a:solidFill>
                <a:latin typeface="Georgia"/>
              </a:rPr>
              <a:t>Two models, two jobs: generate for recall, judge for precision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The generator (GPT-4o-mini, closed-source): great zero-shot coverage. Let it over-produce candidate triples — catch everything, including some junk.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The judge (LLaMA-2-7B, fine-tuned): a small open model trained for one narrow skill — given the document and one triple, answer "Yes, it is true" or "No, it is not true."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0E7C5B"/>
                </a:solidFill>
                <a:latin typeface="Calibri"/>
              </a:rPr>
              <a:t>The fine-tuned 7B judge reaches over 90% judgement accuracy — beating GPT-4o itself (64–74%) at this narrow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7830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5E6B7A"/>
                </a:solidFill>
                <a:latin typeface="Calibri"/>
              </a:rPr>
              <a:t>The judge at work: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1B2530"/>
                </a:solidFill>
                <a:latin typeface="Consolas"/>
              </a:rPr>
              <a:t>(Amorph — hyponym of — morphological analyzer)</a:t>
            </a:r>
          </a:p>
          <a:p>
            <a:pPr>
              <a:spcAft>
                <a:spcPts val="1000"/>
              </a:spcAft>
            </a:pPr>
            <a:r>
              <a:rPr sz="1250" b="0" i="0">
                <a:solidFill>
                  <a:srgbClr val="0E7C5B"/>
                </a:solidFill>
                <a:latin typeface="Consolas"/>
              </a:rPr>
              <a:t>→ Yes, it is true.   ✓ kept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1B2530"/>
                </a:solidFill>
                <a:latin typeface="Consolas"/>
              </a:rPr>
              <a:t>(evaluation criterion — new — goal)</a:t>
            </a:r>
          </a:p>
          <a:p>
            <a:pPr>
              <a:spcAft>
                <a:spcPts val="1000"/>
              </a:spcAft>
            </a:pPr>
            <a:r>
              <a:rPr sz="1250" b="0" i="0">
                <a:solidFill>
                  <a:srgbClr val="C0392B"/>
                </a:solidFill>
                <a:latin typeface="Consolas"/>
              </a:rPr>
              <a:t>→ No, it is not true.   ✗ removed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E6B7A"/>
                </a:solidFill>
                <a:latin typeface="Calibri"/>
              </a:rPr>
              <a:t>Specialist beats generalist: a small model trained on one question outperforms a giant model answering everything.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E6B7A"/>
                </a:solidFill>
                <a:latin typeface="Consolas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B4CC0"/>
                </a:solidFill>
                <a:latin typeface="Consola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530"/>
                </a:solidFill>
                <a:latin typeface="Georgia"/>
              </a:rPr>
              <a:t>Three modules, one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3B4CC0"/>
                </a:solidFill>
                <a:latin typeface="Consolas"/>
              </a:rPr>
              <a:t>1 · ECTD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1B2530"/>
                </a:solidFill>
                <a:latin typeface="Calibri"/>
              </a:rPr>
              <a:t>Entity-Centric Text Denoising. Extract entities, rewrite the document clean and entity-centric, over-generate candidate triples.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82880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E7C5B"/>
                </a:solidFill>
                <a:latin typeface="Consolas"/>
              </a:rPr>
              <a:t>2 · KASFT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1B2530"/>
                </a:solidFill>
                <a:latin typeface="Calibri"/>
              </a:rPr>
              <a:t>Knowledge-Aware SFT. LoRA fine-tune LLaMA-2-7B on yes/no triple judgement, built from gold triples + corrupted negatives.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82880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E7C5B"/>
                </a:solidFill>
                <a:latin typeface="Consolas"/>
              </a:rPr>
              <a:t>3 · GJ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1B2530"/>
                </a:solidFill>
                <a:latin typeface="Calibri"/>
              </a:rPr>
              <a:t>Graph Judgement. The judge scores every candidate triple; wrong ones are filtered out. Survivors form the final KG.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3B4CC0"/>
                </a:solidFill>
                <a:latin typeface="Calibri"/>
              </a:rPr>
              <a:t>Division of labor: module 1 maximizes RECALL (miss nothing); modules 2–3 restore PRECISION (keep nothing false). Only the 7B judge is ever trained — everything else is prompting.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E6B7A"/>
                </a:solidFill>
                <a:latin typeface="Calibri"/>
              </a:rPr>
              <a:t>Training cost: LoRA rank 8 on q_proj/v_proj · lr 3e-4 · batch 128 · 500 steps · a single 48 GB GPU. Feasible on TAMU HPRC.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E6B7A"/>
                </a:solidFill>
                <a:latin typeface="Consolas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B4CC0"/>
                </a:solidFill>
                <a:latin typeface="Consolas"/>
              </a:rP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530"/>
                </a:solidFill>
                <a:latin typeface="Georgia"/>
              </a:rPr>
              <a:t>ECTD: clean the text before trusting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• Phase 1: LLM lists the entities in the raw document, then rewrites the document around those entities — ads and irrelevant text drop out.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• Phase 2: LLM extracts as many candidate triples as possible from the denoised text + entity list. Deliberate over-generation.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3B4CC0"/>
                </a:solidFill>
                <a:latin typeface="Calibri"/>
              </a:rPr>
              <a:t>Paper verifies: denoised documents keep the important content, and semantic similarity to true triples rises.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5E6B7A"/>
                </a:solidFill>
                <a:latin typeface="Calibri"/>
              </a:rPr>
              <a:t>Remove ECTD and quality collapses (REBEL-Sub):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0" y="2377440"/>
          <a:ext cx="4572000" cy="932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1645920"/>
              </a:tblGrid>
              <a:tr h="31089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5E6B7A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marT="36000" marB="36000">
                    <a:solidFill>
                      <a:srgbClr val="E4E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5E6B7A"/>
                          </a:solidFill>
                          <a:latin typeface="Calibri"/>
                        </a:rPr>
                        <a:t>G-BS F1</a:t>
                      </a:r>
                    </a:p>
                  </a:txBody>
                  <a:tcPr marT="36000" marB="36000">
                    <a:solidFill>
                      <a:srgbClr val="E4E8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0"/>
                          </a:solidFill>
                          <a:latin typeface="Calibri"/>
                        </a:rPr>
                        <a:t>Full GraphJudge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0E7C5B"/>
                          </a:solidFill>
                          <a:latin typeface="Consolas"/>
                        </a:rPr>
                        <a:t>0.5796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0"/>
                          </a:solidFill>
                          <a:latin typeface="Calibri"/>
                        </a:rPr>
                        <a:t>without ECTD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0.4548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3749039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5E6B7A"/>
                </a:solidFill>
                <a:latin typeface="Calibri"/>
              </a:rPr>
              <a:t>Garbage in, garbage out — even with a perfect judge afterwards.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E6B7A"/>
                </a:solidFill>
                <a:latin typeface="Consolas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B4CC0"/>
                </a:solidFill>
                <a:latin typeface="Consolas"/>
              </a:rP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530"/>
                </a:solidFill>
                <a:latin typeface="Georgia"/>
              </a:rPr>
              <a:t>KASFT: how you train a 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• Positives: real triples from the gold graphs → "Yes, it is true."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• Negatives: same triples with the tail entity swapped randomly → "No, it is not true."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• Each instruction shows the source document as context, then asks about one triple.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0E7C5B"/>
                </a:solidFill>
                <a:latin typeface="Calibri"/>
              </a:rPr>
              <a:t>SFT bakes two skills into the 7B model: fact-checking against a document, and the domain's own vocabulary.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7830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5E6B7A"/>
                </a:solidFill>
                <a:latin typeface="Calibri"/>
              </a:rPr>
              <a:t>The actual training prompt (paper appendix):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B2530"/>
                </a:solidFill>
                <a:latin typeface="Consolas"/>
              </a:rPr>
              <a:t>Goal: do the graph judgement task…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5E6B7A"/>
                </a:solidFill>
                <a:latin typeface="Consolas"/>
              </a:rPr>
              <a:t>"Insulin, produced by beta cells in the pancreas, regulates blood glucose levels…"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B2530"/>
                </a:solidFill>
                <a:latin typeface="Consolas"/>
              </a:rPr>
              <a:t>Is this true: Insulin · Produced by · Beta cells ?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0E7C5B"/>
                </a:solidFill>
                <a:latin typeface="Consolas"/>
              </a:rPr>
              <a:t>→ Yes, it is true.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E6B7A"/>
                </a:solidFill>
                <a:latin typeface="Consolas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B4CC0"/>
                </a:solidFill>
                <a:latin typeface="Consolas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530"/>
                </a:solidFill>
                <a:latin typeface="Georgia"/>
              </a:rPr>
              <a:t>State of the art on all four benchmarks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39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1828800"/>
                <a:gridCol w="1828800"/>
                <a:gridCol w="1828800"/>
                <a:gridCol w="1828800"/>
              </a:tblGrid>
              <a:tr h="31089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5E6B7A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36000" marB="36000">
                    <a:solidFill>
                      <a:srgbClr val="E4E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5E6B7A"/>
                          </a:solidFill>
                          <a:latin typeface="Calibri"/>
                        </a:rPr>
                        <a:t>REBEL-Sub</a:t>
                      </a:r>
                    </a:p>
                  </a:txBody>
                  <a:tcPr marT="36000" marB="36000">
                    <a:solidFill>
                      <a:srgbClr val="E4E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5E6B7A"/>
                          </a:solidFill>
                          <a:latin typeface="Calibri"/>
                        </a:rPr>
                        <a:t>GenWiki</a:t>
                      </a:r>
                    </a:p>
                  </a:txBody>
                  <a:tcPr marT="36000" marB="36000">
                    <a:solidFill>
                      <a:srgbClr val="E4E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5E6B7A"/>
                          </a:solidFill>
                          <a:latin typeface="Calibri"/>
                        </a:rPr>
                        <a:t>SCIERC</a:t>
                      </a:r>
                    </a:p>
                  </a:txBody>
                  <a:tcPr marT="36000" marB="36000">
                    <a:solidFill>
                      <a:srgbClr val="E4E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5E6B7A"/>
                          </a:solidFill>
                          <a:latin typeface="Calibri"/>
                        </a:rPr>
                        <a:t>Re-DocRED</a:t>
                      </a:r>
                    </a:p>
                  </a:txBody>
                  <a:tcPr marT="36000" marB="36000">
                    <a:solidFill>
                      <a:srgbClr val="E4E8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0"/>
                          </a:solidFill>
                          <a:latin typeface="Calibri"/>
                        </a:rPr>
                        <a:t>GPT-4o-mini (naive)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0.4289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0.8368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0.6882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0.6807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0"/>
                          </a:solidFill>
                          <a:latin typeface="Calibri"/>
                        </a:rPr>
                        <a:t>GPT-4o (naive)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0.4163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0.8428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0.7035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0.6864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0"/>
                          </a:solidFill>
                          <a:latin typeface="Calibri"/>
                        </a:rPr>
                        <a:t>PiVe (iterative verifier)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0.4090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0.8230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0.6725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0.6289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0"/>
                          </a:solidFill>
                          <a:latin typeface="Calibri"/>
                        </a:rPr>
                        <a:t>KGGen (clustering)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0.4995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0.8169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0.6635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0.4372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0"/>
                          </a:solidFill>
                          <a:latin typeface="Calibri"/>
                        </a:rPr>
                        <a:t>GraphJudge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0E7C5B"/>
                          </a:solidFill>
                          <a:latin typeface="Consolas"/>
                        </a:rPr>
                        <a:t>0.5796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0E7C5B"/>
                          </a:solidFill>
                          <a:latin typeface="Consolas"/>
                        </a:rPr>
                        <a:t>0.8457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0E7C5B"/>
                          </a:solidFill>
                          <a:latin typeface="Consolas"/>
                        </a:rPr>
                        <a:t>0.7283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0E7C5B"/>
                          </a:solidFill>
                          <a:latin typeface="Consolas"/>
                        </a:rPr>
                        <a:t>0.7051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5E6B7A"/>
                </a:solidFill>
                <a:latin typeface="Calibri"/>
              </a:rPr>
              <a:t>G-BERTScore F1 (semantic match between predicted and gold graphs). Datasets span general, scientific and Windows-domain text.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3B4CC0"/>
                </a:solidFill>
                <a:latin typeface="Calibri"/>
              </a:rPr>
              <a:t>A 7B judge beats a 70B verifier (PiVe) and beats plain GPT-4o — better and far cheaper. Cross-dataset transfer also holds.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E6B7A"/>
                </a:solidFill>
                <a:latin typeface="Consolas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B4CC0"/>
                </a:solidFill>
                <a:latin typeface="Consolas"/>
              </a:rPr>
              <a:t>EVALUATION — PROF. TAO'S HARD 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530"/>
                </a:solidFill>
                <a:latin typeface="Georgia"/>
              </a:rPr>
              <a:t>How do you score a generated graph?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760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• Triple Match F1 — exact string match. Harsh: "part of" vs "component of" counts as wrong.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• G-BLEU / G-ROUGE — soft n-gram overlap between each predicted edge and its best-matched gold edge.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• G-BERTScore — embedding similarity per edge: synonyms get credit. The headline metric.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3B4CC0"/>
                </a:solidFill>
                <a:latin typeface="Calibri"/>
              </a:rPr>
              <a:t>All of these need a GOLD reference graph. For animal science, none exists — we must hand-build a small one, or we cannot measure anything.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7830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5E6B7A"/>
                </a:solidFill>
                <a:latin typeface="Calibri"/>
              </a:rPr>
              <a:t>Why exact match is not enough: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0E7C5B"/>
                </a:solidFill>
                <a:latin typeface="Consolas"/>
              </a:rPr>
              <a:t>gold:  (morphological analysis — used for — Japanese text processing)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B2530"/>
                </a:solidFill>
                <a:latin typeface="Consolas"/>
              </a:rPr>
              <a:t>pred:  (morphological analysis — applied to — processing Japanese text)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E6B7A"/>
                </a:solidFill>
                <a:latin typeface="Calibri"/>
              </a:rPr>
              <a:t>0 points on exact match, ~0.9 on G-BERTScore. Semantics over spelling.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E6B7A"/>
                </a:solidFill>
                <a:latin typeface="Consolas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B4CC0"/>
                </a:solidFill>
                <a:latin typeface="Consolas"/>
              </a:rPr>
              <a:t>OUR HANDS-ON WORK —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530"/>
                </a:solidFill>
                <a:latin typeface="Georgia"/>
              </a:rPr>
              <a:t>We already ran the pipeline locally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 i="0">
                <a:solidFill>
                  <a:srgbClr val="1B2530"/>
                </a:solidFill>
                <a:latin typeface="Calibri"/>
              </a:rPr>
              <a:t>• Official repo cloned, environment built, one device bug patched (hardcoded cuda:7 → mps/cpu).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1B2530"/>
                </a:solidFill>
                <a:latin typeface="Calibri"/>
              </a:rPr>
              <a:t>• 15 SCIERC abstracts: extraction pass (129 triples), strict support-check filter (95 kept, 26% removed).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1B2530"/>
                </a:solidFill>
                <a:latin typeface="Calibri"/>
              </a:rPr>
              <a:t>• Scored both with the paper's own metric code.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657600"/>
          <a:ext cx="557784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554480"/>
                <a:gridCol w="1554480"/>
              </a:tblGrid>
              <a:tr h="31089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5E6B7A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T="36000" marB="36000">
                    <a:solidFill>
                      <a:srgbClr val="E4E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5E6B7A"/>
                          </a:solidFill>
                          <a:latin typeface="Calibri"/>
                        </a:rPr>
                        <a:t>Naive</a:t>
                      </a:r>
                    </a:p>
                  </a:txBody>
                  <a:tcPr marT="36000" marB="36000">
                    <a:solidFill>
                      <a:srgbClr val="E4E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5E6B7A"/>
                          </a:solidFill>
                          <a:latin typeface="Calibri"/>
                        </a:rPr>
                        <a:t>Judged</a:t>
                      </a:r>
                    </a:p>
                  </a:txBody>
                  <a:tcPr marT="36000" marB="36000">
                    <a:solidFill>
                      <a:srgbClr val="E4E8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0"/>
                          </a:solidFill>
                          <a:latin typeface="Calibri"/>
                        </a:rPr>
                        <a:t>G-BS Precision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0.9006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0E7C5B"/>
                          </a:solidFill>
                          <a:latin typeface="Consolas"/>
                        </a:rPr>
                        <a:t>0.9391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0"/>
                          </a:solidFill>
                          <a:latin typeface="Calibri"/>
                        </a:rPr>
                        <a:t>G-BLEU Precision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0.7477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0E7C5B"/>
                          </a:solidFill>
                          <a:latin typeface="Consolas"/>
                        </a:rPr>
                        <a:t>0.7842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0"/>
                          </a:solidFill>
                          <a:latin typeface="Calibri"/>
                        </a:rPr>
                        <a:t>G-BS Recall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0E7C5B"/>
                          </a:solidFill>
                          <a:latin typeface="Consolas"/>
                        </a:rPr>
                        <a:t>0.7410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0.5725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530"/>
                          </a:solidFill>
                          <a:latin typeface="Calibri"/>
                        </a:rPr>
                        <a:t>G-BS F1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0E7C5B"/>
                          </a:solidFill>
                          <a:latin typeface="Consolas"/>
                        </a:rPr>
                        <a:t>0.7842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530"/>
                          </a:solidFill>
                          <a:latin typeface="Consolas"/>
                        </a:rPr>
                        <a:t>0.6880</a:t>
                      </a:r>
                    </a:p>
                  </a:txBody>
                  <a:tcPr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17373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0E7C5B"/>
                </a:solidFill>
                <a:latin typeface="Calibri"/>
              </a:rPr>
              <a:t>Judging raised precision on every metric — the GJ effect, reproduced.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But our crude filter also deleted correct triples, so recall fell harder and F1 dropped.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That is exactly why the paper fine-tunes a judge instead of filtering by rules: a trained judge removes only what is actually wrong.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5E6B7A"/>
                </a:solidFill>
                <a:latin typeface="Calibri"/>
              </a:rPr>
              <a:t>Filter quality decides whether the KG improves — or just shrinks.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E6B7A"/>
                </a:solidFill>
                <a:latin typeface="Consolas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B4CC0"/>
                </a:solidFill>
                <a:latin typeface="Consolas"/>
              </a:rPr>
              <a:t>MAPPING TO KGCOMPASS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530"/>
                </a:solidFill>
                <a:latin typeface="Georgia"/>
              </a:rPr>
              <a:t>What we take into the animal science KG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• Triplet accuracy first (Prof. Tao's directive) = the Graph Judgement module. Judge each triple directly against its source text; never evaluate through another model's generated content.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• Recall then precision: over-generate candidates from the corpus, then filter with a judge — don't try to extract perfectly in one pass.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• Train a domain judge: hand-label a small gold set of animal science triples as a team — it doubles as judge training data and our evaluation gold standard.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• Cheap to run: released LoRA weights exist (HuggingFace: HaoyuHuang2/graphjudger); our own fine-tune fits a single HPRC GPU.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• Open angles: richer knowledge units beyond flat triples · evaluation without gold graphs · pruning after construction (complementary to judge-filtering during construction).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E6B7A"/>
                </a:solidFill>
                <a:latin typeface="Consolas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B4CC0"/>
                </a:solidFill>
                <a:latin typeface="Consolas"/>
              </a:rPr>
              <a:t>READ CRITICALLY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530"/>
                </a:solidFill>
                <a:latin typeface="Georgia"/>
              </a:rPr>
              <a:t>Limitations the authors admit — our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• Only flat entity-level triples; no n-ary relations, events, or time.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• "Gold" KGs used for scoring are themselves imperfect; the field lacks a self-supervised way to evaluate.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B2530"/>
                </a:solidFill>
                <a:latin typeface="Calibri"/>
              </a:rPr>
              <a:t>• Judge accuracy dips on deeply specialized text (SCIERC: 0.63 vs 0.92 general) — domain gold data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E7C5B"/>
                </a:solidFill>
                <a:latin typeface="Calibri"/>
              </a:rPr>
              <a:t>Each limitation is a research question we can own: domain-adapted judges for agriculture, evaluation without gold graphs, metric-driven graph pruning.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5E6B7A"/>
                </a:solidFill>
                <a:latin typeface="Calibri"/>
              </a:rPr>
              <a:t>Accepted at EMNLP 2025 Main — peer-reviewed foundation, public code and weights.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E6B7A"/>
                </a:solidFill>
                <a:latin typeface="Consolas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B4CC0"/>
                </a:solidFill>
                <a:latin typeface="Consolas"/>
              </a:rPr>
              <a:t>PROPOSED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530"/>
                </a:solidFill>
                <a:latin typeface="Georgia"/>
              </a:rPr>
              <a:t>From reproduction to our own results — a 2-month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0" i="0">
                <a:solidFill>
                  <a:srgbClr val="1B2530"/>
                </a:solidFill>
                <a:latin typeface="Calibri"/>
              </a:rPr>
              <a:t>• Weeks 1–2: full 100-document SCIERC reproduction with the released judge weights; HPRC access and GPU allocation set up.</a:t>
            </a:r>
          </a:p>
          <a:p>
            <a:pPr>
              <a:spcAft>
                <a:spcPts val="1000"/>
              </a:spcAft>
            </a:pPr>
            <a:r>
              <a:rPr sz="1550" b="0" i="0">
                <a:solidFill>
                  <a:srgbClr val="1B2530"/>
                </a:solidFill>
                <a:latin typeface="Calibri"/>
              </a:rPr>
              <a:t>• Weeks 3–4: assemble the animal science corpus with Dr. Kaniyamattam's guidance; run ECTD extraction over it.</a:t>
            </a:r>
          </a:p>
          <a:p>
            <a:pPr>
              <a:spcAft>
                <a:spcPts val="1000"/>
              </a:spcAft>
            </a:pPr>
            <a:r>
              <a:rPr sz="1550" b="0" i="0">
                <a:solidFill>
                  <a:srgbClr val="1B2530"/>
                </a:solidFill>
                <a:latin typeface="Calibri"/>
              </a:rPr>
              <a:t>• Weeks 5–6: team labeling sprint — gold triple set for the domain (judge training data + our evaluation standard); fine-tune the domain judge on HPRC.</a:t>
            </a:r>
          </a:p>
          <a:p>
            <a:pPr>
              <a:spcAft>
                <a:spcPts val="600"/>
              </a:spcAft>
            </a:pPr>
            <a:r>
              <a:rPr sz="1550" b="0" i="0">
                <a:solidFill>
                  <a:srgbClr val="1B2530"/>
                </a:solidFill>
                <a:latin typeface="Calibri"/>
              </a:rPr>
              <a:t>• Weeks 7–8: judge-filter the full KG, measure precision/recall against the gold set; first pruning experiments and results write-up for the group.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0E7C5B"/>
                </a:solidFill>
                <a:latin typeface="Georgia"/>
              </a:rPr>
              <a:t>100% accurate triplets is the bar for GraphRAG.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5E6B7A"/>
                </a:solidFill>
                <a:latin typeface="Calibri"/>
              </a:rPr>
              <a:t>This paper is the closest published path to it — and we already have it running.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E6B7A"/>
                </a:solidFill>
                <a:latin typeface="Consolas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